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a la presentación. Destaca que esta herramienta no es solo un gestor de tareas ni un simple Excel, sino una plataforma militarizada de estrategia electoral local que unifica el análisis de datos matemáticos, la gobernanza semanal y la disciplina de comunicación.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Muestra la diferencia entre el voluntarismo desorganizado y una campaña científica y militarizada en la que cada euro y cada hora del candidato están dirigidos a conseguir concejales.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 la lógica del menú lateral. Los módulos están ordenados por frecuencia de uso: primero lo que el equipo consulta todos los días (operativa semanal), luego los datos y simulaciones, y finalmente la estrategia a medio y largo plazo.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Destaca que la plataforma no utiliza datos ficticios. Se importaron los 68 municipios de Sevilla menores de 10.000 / 19.000 habitantes desde el fichero oficial del Ministerio del Interior.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panel "Esta Semana" es la brújula operativa. Si un voluntario o concejal entra a la sede, debe saber qué toca hacer esta semana sin perderse en discusiones abstractas.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se trata de ir a la calle por ir. Cada salida vecinal tiene un objetivo, un público y un mensaje claro para que el candidato o portavoz no improvise.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módulo profesionaliza la dirección de campaña. Elimina las discusiones de "yo creía que tú ibas a hacer esto", dejando por escrito cada acuerdo y cada bloqueo.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informe semanal en PDF es la herramienta perfecta para rendir cuentas al candidato, a la dirección provincial o al comité electoral sin necesidad de enseñar la base de datos completa.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Cualquier estrategia seria parte del escrutinio anterior. Conocer la abstención y el voto nulo permite saber si la victoria vendrá de movilizar descontentos o de disputar votantes a los rivales directos.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 la importancia de no confundir un dato comprobado con un rumor o una hipótesis. Esta pantalla evita que el equipo cometa errores de juicio basados en bulos.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los municipios medianos y grandes, cada barrio vota de forma distinta. Saber dónde eres fuerte y dónde estás a 50 votos de liderar cambia por completo el despliegue del candidato.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Demuestra en vivo si es posible el simulador. Destaca la doble columna de votos y la Ley D’Hondt sin fallos ni aproximaciones burdas.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auditoría de 21 preguntas es el termómetro objetivo. Ningún equipo debería llegar a marzo de 2027 sin haber completado este test de madurez.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 la importancia de no quemar etapas. La campaña electoral no empieza en mayo; se gana en las fases de presencia, activación y contacto durante todo el año previo.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disciplina de mensaje gana elecciones. Cuando un rival comete un error, el radar de competidores lo registra y el banco de mensajes proporciona inmediatamente la respuesta oficial recomendada.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la presentación. Destaca que la herramienta está 100% operativa, conectada a los datos reales de los 68 municipios, y lista para ser utilizada por el equipo desde hoy mismo.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389120" y="1097280"/>
            <a:ext cx="3383280" cy="365760"/>
          </a:xfrm>
          <a:prstGeom prst="roundRect">
            <a:avLst>
              <a:gd name="adj" fmla="val 50000"/>
            </a:avLst>
          </a:prstGeom>
          <a:solidFill>
            <a:srgbClr val="1E293B"/>
          </a:solidFill>
          <a:ln w="12700">
            <a:solidFill>
              <a:srgbClr val="DC2626"/>
            </a:solidFill>
            <a:prstDash val="solid"/>
          </a:ln>
        </p:spPr>
      </p:sp>
      <p:sp>
        <p:nvSpPr>
          <p:cNvPr id="3" name="Text 1"/>
          <p:cNvSpPr/>
          <p:nvPr/>
        </p:nvSpPr>
        <p:spPr>
          <a:xfrm>
            <a:off x="4389120" y="1097280"/>
            <a:ext cx="3383280" cy="365760"/>
          </a:xfrm>
          <a:prstGeom prst="rect">
            <a:avLst/>
          </a:prstGeom>
          <a:noFill/>
          <a:ln/>
        </p:spPr>
        <p:txBody>
          <a:bodyPr wrap="square" rtlCol="0" anchor="ctr"/>
          <a:lstStyle/>
          <a:p>
            <a:pPr algn="ctr" indent="0" marL="0">
              <a:buNone/>
            </a:pPr>
            <a:r>
              <a:rPr lang="en-US" sz="1000" b="1" dirty="0">
                <a:solidFill>
                  <a:srgbClr val="FCA5A5"/>
                </a:solidFill>
              </a:rPr>
              <a:t>✨ SOFTWARE DE ESTRATEGIA MUNICIPAL</a:t>
            </a:r>
            <a:endParaRPr lang="en-US" sz="1000" dirty="0"/>
          </a:p>
        </p:txBody>
      </p:sp>
      <p:sp>
        <p:nvSpPr>
          <p:cNvPr id="4" name="Text 2"/>
          <p:cNvSpPr/>
          <p:nvPr/>
        </p:nvSpPr>
        <p:spPr>
          <a:xfrm>
            <a:off x="914400" y="1645920"/>
            <a:ext cx="10332720" cy="1371600"/>
          </a:xfrm>
          <a:prstGeom prst="rect">
            <a:avLst/>
          </a:prstGeom>
          <a:noFill/>
          <a:ln/>
        </p:spPr>
        <p:txBody>
          <a:bodyPr wrap="square" rtlCol="0" anchor="ctr"/>
          <a:lstStyle/>
          <a:p>
            <a:pPr algn="ctr" indent="0" marL="0">
              <a:buNone/>
            </a:pPr>
            <a:r>
              <a:rPr lang="en-US" sz="3400" b="1" dirty="0">
                <a:solidFill>
                  <a:srgbClr val="FFFFFF"/>
                </a:solidFill>
              </a:rPr>
              <a:t>Plataforma de Inteligencia y</a:t>
            </a:r>
            <a:endParaRPr lang="en-US" sz="3400" dirty="0"/>
          </a:p>
          <a:p>
            <a:pPr algn="ctr" indent="0" marL="0">
              <a:buNone/>
            </a:pPr>
            <a:r>
              <a:rPr lang="en-US" sz="3400" b="1" dirty="0">
                <a:solidFill>
                  <a:srgbClr val="FFFFFF"/>
                </a:solidFill>
              </a:rPr>
              <a:t>Estrategia Electoral</a:t>
            </a:r>
            <a:endParaRPr lang="en-US" sz="3400" dirty="0"/>
          </a:p>
        </p:txBody>
      </p:sp>
      <p:sp>
        <p:nvSpPr>
          <p:cNvPr id="5" name="Text 3"/>
          <p:cNvSpPr/>
          <p:nvPr/>
        </p:nvSpPr>
        <p:spPr>
          <a:xfrm>
            <a:off x="1371600" y="3017520"/>
            <a:ext cx="9418320" cy="548640"/>
          </a:xfrm>
          <a:prstGeom prst="rect">
            <a:avLst/>
          </a:prstGeom>
          <a:noFill/>
          <a:ln/>
        </p:spPr>
        <p:txBody>
          <a:bodyPr wrap="square" rtlCol="0" anchor="ctr"/>
          <a:lstStyle/>
          <a:p>
            <a:pPr algn="ctr" indent="0" marL="0">
              <a:buNone/>
            </a:pPr>
            <a:r>
              <a:rPr lang="en-US" sz="1500" dirty="0">
                <a:solidFill>
                  <a:srgbClr val="94A3B8"/>
                </a:solidFill>
              </a:rPr>
              <a:t>Elecciones Municipales Mayo 2027 • De la Intuición a la Precisión Electoral</a:t>
            </a:r>
            <a:endParaRPr lang="en-US" sz="1500" dirty="0"/>
          </a:p>
        </p:txBody>
      </p:sp>
      <p:sp>
        <p:nvSpPr>
          <p:cNvPr id="6" name="Shape 4"/>
          <p:cNvSpPr/>
          <p:nvPr/>
        </p:nvSpPr>
        <p:spPr>
          <a:xfrm>
            <a:off x="914400" y="3931920"/>
            <a:ext cx="2423160" cy="1645920"/>
          </a:xfrm>
          <a:prstGeom prst="roundRect">
            <a:avLst>
              <a:gd name="adj" fmla="val 8333"/>
            </a:avLst>
          </a:prstGeom>
          <a:solidFill>
            <a:srgbClr val="1E293B"/>
          </a:solidFill>
          <a:ln w="12700">
            <a:solidFill>
              <a:srgbClr val="334155"/>
            </a:solidFill>
            <a:prstDash val="solid"/>
          </a:ln>
        </p:spPr>
      </p:sp>
      <p:sp>
        <p:nvSpPr>
          <p:cNvPr id="7" name="Text 5"/>
          <p:cNvSpPr/>
          <p:nvPr/>
        </p:nvSpPr>
        <p:spPr>
          <a:xfrm>
            <a:off x="1097280" y="4114800"/>
            <a:ext cx="2057400" cy="548640"/>
          </a:xfrm>
          <a:prstGeom prst="rect">
            <a:avLst/>
          </a:prstGeom>
          <a:noFill/>
          <a:ln/>
        </p:spPr>
        <p:txBody>
          <a:bodyPr wrap="square" rtlCol="0" anchor="ctr"/>
          <a:lstStyle/>
          <a:p>
            <a:pPr indent="0" marL="0">
              <a:buNone/>
            </a:pPr>
            <a:r>
              <a:rPr lang="en-US" sz="2400" b="1" dirty="0">
                <a:solidFill>
                  <a:srgbClr val="DC2626"/>
                </a:solidFill>
              </a:rPr>
              <a:t>68</a:t>
            </a:r>
            <a:endParaRPr lang="en-US" sz="2400" dirty="0"/>
          </a:p>
        </p:txBody>
      </p:sp>
      <p:sp>
        <p:nvSpPr>
          <p:cNvPr id="8" name="Text 6"/>
          <p:cNvSpPr/>
          <p:nvPr/>
        </p:nvSpPr>
        <p:spPr>
          <a:xfrm>
            <a:off x="1097280" y="4663440"/>
            <a:ext cx="2057400" cy="365760"/>
          </a:xfrm>
          <a:prstGeom prst="rect">
            <a:avLst/>
          </a:prstGeom>
          <a:noFill/>
          <a:ln/>
        </p:spPr>
        <p:txBody>
          <a:bodyPr wrap="square" rtlCol="0" anchor="ctr"/>
          <a:lstStyle/>
          <a:p>
            <a:pPr indent="0" marL="0">
              <a:buNone/>
            </a:pPr>
            <a:r>
              <a:rPr lang="en-US" sz="1200" b="1" dirty="0">
                <a:solidFill>
                  <a:srgbClr val="FFFFFF"/>
                </a:solidFill>
              </a:rPr>
              <a:t>Municipios de Sevilla</a:t>
            </a:r>
            <a:endParaRPr lang="en-US" sz="1200" dirty="0"/>
          </a:p>
        </p:txBody>
      </p:sp>
      <p:sp>
        <p:nvSpPr>
          <p:cNvPr id="9" name="Text 7"/>
          <p:cNvSpPr/>
          <p:nvPr/>
        </p:nvSpPr>
        <p:spPr>
          <a:xfrm>
            <a:off x="1097280" y="4983480"/>
            <a:ext cx="2057400" cy="457200"/>
          </a:xfrm>
          <a:prstGeom prst="rect">
            <a:avLst/>
          </a:prstGeom>
          <a:noFill/>
          <a:ln/>
        </p:spPr>
        <p:txBody>
          <a:bodyPr wrap="square" rtlCol="0" anchor="ctr"/>
          <a:lstStyle/>
          <a:p>
            <a:pPr indent="0" marL="0">
              <a:buNone/>
            </a:pPr>
            <a:r>
              <a:rPr lang="en-US" sz="1000" dirty="0">
                <a:solidFill>
                  <a:srgbClr val="94A3B8"/>
                </a:solidFill>
              </a:rPr>
              <a:t>Escrutinio LOREG 2023 precargado</a:t>
            </a:r>
            <a:endParaRPr lang="en-US" sz="1000" dirty="0"/>
          </a:p>
        </p:txBody>
      </p:sp>
      <p:sp>
        <p:nvSpPr>
          <p:cNvPr id="10" name="Shape 8"/>
          <p:cNvSpPr/>
          <p:nvPr/>
        </p:nvSpPr>
        <p:spPr>
          <a:xfrm>
            <a:off x="3520440" y="3931920"/>
            <a:ext cx="2423160" cy="1645920"/>
          </a:xfrm>
          <a:prstGeom prst="roundRect">
            <a:avLst>
              <a:gd name="adj" fmla="val 8333"/>
            </a:avLst>
          </a:prstGeom>
          <a:solidFill>
            <a:srgbClr val="1E293B"/>
          </a:solidFill>
          <a:ln w="12700">
            <a:solidFill>
              <a:srgbClr val="334155"/>
            </a:solidFill>
            <a:prstDash val="solid"/>
          </a:ln>
        </p:spPr>
      </p:sp>
      <p:sp>
        <p:nvSpPr>
          <p:cNvPr id="11" name="Text 9"/>
          <p:cNvSpPr/>
          <p:nvPr/>
        </p:nvSpPr>
        <p:spPr>
          <a:xfrm>
            <a:off x="3703320" y="4114800"/>
            <a:ext cx="2057400" cy="548640"/>
          </a:xfrm>
          <a:prstGeom prst="rect">
            <a:avLst/>
          </a:prstGeom>
          <a:noFill/>
          <a:ln/>
        </p:spPr>
        <p:txBody>
          <a:bodyPr wrap="square" rtlCol="0" anchor="ctr"/>
          <a:lstStyle/>
          <a:p>
            <a:pPr indent="0" marL="0">
              <a:buNone/>
            </a:pPr>
            <a:r>
              <a:rPr lang="en-US" sz="2400" b="1" dirty="0">
                <a:solidFill>
                  <a:srgbClr val="059669"/>
                </a:solidFill>
              </a:rPr>
              <a:t>100%</a:t>
            </a:r>
            <a:endParaRPr lang="en-US" sz="2400" dirty="0"/>
          </a:p>
        </p:txBody>
      </p:sp>
      <p:sp>
        <p:nvSpPr>
          <p:cNvPr id="12" name="Text 10"/>
          <p:cNvSpPr/>
          <p:nvPr/>
        </p:nvSpPr>
        <p:spPr>
          <a:xfrm>
            <a:off x="3703320" y="4663440"/>
            <a:ext cx="2057400" cy="365760"/>
          </a:xfrm>
          <a:prstGeom prst="rect">
            <a:avLst/>
          </a:prstGeom>
          <a:noFill/>
          <a:ln/>
        </p:spPr>
        <p:txBody>
          <a:bodyPr wrap="square" rtlCol="0" anchor="ctr"/>
          <a:lstStyle/>
          <a:p>
            <a:pPr indent="0" marL="0">
              <a:buNone/>
            </a:pPr>
            <a:r>
              <a:rPr lang="en-US" sz="1200" b="1" dirty="0">
                <a:solidFill>
                  <a:srgbClr val="FFFFFF"/>
                </a:solidFill>
              </a:rPr>
              <a:t>Ley D'Hondt Oficial</a:t>
            </a:r>
            <a:endParaRPr lang="en-US" sz="1200" dirty="0"/>
          </a:p>
        </p:txBody>
      </p:sp>
      <p:sp>
        <p:nvSpPr>
          <p:cNvPr id="13" name="Text 11"/>
          <p:cNvSpPr/>
          <p:nvPr/>
        </p:nvSpPr>
        <p:spPr>
          <a:xfrm>
            <a:off x="3703320" y="4983480"/>
            <a:ext cx="2057400" cy="457200"/>
          </a:xfrm>
          <a:prstGeom prst="rect">
            <a:avLst/>
          </a:prstGeom>
          <a:noFill/>
          <a:ln/>
        </p:spPr>
        <p:txBody>
          <a:bodyPr wrap="square" rtlCol="0" anchor="ctr"/>
          <a:lstStyle/>
          <a:p>
            <a:pPr indent="0" marL="0">
              <a:buNone/>
            </a:pPr>
            <a:r>
              <a:rPr lang="en-US" sz="1000" dirty="0">
                <a:solidFill>
                  <a:srgbClr val="94A3B8"/>
                </a:solidFill>
              </a:rPr>
              <a:t>Doble columna y recálculo vivo</a:t>
            </a:r>
            <a:endParaRPr lang="en-US" sz="1000" dirty="0"/>
          </a:p>
        </p:txBody>
      </p:sp>
      <p:sp>
        <p:nvSpPr>
          <p:cNvPr id="14" name="Shape 12"/>
          <p:cNvSpPr/>
          <p:nvPr/>
        </p:nvSpPr>
        <p:spPr>
          <a:xfrm>
            <a:off x="6126480" y="3931920"/>
            <a:ext cx="2423160" cy="1645920"/>
          </a:xfrm>
          <a:prstGeom prst="roundRect">
            <a:avLst>
              <a:gd name="adj" fmla="val 8333"/>
            </a:avLst>
          </a:prstGeom>
          <a:solidFill>
            <a:srgbClr val="1E293B"/>
          </a:solidFill>
          <a:ln w="12700">
            <a:solidFill>
              <a:srgbClr val="334155"/>
            </a:solidFill>
            <a:prstDash val="solid"/>
          </a:ln>
        </p:spPr>
      </p:sp>
      <p:sp>
        <p:nvSpPr>
          <p:cNvPr id="15" name="Text 13"/>
          <p:cNvSpPr/>
          <p:nvPr/>
        </p:nvSpPr>
        <p:spPr>
          <a:xfrm>
            <a:off x="6309360" y="4114800"/>
            <a:ext cx="2057400" cy="548640"/>
          </a:xfrm>
          <a:prstGeom prst="rect">
            <a:avLst/>
          </a:prstGeom>
          <a:noFill/>
          <a:ln/>
        </p:spPr>
        <p:txBody>
          <a:bodyPr wrap="square" rtlCol="0" anchor="ctr"/>
          <a:lstStyle/>
          <a:p>
            <a:pPr indent="0" marL="0">
              <a:buNone/>
            </a:pPr>
            <a:r>
              <a:rPr lang="en-US" sz="2400" b="1" dirty="0">
                <a:solidFill>
                  <a:srgbClr val="2563EB"/>
                </a:solidFill>
              </a:rPr>
              <a:t>7 Fases</a:t>
            </a:r>
            <a:endParaRPr lang="en-US" sz="2400" dirty="0"/>
          </a:p>
        </p:txBody>
      </p:sp>
      <p:sp>
        <p:nvSpPr>
          <p:cNvPr id="16" name="Text 14"/>
          <p:cNvSpPr/>
          <p:nvPr/>
        </p:nvSpPr>
        <p:spPr>
          <a:xfrm>
            <a:off x="6309360" y="4663440"/>
            <a:ext cx="2057400" cy="365760"/>
          </a:xfrm>
          <a:prstGeom prst="rect">
            <a:avLst/>
          </a:prstGeom>
          <a:noFill/>
          <a:ln/>
        </p:spPr>
        <p:txBody>
          <a:bodyPr wrap="square" rtlCol="0" anchor="ctr"/>
          <a:lstStyle/>
          <a:p>
            <a:pPr indent="0" marL="0">
              <a:buNone/>
            </a:pPr>
            <a:r>
              <a:rPr lang="en-US" sz="1200" b="1" dirty="0">
                <a:solidFill>
                  <a:srgbClr val="FFFFFF"/>
                </a:solidFill>
              </a:rPr>
              <a:t>Hoja de Ruta 2026-27</a:t>
            </a:r>
            <a:endParaRPr lang="en-US" sz="1200" dirty="0"/>
          </a:p>
        </p:txBody>
      </p:sp>
      <p:sp>
        <p:nvSpPr>
          <p:cNvPr id="17" name="Text 15"/>
          <p:cNvSpPr/>
          <p:nvPr/>
        </p:nvSpPr>
        <p:spPr>
          <a:xfrm>
            <a:off x="6309360" y="4983480"/>
            <a:ext cx="2057400" cy="457200"/>
          </a:xfrm>
          <a:prstGeom prst="rect">
            <a:avLst/>
          </a:prstGeom>
          <a:noFill/>
          <a:ln/>
        </p:spPr>
        <p:txBody>
          <a:bodyPr wrap="square" rtlCol="0" anchor="ctr"/>
          <a:lstStyle/>
          <a:p>
            <a:pPr indent="0" marL="0">
              <a:buNone/>
            </a:pPr>
            <a:r>
              <a:rPr lang="en-US" sz="1000" dirty="0">
                <a:solidFill>
                  <a:srgbClr val="94A3B8"/>
                </a:solidFill>
              </a:rPr>
              <a:t>Hitos y cronograma operativo</a:t>
            </a:r>
            <a:endParaRPr lang="en-US" sz="1000" dirty="0"/>
          </a:p>
        </p:txBody>
      </p:sp>
      <p:sp>
        <p:nvSpPr>
          <p:cNvPr id="18" name="Shape 16"/>
          <p:cNvSpPr/>
          <p:nvPr/>
        </p:nvSpPr>
        <p:spPr>
          <a:xfrm>
            <a:off x="8732520" y="3931920"/>
            <a:ext cx="2423160" cy="1645920"/>
          </a:xfrm>
          <a:prstGeom prst="roundRect">
            <a:avLst>
              <a:gd name="adj" fmla="val 8333"/>
            </a:avLst>
          </a:prstGeom>
          <a:solidFill>
            <a:srgbClr val="1E293B"/>
          </a:solidFill>
          <a:ln w="12700">
            <a:solidFill>
              <a:srgbClr val="334155"/>
            </a:solidFill>
            <a:prstDash val="solid"/>
          </a:ln>
        </p:spPr>
      </p:sp>
      <p:sp>
        <p:nvSpPr>
          <p:cNvPr id="19" name="Text 17"/>
          <p:cNvSpPr/>
          <p:nvPr/>
        </p:nvSpPr>
        <p:spPr>
          <a:xfrm>
            <a:off x="8915400" y="4114800"/>
            <a:ext cx="2057400" cy="548640"/>
          </a:xfrm>
          <a:prstGeom prst="rect">
            <a:avLst/>
          </a:prstGeom>
          <a:noFill/>
          <a:ln/>
        </p:spPr>
        <p:txBody>
          <a:bodyPr wrap="square" rtlCol="0" anchor="ctr"/>
          <a:lstStyle/>
          <a:p>
            <a:pPr indent="0" marL="0">
              <a:buNone/>
            </a:pPr>
            <a:r>
              <a:rPr lang="en-US" sz="2400" b="1" dirty="0">
                <a:solidFill>
                  <a:srgbClr val="7C3AED"/>
                </a:solidFill>
              </a:rPr>
              <a:t>6 Roles</a:t>
            </a:r>
            <a:endParaRPr lang="en-US" sz="2400" dirty="0"/>
          </a:p>
        </p:txBody>
      </p:sp>
      <p:sp>
        <p:nvSpPr>
          <p:cNvPr id="20" name="Text 18"/>
          <p:cNvSpPr/>
          <p:nvPr/>
        </p:nvSpPr>
        <p:spPr>
          <a:xfrm>
            <a:off x="8915400" y="4663440"/>
            <a:ext cx="2057400" cy="365760"/>
          </a:xfrm>
          <a:prstGeom prst="rect">
            <a:avLst/>
          </a:prstGeom>
          <a:noFill/>
          <a:ln/>
        </p:spPr>
        <p:txBody>
          <a:bodyPr wrap="square" rtlCol="0" anchor="ctr"/>
          <a:lstStyle/>
          <a:p>
            <a:pPr indent="0" marL="0">
              <a:buNone/>
            </a:pPr>
            <a:r>
              <a:rPr lang="en-US" sz="1200" b="1" dirty="0">
                <a:solidFill>
                  <a:srgbClr val="FFFFFF"/>
                </a:solidFill>
              </a:rPr>
              <a:t>Seguridad RBAC</a:t>
            </a:r>
            <a:endParaRPr lang="en-US" sz="1200" dirty="0"/>
          </a:p>
        </p:txBody>
      </p:sp>
      <p:sp>
        <p:nvSpPr>
          <p:cNvPr id="21" name="Text 19"/>
          <p:cNvSpPr/>
          <p:nvPr/>
        </p:nvSpPr>
        <p:spPr>
          <a:xfrm>
            <a:off x="8915400" y="4983480"/>
            <a:ext cx="2057400" cy="457200"/>
          </a:xfrm>
          <a:prstGeom prst="rect">
            <a:avLst/>
          </a:prstGeom>
          <a:noFill/>
          <a:ln/>
        </p:spPr>
        <p:txBody>
          <a:bodyPr wrap="square" rtlCol="0" anchor="ctr"/>
          <a:lstStyle/>
          <a:p>
            <a:pPr indent="0" marL="0">
              <a:buNone/>
            </a:pPr>
            <a:r>
              <a:rPr lang="en-US" sz="1000" dirty="0">
                <a:solidFill>
                  <a:srgbClr val="94A3B8"/>
                </a:solidFill>
              </a:rPr>
              <a:t>Blindaje de permisos por perfil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31520" y="457200"/>
            <a:ext cx="2560320" cy="320040"/>
          </a:xfrm>
          <a:prstGeom prst="roundRect">
            <a:avLst>
              <a:gd name="adj" fmla="val 28571"/>
            </a:avLst>
          </a:prstGeom>
          <a:solidFill>
            <a:srgbClr val="D97706"/>
          </a:solidFill>
          <a:ln/>
        </p:spPr>
      </p:sp>
      <p:sp>
        <p:nvSpPr>
          <p:cNvPr id="3" name="Text 1"/>
          <p:cNvSpPr/>
          <p:nvPr/>
        </p:nvSpPr>
        <p:spPr>
          <a:xfrm>
            <a:off x="731520" y="457200"/>
            <a:ext cx="2560320" cy="320040"/>
          </a:xfrm>
          <a:prstGeom prst="rect">
            <a:avLst/>
          </a:prstGeom>
          <a:noFill/>
          <a:ln/>
        </p:spPr>
        <p:txBody>
          <a:bodyPr wrap="square" rtlCol="0" anchor="ctr"/>
          <a:lstStyle/>
          <a:p>
            <a:pPr algn="ctr" indent="0" marL="0">
              <a:buNone/>
            </a:pPr>
            <a:r>
              <a:rPr lang="en-US" sz="1000" b="1" dirty="0">
                <a:solidFill>
                  <a:srgbClr val="FFFFFF"/>
                </a:solidFill>
              </a:rPr>
              <a:t>DIAGNÓSTICO DE NECESIDAD</a:t>
            </a:r>
            <a:endParaRPr lang="en-US" sz="1000" dirty="0"/>
          </a:p>
        </p:txBody>
      </p:sp>
      <p:sp>
        <p:nvSpPr>
          <p:cNvPr id="4" name="Text 2"/>
          <p:cNvSpPr/>
          <p:nvPr/>
        </p:nvSpPr>
        <p:spPr>
          <a:xfrm>
            <a:off x="731520" y="868680"/>
            <a:ext cx="10515600" cy="548640"/>
          </a:xfrm>
          <a:prstGeom prst="rect">
            <a:avLst/>
          </a:prstGeom>
          <a:noFill/>
          <a:ln/>
        </p:spPr>
        <p:txBody>
          <a:bodyPr wrap="square" rtlCol="0" anchor="ctr"/>
          <a:lstStyle/>
          <a:p>
            <a:pPr indent="0" marL="0">
              <a:buNone/>
            </a:pPr>
            <a:r>
              <a:rPr lang="en-US" sz="2200" b="1" dirty="0">
                <a:solidFill>
                  <a:srgbClr val="0F172A"/>
                </a:solidFill>
              </a:rPr>
              <a:t>El Reto de las Elecciones Municipales</a:t>
            </a:r>
            <a:endParaRPr lang="en-US" sz="2200" dirty="0"/>
          </a:p>
        </p:txBody>
      </p:sp>
      <p:sp>
        <p:nvSpPr>
          <p:cNvPr id="5" name="Text 3"/>
          <p:cNvSpPr/>
          <p:nvPr/>
        </p:nvSpPr>
        <p:spPr>
          <a:xfrm>
            <a:off x="731520" y="1371600"/>
            <a:ext cx="10515600" cy="365760"/>
          </a:xfrm>
          <a:prstGeom prst="rect">
            <a:avLst/>
          </a:prstGeom>
          <a:noFill/>
          <a:ln/>
        </p:spPr>
        <p:txBody>
          <a:bodyPr wrap="square" rtlCol="0" anchor="ctr"/>
          <a:lstStyle/>
          <a:p>
            <a:pPr indent="0" marL="0">
              <a:buNone/>
            </a:pPr>
            <a:r>
              <a:rPr lang="en-US" sz="1200" dirty="0">
                <a:solidFill>
                  <a:srgbClr val="64748B"/>
                </a:solidFill>
              </a:rPr>
              <a:t>¿Por qué las campañas locales se pierden en la última milla?</a:t>
            </a:r>
            <a:endParaRPr lang="en-US" sz="1200" dirty="0"/>
          </a:p>
        </p:txBody>
      </p:sp>
      <p:sp>
        <p:nvSpPr>
          <p:cNvPr id="6" name="Shape 4"/>
          <p:cNvSpPr/>
          <p:nvPr/>
        </p:nvSpPr>
        <p:spPr>
          <a:xfrm>
            <a:off x="731520" y="1783080"/>
            <a:ext cx="10698480" cy="0"/>
          </a:xfrm>
          <a:prstGeom prst="line">
            <a:avLst/>
          </a:prstGeom>
          <a:noFill/>
          <a:ln w="19050">
            <a:solidFill>
              <a:srgbClr val="E2E8F0"/>
            </a:solidFill>
            <a:prstDash val="solid"/>
          </a:ln>
        </p:spPr>
      </p:sp>
      <p:sp>
        <p:nvSpPr>
          <p:cNvPr id="7" name="Shape 5"/>
          <p:cNvSpPr/>
          <p:nvPr/>
        </p:nvSpPr>
        <p:spPr>
          <a:xfrm>
            <a:off x="731520" y="2011680"/>
            <a:ext cx="5120640" cy="4206240"/>
          </a:xfrm>
          <a:prstGeom prst="roundRect">
            <a:avLst>
              <a:gd name="adj" fmla="val 3261"/>
            </a:avLst>
          </a:prstGeom>
          <a:solidFill>
            <a:srgbClr val="FFF1F2"/>
          </a:solidFill>
          <a:ln w="12700">
            <a:solidFill>
              <a:srgbClr val="FECDD3"/>
            </a:solidFill>
            <a:prstDash val="solid"/>
          </a:ln>
        </p:spPr>
      </p:sp>
      <p:sp>
        <p:nvSpPr>
          <p:cNvPr id="8" name="Text 6"/>
          <p:cNvSpPr/>
          <p:nvPr/>
        </p:nvSpPr>
        <p:spPr>
          <a:xfrm>
            <a:off x="1005840" y="2194560"/>
            <a:ext cx="4572000" cy="365760"/>
          </a:xfrm>
          <a:prstGeom prst="rect">
            <a:avLst/>
          </a:prstGeom>
          <a:noFill/>
          <a:ln/>
        </p:spPr>
        <p:txBody>
          <a:bodyPr wrap="square" rtlCol="0" anchor="ctr"/>
          <a:lstStyle/>
          <a:p>
            <a:pPr indent="0" marL="0">
              <a:buNone/>
            </a:pPr>
            <a:r>
              <a:rPr lang="en-US" sz="1200" b="1" dirty="0">
                <a:solidFill>
                  <a:srgbClr val="9F1239"/>
                </a:solidFill>
              </a:rPr>
              <a:t>⚠️ LOS 4 ERRORES CLÁSICOS DE CAMPAÑA</a:t>
            </a:r>
            <a:endParaRPr lang="en-US" sz="1200" dirty="0"/>
          </a:p>
        </p:txBody>
      </p:sp>
      <p:sp>
        <p:nvSpPr>
          <p:cNvPr id="9" name="Text 7"/>
          <p:cNvSpPr/>
          <p:nvPr/>
        </p:nvSpPr>
        <p:spPr>
          <a:xfrm>
            <a:off x="1005840" y="2651760"/>
            <a:ext cx="4572000" cy="3383280"/>
          </a:xfrm>
          <a:prstGeom prst="rect">
            <a:avLst/>
          </a:prstGeom>
          <a:noFill/>
          <a:ln/>
        </p:spPr>
        <p:txBody>
          <a:bodyPr wrap="square" rtlCol="0" anchor="ctr"/>
          <a:lstStyle/>
          <a:p>
            <a:pPr indent="0" marL="0">
              <a:buNone/>
            </a:pPr>
            <a:r>
              <a:rPr lang="en-US" sz="1000" b="1" dirty="0">
                <a:solidFill>
                  <a:srgbClr val="BE123C"/>
                </a:solidFill>
              </a:rPr>
              <a:t>1. Desconocimiento del coste real del concejal:
</a:t>
            </a:r>
            <a:pPr indent="0" marL="0">
              <a:buNone/>
            </a:pPr>
            <a:r>
              <a:rPr lang="en-US" sz="1000" dirty="0">
                <a:solidFill>
                  <a:srgbClr val="334155"/>
                </a:solidFill>
              </a:rPr>
              <a:t>No saber cuántos votos exactos separan al partido de la mayoría absoluta o del último escaño disputado.
</a:t>
            </a:r>
            <a:pPr indent="0" marL="0">
              <a:buNone/>
            </a:pPr>
            <a:r>
              <a:rPr lang="en-US" sz="1000" b="1" dirty="0">
                <a:solidFill>
                  <a:srgbClr val="BE123C"/>
                </a:solidFill>
              </a:rPr>
              <a:t>2. Acción dispersa sin foco territorial:
</a:t>
            </a:r>
            <a:pPr indent="0" marL="0">
              <a:buNone/>
            </a:pPr>
            <a:r>
              <a:rPr lang="en-US" sz="1000" dirty="0">
                <a:solidFill>
                  <a:srgbClr val="334155"/>
                </a:solidFill>
              </a:rPr>
              <a:t>Gastar tiempo y recursos en zonas ya fidelizadas o electoralmente inalcanzables.
</a:t>
            </a:r>
            <a:pPr indent="0" marL="0">
              <a:buNone/>
            </a:pPr>
            <a:r>
              <a:rPr lang="en-US" sz="1000" b="1" dirty="0">
                <a:solidFill>
                  <a:srgbClr val="BE123C"/>
                </a:solidFill>
              </a:rPr>
              <a:t>3. Discurso reactivo e improvisado:
</a:t>
            </a:r>
            <a:pPr indent="0" marL="0">
              <a:buNone/>
            </a:pPr>
            <a:r>
              <a:rPr lang="en-US" sz="1000" dirty="0">
                <a:solidFill>
                  <a:srgbClr val="334155"/>
                </a:solidFill>
              </a:rPr>
              <a:t>Salir a la defensiva ante ataques rivales sin argumentarios preparados ni réplicas ensayadas.
</a:t>
            </a:r>
            <a:pPr indent="0" marL="0">
              <a:buNone/>
            </a:pPr>
            <a:r>
              <a:rPr lang="en-US" sz="1000" b="1" dirty="0">
                <a:solidFill>
                  <a:srgbClr val="BE123C"/>
                </a:solidFill>
              </a:rPr>
              <a:t>4. Descoordinación del comité semanal:
</a:t>
            </a:r>
            <a:pPr indent="0" marL="0">
              <a:buNone/>
            </a:pPr>
            <a:r>
              <a:rPr lang="en-US" sz="1000" dirty="0">
                <a:solidFill>
                  <a:srgbClr val="334155"/>
                </a:solidFill>
              </a:rPr>
              <a:t>Reuniones sin actas vinculantes, acuerdos olvidados y bloqueos sin resolver.</a:t>
            </a:r>
            <a:endParaRPr lang="en-US" sz="1000" dirty="0"/>
          </a:p>
        </p:txBody>
      </p:sp>
      <p:sp>
        <p:nvSpPr>
          <p:cNvPr id="10" name="Shape 8"/>
          <p:cNvSpPr/>
          <p:nvPr/>
        </p:nvSpPr>
        <p:spPr>
          <a:xfrm>
            <a:off x="6217920" y="2011680"/>
            <a:ext cx="5120640" cy="4206240"/>
          </a:xfrm>
          <a:prstGeom prst="roundRect">
            <a:avLst>
              <a:gd name="adj" fmla="val 3261"/>
            </a:avLst>
          </a:prstGeom>
          <a:solidFill>
            <a:srgbClr val="ECFDF5"/>
          </a:solidFill>
          <a:ln w="12700">
            <a:solidFill>
              <a:srgbClr val="A7F3D0"/>
            </a:solidFill>
            <a:prstDash val="solid"/>
          </a:ln>
        </p:spPr>
      </p:sp>
      <p:sp>
        <p:nvSpPr>
          <p:cNvPr id="11" name="Text 9"/>
          <p:cNvSpPr/>
          <p:nvPr/>
        </p:nvSpPr>
        <p:spPr>
          <a:xfrm>
            <a:off x="6492240" y="2194560"/>
            <a:ext cx="4572000" cy="365760"/>
          </a:xfrm>
          <a:prstGeom prst="rect">
            <a:avLst/>
          </a:prstGeom>
          <a:noFill/>
          <a:ln/>
        </p:spPr>
        <p:txBody>
          <a:bodyPr wrap="square" rtlCol="0" anchor="ctr"/>
          <a:lstStyle/>
          <a:p>
            <a:pPr indent="0" marL="0">
              <a:buNone/>
            </a:pPr>
            <a:r>
              <a:rPr lang="en-US" sz="1200" b="1" dirty="0">
                <a:solidFill>
                  <a:srgbClr val="065F46"/>
                </a:solidFill>
              </a:rPr>
              <a:t>🛡️ LA RESPUESTA CIENTÍFICA DE RUTA 2027</a:t>
            </a:r>
            <a:endParaRPr lang="en-US" sz="1200" dirty="0"/>
          </a:p>
        </p:txBody>
      </p:sp>
      <p:sp>
        <p:nvSpPr>
          <p:cNvPr id="12" name="Text 10"/>
          <p:cNvSpPr/>
          <p:nvPr/>
        </p:nvSpPr>
        <p:spPr>
          <a:xfrm>
            <a:off x="6492240" y="2651760"/>
            <a:ext cx="4572000" cy="3383280"/>
          </a:xfrm>
          <a:prstGeom prst="rect">
            <a:avLst/>
          </a:prstGeom>
          <a:noFill/>
          <a:ln/>
        </p:spPr>
        <p:txBody>
          <a:bodyPr wrap="square" rtlCol="0" anchor="ctr"/>
          <a:lstStyle/>
          <a:p>
            <a:pPr indent="0" marL="0">
              <a:buNone/>
            </a:pPr>
            <a:r>
              <a:rPr lang="en-US" sz="1000" b="1" dirty="0">
                <a:solidFill>
                  <a:srgbClr val="047857"/>
                </a:solidFill>
              </a:rPr>
              <a:t>1. Matemática electoral transparente:
</a:t>
            </a:r>
            <a:pPr indent="0" marL="0">
              <a:buNone/>
            </a:pPr>
            <a:r>
              <a:rPr lang="en-US" sz="1000" dirty="0">
                <a:solidFill>
                  <a:srgbClr val="334155"/>
                </a:solidFill>
              </a:rPr>
              <a:t>Algoritmo exacto Ley D'Hondt que indica el cociente de corte y los votos necesarios para crecer.
</a:t>
            </a:r>
            <a:pPr indent="0" marL="0">
              <a:buNone/>
            </a:pPr>
            <a:r>
              <a:rPr lang="en-US" sz="1000" b="1" dirty="0">
                <a:solidFill>
                  <a:srgbClr val="047857"/>
                </a:solidFill>
              </a:rPr>
              <a:t>2. Matriz de competitividad territorial:
</a:t>
            </a:r>
            <a:pPr indent="0" marL="0">
              <a:buNone/>
            </a:pPr>
            <a:r>
              <a:rPr lang="en-US" sz="1000" dirty="0">
                <a:solidFill>
                  <a:srgbClr val="334155"/>
                </a:solidFill>
              </a:rPr>
              <a:t>Clasificación estratégica de distritos (Fortaleza, Crecimiento, Defensa u Oportunidad).
</a:t>
            </a:r>
            <a:pPr indent="0" marL="0">
              <a:buNone/>
            </a:pPr>
            <a:r>
              <a:rPr lang="en-US" sz="1000" b="1" dirty="0">
                <a:solidFill>
                  <a:srgbClr val="047857"/>
                </a:solidFill>
              </a:rPr>
              <a:t>3. Banco de mensajes y radar de rivales:
</a:t>
            </a:r>
            <a:pPr indent="0" marL="0">
              <a:buNone/>
            </a:pPr>
            <a:r>
              <a:rPr lang="en-US" sz="1000" dirty="0">
                <a:solidFill>
                  <a:srgbClr val="334155"/>
                </a:solidFill>
              </a:rPr>
              <a:t>Estructura oficial de discurso con réplicas oficiales inmediatas y detección de oportunidades.
</a:t>
            </a:r>
            <a:pPr indent="0" marL="0">
              <a:buNone/>
            </a:pPr>
            <a:r>
              <a:rPr lang="en-US" sz="1000" b="1" dirty="0">
                <a:solidFill>
                  <a:srgbClr val="047857"/>
                </a:solidFill>
              </a:rPr>
              <a:t>4. Gobernanza semanal implacable:
</a:t>
            </a:r>
            <a:pPr indent="0" marL="0">
              <a:buNone/>
            </a:pPr>
            <a:r>
              <a:rPr lang="en-US" sz="1000" dirty="0">
                <a:solidFill>
                  <a:srgbClr val="334155"/>
                </a:solidFill>
              </a:rPr>
              <a:t>Actas de comité vinculantes, resolución de bloqueos e informe ejecutivo en 4 preguntas.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31520" y="457200"/>
            <a:ext cx="2560320" cy="320040"/>
          </a:xfrm>
          <a:prstGeom prst="roundRect">
            <a:avLst>
              <a:gd name="adj" fmla="val 28571"/>
            </a:avLst>
          </a:prstGeom>
          <a:solidFill>
            <a:srgbClr val="2563EB"/>
          </a:solidFill>
          <a:ln/>
        </p:spPr>
      </p:sp>
      <p:sp>
        <p:nvSpPr>
          <p:cNvPr id="3" name="Text 1"/>
          <p:cNvSpPr/>
          <p:nvPr/>
        </p:nvSpPr>
        <p:spPr>
          <a:xfrm>
            <a:off x="731520" y="457200"/>
            <a:ext cx="2560320" cy="320040"/>
          </a:xfrm>
          <a:prstGeom prst="rect">
            <a:avLst/>
          </a:prstGeom>
          <a:noFill/>
          <a:ln/>
        </p:spPr>
        <p:txBody>
          <a:bodyPr wrap="square" rtlCol="0" anchor="ctr"/>
          <a:lstStyle/>
          <a:p>
            <a:pPr algn="ctr" indent="0" marL="0">
              <a:buNone/>
            </a:pPr>
            <a:r>
              <a:rPr lang="en-US" sz="1000" b="1" dirty="0">
                <a:solidFill>
                  <a:srgbClr val="FFFFFF"/>
                </a:solidFill>
              </a:rPr>
              <a:t>ESTRUCTURA DEL SISTEMA</a:t>
            </a:r>
            <a:endParaRPr lang="en-US" sz="1000" dirty="0"/>
          </a:p>
        </p:txBody>
      </p:sp>
      <p:sp>
        <p:nvSpPr>
          <p:cNvPr id="4" name="Text 2"/>
          <p:cNvSpPr/>
          <p:nvPr/>
        </p:nvSpPr>
        <p:spPr>
          <a:xfrm>
            <a:off x="731520" y="868680"/>
            <a:ext cx="10515600" cy="548640"/>
          </a:xfrm>
          <a:prstGeom prst="rect">
            <a:avLst/>
          </a:prstGeom>
          <a:noFill/>
          <a:ln/>
        </p:spPr>
        <p:txBody>
          <a:bodyPr wrap="square" rtlCol="0" anchor="ctr"/>
          <a:lstStyle/>
          <a:p>
            <a:pPr indent="0" marL="0">
              <a:buNone/>
            </a:pPr>
            <a:r>
              <a:rPr lang="en-US" sz="2200" b="1" dirty="0">
                <a:solidFill>
                  <a:srgbClr val="0F172A"/>
                </a:solidFill>
              </a:rPr>
              <a:t>Los 4 Bloques Funcionales del Sistema</a:t>
            </a:r>
            <a:endParaRPr lang="en-US" sz="2200" dirty="0"/>
          </a:p>
        </p:txBody>
      </p:sp>
      <p:sp>
        <p:nvSpPr>
          <p:cNvPr id="5" name="Text 3"/>
          <p:cNvSpPr/>
          <p:nvPr/>
        </p:nvSpPr>
        <p:spPr>
          <a:xfrm>
            <a:off x="731520" y="1371600"/>
            <a:ext cx="10515600" cy="365760"/>
          </a:xfrm>
          <a:prstGeom prst="rect">
            <a:avLst/>
          </a:prstGeom>
          <a:noFill/>
          <a:ln/>
        </p:spPr>
        <p:txBody>
          <a:bodyPr wrap="square" rtlCol="0" anchor="ctr"/>
          <a:lstStyle/>
          <a:p>
            <a:pPr indent="0" marL="0">
              <a:buNone/>
            </a:pPr>
            <a:r>
              <a:rPr lang="en-US" sz="1200" dirty="0">
                <a:solidFill>
                  <a:srgbClr val="64748B"/>
                </a:solidFill>
              </a:rPr>
              <a:t>Una arquitectura integral pensada para los ritmos de una campaña real</a:t>
            </a:r>
            <a:endParaRPr lang="en-US" sz="1200" dirty="0"/>
          </a:p>
        </p:txBody>
      </p:sp>
      <p:sp>
        <p:nvSpPr>
          <p:cNvPr id="6" name="Shape 4"/>
          <p:cNvSpPr/>
          <p:nvPr/>
        </p:nvSpPr>
        <p:spPr>
          <a:xfrm>
            <a:off x="731520" y="1783080"/>
            <a:ext cx="10698480" cy="0"/>
          </a:xfrm>
          <a:prstGeom prst="line">
            <a:avLst/>
          </a:prstGeom>
          <a:noFill/>
          <a:ln w="19050">
            <a:solidFill>
              <a:srgbClr val="E2E8F0"/>
            </a:solidFill>
            <a:prstDash val="solid"/>
          </a:ln>
        </p:spPr>
      </p:sp>
      <p:sp>
        <p:nvSpPr>
          <p:cNvPr id="7" name="Shape 5"/>
          <p:cNvSpPr/>
          <p:nvPr/>
        </p:nvSpPr>
        <p:spPr>
          <a:xfrm>
            <a:off x="731520" y="2103120"/>
            <a:ext cx="2514600" cy="4023360"/>
          </a:xfrm>
          <a:prstGeom prst="roundRect">
            <a:avLst>
              <a:gd name="adj" fmla="val 5455"/>
            </a:avLst>
          </a:prstGeom>
          <a:solidFill>
            <a:srgbClr val="EFF6FF"/>
          </a:solidFill>
          <a:ln w="12700">
            <a:solidFill>
              <a:srgbClr val="BFDBFE"/>
            </a:solidFill>
            <a:prstDash val="solid"/>
          </a:ln>
        </p:spPr>
      </p:sp>
      <p:sp>
        <p:nvSpPr>
          <p:cNvPr id="8" name="Shape 6"/>
          <p:cNvSpPr/>
          <p:nvPr/>
        </p:nvSpPr>
        <p:spPr>
          <a:xfrm>
            <a:off x="960120" y="2331720"/>
            <a:ext cx="548640" cy="548640"/>
          </a:xfrm>
          <a:prstGeom prst="roundRect">
            <a:avLst>
              <a:gd name="adj" fmla="val 16667"/>
            </a:avLst>
          </a:prstGeom>
          <a:solidFill>
            <a:srgbClr val="2563EB"/>
          </a:solidFill>
          <a:ln/>
        </p:spPr>
      </p:sp>
      <p:sp>
        <p:nvSpPr>
          <p:cNvPr id="9" name="Text 7"/>
          <p:cNvSpPr/>
          <p:nvPr/>
        </p:nvSpPr>
        <p:spPr>
          <a:xfrm>
            <a:off x="960120" y="2331720"/>
            <a:ext cx="548640" cy="548640"/>
          </a:xfrm>
          <a:prstGeom prst="rect">
            <a:avLst/>
          </a:prstGeom>
          <a:noFill/>
          <a:ln/>
        </p:spPr>
        <p:txBody>
          <a:bodyPr wrap="square" rtlCol="0" anchor="ctr"/>
          <a:lstStyle/>
          <a:p>
            <a:pPr algn="ctr" indent="0" marL="0">
              <a:buNone/>
            </a:pPr>
            <a:r>
              <a:rPr lang="en-US" sz="1400" b="1" dirty="0">
                <a:solidFill>
                  <a:srgbClr val="FFFFFF"/>
                </a:solidFill>
              </a:rPr>
              <a:t>1</a:t>
            </a:r>
            <a:endParaRPr lang="en-US" sz="1400" dirty="0"/>
          </a:p>
        </p:txBody>
      </p:sp>
      <p:sp>
        <p:nvSpPr>
          <p:cNvPr id="10" name="Text 8"/>
          <p:cNvSpPr/>
          <p:nvPr/>
        </p:nvSpPr>
        <p:spPr>
          <a:xfrm>
            <a:off x="960120" y="3017520"/>
            <a:ext cx="2057400" cy="457200"/>
          </a:xfrm>
          <a:prstGeom prst="rect">
            <a:avLst/>
          </a:prstGeom>
          <a:noFill/>
          <a:ln/>
        </p:spPr>
        <p:txBody>
          <a:bodyPr wrap="square" rtlCol="0" anchor="ctr"/>
          <a:lstStyle/>
          <a:p>
            <a:pPr indent="0" marL="0">
              <a:buNone/>
            </a:pPr>
            <a:r>
              <a:rPr lang="en-US" sz="1300" b="1" dirty="0">
                <a:solidFill>
                  <a:srgbClr val="0F172A"/>
                </a:solidFill>
              </a:rPr>
              <a:t>Operativa Semanal</a:t>
            </a:r>
            <a:endParaRPr lang="en-US" sz="1300" dirty="0"/>
          </a:p>
        </p:txBody>
      </p:sp>
      <p:sp>
        <p:nvSpPr>
          <p:cNvPr id="11" name="Text 9"/>
          <p:cNvSpPr/>
          <p:nvPr/>
        </p:nvSpPr>
        <p:spPr>
          <a:xfrm>
            <a:off x="960120" y="3520440"/>
            <a:ext cx="2057400" cy="1645920"/>
          </a:xfrm>
          <a:prstGeom prst="rect">
            <a:avLst/>
          </a:prstGeom>
          <a:noFill/>
          <a:ln/>
        </p:spPr>
        <p:txBody>
          <a:bodyPr wrap="square" rtlCol="0" anchor="ctr"/>
          <a:lstStyle/>
          <a:p>
            <a:pPr indent="0" marL="0">
              <a:buNone/>
            </a:pPr>
            <a:r>
              <a:rPr lang="en-US" sz="1000" dirty="0">
                <a:solidFill>
                  <a:srgbClr val="475569"/>
                </a:solidFill>
              </a:rPr>
              <a:t>El panel "Esta Semana", la agenda de calle, las visitas vecinales, las actas de comité y el informe ejecutivo imprimible.</a:t>
            </a:r>
            <a:endParaRPr lang="en-US" sz="1000" dirty="0"/>
          </a:p>
        </p:txBody>
      </p:sp>
      <p:sp>
        <p:nvSpPr>
          <p:cNvPr id="12" name="Shape 10"/>
          <p:cNvSpPr/>
          <p:nvPr/>
        </p:nvSpPr>
        <p:spPr>
          <a:xfrm>
            <a:off x="914400" y="5303520"/>
            <a:ext cx="2148840" cy="640080"/>
          </a:xfrm>
          <a:prstGeom prst="roundRect">
            <a:avLst>
              <a:gd name="adj" fmla="val 14286"/>
            </a:avLst>
          </a:prstGeom>
          <a:solidFill>
            <a:srgbClr val="FFFFFF"/>
          </a:solidFill>
          <a:ln w="12700">
            <a:solidFill>
              <a:srgbClr val="BFDBFE"/>
            </a:solidFill>
            <a:prstDash val="solid"/>
          </a:ln>
        </p:spPr>
      </p:sp>
      <p:sp>
        <p:nvSpPr>
          <p:cNvPr id="13" name="Text 11"/>
          <p:cNvSpPr/>
          <p:nvPr/>
        </p:nvSpPr>
        <p:spPr>
          <a:xfrm>
            <a:off x="960120" y="5349240"/>
            <a:ext cx="2057400" cy="548640"/>
          </a:xfrm>
          <a:prstGeom prst="rect">
            <a:avLst/>
          </a:prstGeom>
          <a:noFill/>
          <a:ln/>
        </p:spPr>
        <p:txBody>
          <a:bodyPr wrap="square" rtlCol="0" anchor="ctr"/>
          <a:lstStyle/>
          <a:p>
            <a:pPr indent="0" marL="0">
              <a:buNone/>
            </a:pPr>
            <a:r>
              <a:rPr lang="en-US" sz="850" b="1" dirty="0">
                <a:solidFill>
                  <a:srgbClr val="2563EB"/>
                </a:solidFill>
              </a:rPr>
              <a:t>Panel de Mando • Actos y Visitas • Comités • Informe PDF</a:t>
            </a:r>
            <a:endParaRPr lang="en-US" sz="850" dirty="0"/>
          </a:p>
        </p:txBody>
      </p:sp>
      <p:sp>
        <p:nvSpPr>
          <p:cNvPr id="14" name="Shape 12"/>
          <p:cNvSpPr/>
          <p:nvPr/>
        </p:nvSpPr>
        <p:spPr>
          <a:xfrm>
            <a:off x="3429000" y="2103120"/>
            <a:ext cx="2514600" cy="4023360"/>
          </a:xfrm>
          <a:prstGeom prst="roundRect">
            <a:avLst>
              <a:gd name="adj" fmla="val 5455"/>
            </a:avLst>
          </a:prstGeom>
          <a:solidFill>
            <a:srgbClr val="F0F9FF"/>
          </a:solidFill>
          <a:ln w="12700">
            <a:solidFill>
              <a:srgbClr val="BAE6FD"/>
            </a:solidFill>
            <a:prstDash val="solid"/>
          </a:ln>
        </p:spPr>
      </p:sp>
      <p:sp>
        <p:nvSpPr>
          <p:cNvPr id="15" name="Shape 13"/>
          <p:cNvSpPr/>
          <p:nvPr/>
        </p:nvSpPr>
        <p:spPr>
          <a:xfrm>
            <a:off x="3657600" y="2331720"/>
            <a:ext cx="548640" cy="548640"/>
          </a:xfrm>
          <a:prstGeom prst="roundRect">
            <a:avLst>
              <a:gd name="adj" fmla="val 16667"/>
            </a:avLst>
          </a:prstGeom>
          <a:solidFill>
            <a:srgbClr val="0284C7"/>
          </a:solidFill>
          <a:ln/>
        </p:spPr>
      </p:sp>
      <p:sp>
        <p:nvSpPr>
          <p:cNvPr id="16" name="Text 14"/>
          <p:cNvSpPr/>
          <p:nvPr/>
        </p:nvSpPr>
        <p:spPr>
          <a:xfrm>
            <a:off x="3657600" y="2331720"/>
            <a:ext cx="548640" cy="548640"/>
          </a:xfrm>
          <a:prstGeom prst="rect">
            <a:avLst/>
          </a:prstGeom>
          <a:noFill/>
          <a:ln/>
        </p:spPr>
        <p:txBody>
          <a:bodyPr wrap="square" rtlCol="0" anchor="ctr"/>
          <a:lstStyle/>
          <a:p>
            <a:pPr algn="ctr" indent="0" marL="0">
              <a:buNone/>
            </a:pPr>
            <a:r>
              <a:rPr lang="en-US" sz="1400" b="1" dirty="0">
                <a:solidFill>
                  <a:srgbClr val="FFFFFF"/>
                </a:solidFill>
              </a:rPr>
              <a:t>2</a:t>
            </a:r>
            <a:endParaRPr lang="en-US" sz="1400" dirty="0"/>
          </a:p>
        </p:txBody>
      </p:sp>
      <p:sp>
        <p:nvSpPr>
          <p:cNvPr id="17" name="Text 15"/>
          <p:cNvSpPr/>
          <p:nvPr/>
        </p:nvSpPr>
        <p:spPr>
          <a:xfrm>
            <a:off x="3657600" y="3017520"/>
            <a:ext cx="2057400" cy="457200"/>
          </a:xfrm>
          <a:prstGeom prst="rect">
            <a:avLst/>
          </a:prstGeom>
          <a:noFill/>
          <a:ln/>
        </p:spPr>
        <p:txBody>
          <a:bodyPr wrap="square" rtlCol="0" anchor="ctr"/>
          <a:lstStyle/>
          <a:p>
            <a:pPr indent="0" marL="0">
              <a:buNone/>
            </a:pPr>
            <a:r>
              <a:rPr lang="en-US" sz="1300" b="1" dirty="0">
                <a:solidFill>
                  <a:srgbClr val="0F172A"/>
                </a:solidFill>
              </a:rPr>
              <a:t>Diagnóstico y Datos</a:t>
            </a:r>
            <a:endParaRPr lang="en-US" sz="1300" dirty="0"/>
          </a:p>
        </p:txBody>
      </p:sp>
      <p:sp>
        <p:nvSpPr>
          <p:cNvPr id="18" name="Text 16"/>
          <p:cNvSpPr/>
          <p:nvPr/>
        </p:nvSpPr>
        <p:spPr>
          <a:xfrm>
            <a:off x="3657600" y="3520440"/>
            <a:ext cx="2057400" cy="1645920"/>
          </a:xfrm>
          <a:prstGeom prst="rect">
            <a:avLst/>
          </a:prstGeom>
          <a:noFill/>
          <a:ln/>
        </p:spPr>
        <p:txBody>
          <a:bodyPr wrap="square" rtlCol="0" anchor="ctr"/>
          <a:lstStyle/>
          <a:p>
            <a:pPr indent="0" marL="0">
              <a:buNone/>
            </a:pPr>
            <a:r>
              <a:rPr lang="en-US" sz="1000" dirty="0">
                <a:solidFill>
                  <a:srgbClr val="475569"/>
                </a:solidFill>
              </a:rPr>
              <a:t>Escrutinio oficial 2023, censo, nulos, mapa epistemológico de partidos rivales y análisis distrital mesa a mesa.</a:t>
            </a:r>
            <a:endParaRPr lang="en-US" sz="1000" dirty="0"/>
          </a:p>
        </p:txBody>
      </p:sp>
      <p:sp>
        <p:nvSpPr>
          <p:cNvPr id="19" name="Shape 17"/>
          <p:cNvSpPr/>
          <p:nvPr/>
        </p:nvSpPr>
        <p:spPr>
          <a:xfrm>
            <a:off x="3611880" y="5303520"/>
            <a:ext cx="2148840" cy="640080"/>
          </a:xfrm>
          <a:prstGeom prst="roundRect">
            <a:avLst>
              <a:gd name="adj" fmla="val 14286"/>
            </a:avLst>
          </a:prstGeom>
          <a:solidFill>
            <a:srgbClr val="FFFFFF"/>
          </a:solidFill>
          <a:ln w="12700">
            <a:solidFill>
              <a:srgbClr val="BAE6FD"/>
            </a:solidFill>
            <a:prstDash val="solid"/>
          </a:ln>
        </p:spPr>
      </p:sp>
      <p:sp>
        <p:nvSpPr>
          <p:cNvPr id="20" name="Text 18"/>
          <p:cNvSpPr/>
          <p:nvPr/>
        </p:nvSpPr>
        <p:spPr>
          <a:xfrm>
            <a:off x="3657600" y="5349240"/>
            <a:ext cx="2057400" cy="548640"/>
          </a:xfrm>
          <a:prstGeom prst="rect">
            <a:avLst/>
          </a:prstGeom>
          <a:noFill/>
          <a:ln/>
        </p:spPr>
        <p:txBody>
          <a:bodyPr wrap="square" rtlCol="0" anchor="ctr"/>
          <a:lstStyle/>
          <a:p>
            <a:pPr indent="0" marL="0">
              <a:buNone/>
            </a:pPr>
            <a:r>
              <a:rPr lang="en-US" sz="850" b="1" dirty="0">
                <a:solidFill>
                  <a:srgbClr val="0284C7"/>
                </a:solidFill>
              </a:rPr>
              <a:t>Línea Base 2023 • Partidos y Rivales • Distritos • Censo</a:t>
            </a:r>
            <a:endParaRPr lang="en-US" sz="850" dirty="0"/>
          </a:p>
        </p:txBody>
      </p:sp>
      <p:sp>
        <p:nvSpPr>
          <p:cNvPr id="21" name="Shape 19"/>
          <p:cNvSpPr/>
          <p:nvPr/>
        </p:nvSpPr>
        <p:spPr>
          <a:xfrm>
            <a:off x="6126480" y="2103120"/>
            <a:ext cx="2514600" cy="4023360"/>
          </a:xfrm>
          <a:prstGeom prst="roundRect">
            <a:avLst>
              <a:gd name="adj" fmla="val 5455"/>
            </a:avLst>
          </a:prstGeom>
          <a:solidFill>
            <a:srgbClr val="FFF1F2"/>
          </a:solidFill>
          <a:ln w="12700">
            <a:solidFill>
              <a:srgbClr val="FECDD3"/>
            </a:solidFill>
            <a:prstDash val="solid"/>
          </a:ln>
        </p:spPr>
      </p:sp>
      <p:sp>
        <p:nvSpPr>
          <p:cNvPr id="22" name="Shape 20"/>
          <p:cNvSpPr/>
          <p:nvPr/>
        </p:nvSpPr>
        <p:spPr>
          <a:xfrm>
            <a:off x="6355080" y="2331720"/>
            <a:ext cx="548640" cy="548640"/>
          </a:xfrm>
          <a:prstGeom prst="roundRect">
            <a:avLst>
              <a:gd name="adj" fmla="val 16667"/>
            </a:avLst>
          </a:prstGeom>
          <a:solidFill>
            <a:srgbClr val="DC2626"/>
          </a:solidFill>
          <a:ln/>
        </p:spPr>
      </p:sp>
      <p:sp>
        <p:nvSpPr>
          <p:cNvPr id="23" name="Text 21"/>
          <p:cNvSpPr/>
          <p:nvPr/>
        </p:nvSpPr>
        <p:spPr>
          <a:xfrm>
            <a:off x="6355080" y="2331720"/>
            <a:ext cx="548640" cy="548640"/>
          </a:xfrm>
          <a:prstGeom prst="rect">
            <a:avLst/>
          </a:prstGeom>
          <a:noFill/>
          <a:ln/>
        </p:spPr>
        <p:txBody>
          <a:bodyPr wrap="square" rtlCol="0" anchor="ctr"/>
          <a:lstStyle/>
          <a:p>
            <a:pPr algn="ctr" indent="0" marL="0">
              <a:buNone/>
            </a:pPr>
            <a:r>
              <a:rPr lang="en-US" sz="1400" b="1" dirty="0">
                <a:solidFill>
                  <a:srgbClr val="FFFFFF"/>
                </a:solidFill>
              </a:rPr>
              <a:t>3</a:t>
            </a:r>
            <a:endParaRPr lang="en-US" sz="1400" dirty="0"/>
          </a:p>
        </p:txBody>
      </p:sp>
      <p:sp>
        <p:nvSpPr>
          <p:cNvPr id="24" name="Text 22"/>
          <p:cNvSpPr/>
          <p:nvPr/>
        </p:nvSpPr>
        <p:spPr>
          <a:xfrm>
            <a:off x="6355080" y="3017520"/>
            <a:ext cx="2057400" cy="457200"/>
          </a:xfrm>
          <a:prstGeom prst="rect">
            <a:avLst/>
          </a:prstGeom>
          <a:noFill/>
          <a:ln/>
        </p:spPr>
        <p:txBody>
          <a:bodyPr wrap="square" rtlCol="0" anchor="ctr"/>
          <a:lstStyle/>
          <a:p>
            <a:pPr indent="0" marL="0">
              <a:buNone/>
            </a:pPr>
            <a:r>
              <a:rPr lang="en-US" sz="1300" b="1" dirty="0">
                <a:solidFill>
                  <a:srgbClr val="0F172A"/>
                </a:solidFill>
              </a:rPr>
              <a:t>Simulación y DAFO</a:t>
            </a:r>
            <a:endParaRPr lang="en-US" sz="1300" dirty="0"/>
          </a:p>
        </p:txBody>
      </p:sp>
      <p:sp>
        <p:nvSpPr>
          <p:cNvPr id="25" name="Text 23"/>
          <p:cNvSpPr/>
          <p:nvPr/>
        </p:nvSpPr>
        <p:spPr>
          <a:xfrm>
            <a:off x="6355080" y="3520440"/>
            <a:ext cx="2057400" cy="1645920"/>
          </a:xfrm>
          <a:prstGeom prst="rect">
            <a:avLst/>
          </a:prstGeom>
          <a:noFill/>
          <a:ln/>
        </p:spPr>
        <p:txBody>
          <a:bodyPr wrap="square" rtlCol="0" anchor="ctr"/>
          <a:lstStyle/>
          <a:p>
            <a:pPr indent="0" marL="0">
              <a:buNone/>
            </a:pPr>
            <a:r>
              <a:rPr lang="en-US" sz="1000" dirty="0">
                <a:solidFill>
                  <a:srgbClr val="475569"/>
                </a:solidFill>
              </a:rPr>
              <a:t>Simulador Ley D'Hondt adaptado a los concejales del municipio con doble columna interactiva y matriz DAFO territorial.</a:t>
            </a:r>
            <a:endParaRPr lang="en-US" sz="1000" dirty="0"/>
          </a:p>
        </p:txBody>
      </p:sp>
      <p:sp>
        <p:nvSpPr>
          <p:cNvPr id="26" name="Shape 24"/>
          <p:cNvSpPr/>
          <p:nvPr/>
        </p:nvSpPr>
        <p:spPr>
          <a:xfrm>
            <a:off x="6309360" y="5303520"/>
            <a:ext cx="2148840" cy="640080"/>
          </a:xfrm>
          <a:prstGeom prst="roundRect">
            <a:avLst>
              <a:gd name="adj" fmla="val 14286"/>
            </a:avLst>
          </a:prstGeom>
          <a:solidFill>
            <a:srgbClr val="FFFFFF"/>
          </a:solidFill>
          <a:ln w="12700">
            <a:solidFill>
              <a:srgbClr val="FECDD3"/>
            </a:solidFill>
            <a:prstDash val="solid"/>
          </a:ln>
        </p:spPr>
      </p:sp>
      <p:sp>
        <p:nvSpPr>
          <p:cNvPr id="27" name="Text 25"/>
          <p:cNvSpPr/>
          <p:nvPr/>
        </p:nvSpPr>
        <p:spPr>
          <a:xfrm>
            <a:off x="6355080" y="5349240"/>
            <a:ext cx="2057400" cy="548640"/>
          </a:xfrm>
          <a:prstGeom prst="rect">
            <a:avLst/>
          </a:prstGeom>
          <a:noFill/>
          <a:ln/>
        </p:spPr>
        <p:txBody>
          <a:bodyPr wrap="square" rtlCol="0" anchor="ctr"/>
          <a:lstStyle/>
          <a:p>
            <a:pPr indent="0" marL="0">
              <a:buNone/>
            </a:pPr>
            <a:r>
              <a:rPr lang="en-US" sz="850" b="1" dirty="0">
                <a:solidFill>
                  <a:srgbClr val="DC2626"/>
                </a:solidFill>
              </a:rPr>
              <a:t>Simulador D'Hondt • Doble Columna • DAFO • Auditoría 21P</a:t>
            </a:r>
            <a:endParaRPr lang="en-US" sz="850" dirty="0"/>
          </a:p>
        </p:txBody>
      </p:sp>
      <p:sp>
        <p:nvSpPr>
          <p:cNvPr id="28" name="Shape 26"/>
          <p:cNvSpPr/>
          <p:nvPr/>
        </p:nvSpPr>
        <p:spPr>
          <a:xfrm>
            <a:off x="8823960" y="2103120"/>
            <a:ext cx="2514600" cy="4023360"/>
          </a:xfrm>
          <a:prstGeom prst="roundRect">
            <a:avLst>
              <a:gd name="adj" fmla="val 5455"/>
            </a:avLst>
          </a:prstGeom>
          <a:solidFill>
            <a:srgbClr val="FAF5FF"/>
          </a:solidFill>
          <a:ln w="12700">
            <a:solidFill>
              <a:srgbClr val="E9D5FF"/>
            </a:solidFill>
            <a:prstDash val="solid"/>
          </a:ln>
        </p:spPr>
      </p:sp>
      <p:sp>
        <p:nvSpPr>
          <p:cNvPr id="29" name="Shape 27"/>
          <p:cNvSpPr/>
          <p:nvPr/>
        </p:nvSpPr>
        <p:spPr>
          <a:xfrm>
            <a:off x="9052560" y="2331720"/>
            <a:ext cx="548640" cy="548640"/>
          </a:xfrm>
          <a:prstGeom prst="roundRect">
            <a:avLst>
              <a:gd name="adj" fmla="val 16667"/>
            </a:avLst>
          </a:prstGeom>
          <a:solidFill>
            <a:srgbClr val="7C3AED"/>
          </a:solidFill>
          <a:ln/>
        </p:spPr>
      </p:sp>
      <p:sp>
        <p:nvSpPr>
          <p:cNvPr id="30" name="Text 28"/>
          <p:cNvSpPr/>
          <p:nvPr/>
        </p:nvSpPr>
        <p:spPr>
          <a:xfrm>
            <a:off x="9052560" y="2331720"/>
            <a:ext cx="548640" cy="548640"/>
          </a:xfrm>
          <a:prstGeom prst="rect">
            <a:avLst/>
          </a:prstGeom>
          <a:noFill/>
          <a:ln/>
        </p:spPr>
        <p:txBody>
          <a:bodyPr wrap="square" rtlCol="0" anchor="ctr"/>
          <a:lstStyle/>
          <a:p>
            <a:pPr algn="ctr" indent="0" marL="0">
              <a:buNone/>
            </a:pPr>
            <a:r>
              <a:rPr lang="en-US" sz="1400" b="1" dirty="0">
                <a:solidFill>
                  <a:srgbClr val="FFFFFF"/>
                </a:solidFill>
              </a:rPr>
              <a:t>4</a:t>
            </a:r>
            <a:endParaRPr lang="en-US" sz="1400" dirty="0"/>
          </a:p>
        </p:txBody>
      </p:sp>
      <p:sp>
        <p:nvSpPr>
          <p:cNvPr id="31" name="Text 29"/>
          <p:cNvSpPr/>
          <p:nvPr/>
        </p:nvSpPr>
        <p:spPr>
          <a:xfrm>
            <a:off x="9052560" y="3017520"/>
            <a:ext cx="2057400" cy="457200"/>
          </a:xfrm>
          <a:prstGeom prst="rect">
            <a:avLst/>
          </a:prstGeom>
          <a:noFill/>
          <a:ln/>
        </p:spPr>
        <p:txBody>
          <a:bodyPr wrap="square" rtlCol="0" anchor="ctr"/>
          <a:lstStyle/>
          <a:p>
            <a:pPr indent="0" marL="0">
              <a:buNone/>
            </a:pPr>
            <a:r>
              <a:rPr lang="en-US" sz="1300" b="1" dirty="0">
                <a:solidFill>
                  <a:srgbClr val="0F172A"/>
                </a:solidFill>
              </a:rPr>
              <a:t>Estrategia y Mensaje</a:t>
            </a:r>
            <a:endParaRPr lang="en-US" sz="1300" dirty="0"/>
          </a:p>
        </p:txBody>
      </p:sp>
      <p:sp>
        <p:nvSpPr>
          <p:cNvPr id="32" name="Text 30"/>
          <p:cNvSpPr/>
          <p:nvPr/>
        </p:nvSpPr>
        <p:spPr>
          <a:xfrm>
            <a:off x="9052560" y="3520440"/>
            <a:ext cx="2057400" cy="1645920"/>
          </a:xfrm>
          <a:prstGeom prst="rect">
            <a:avLst/>
          </a:prstGeom>
          <a:noFill/>
          <a:ln/>
        </p:spPr>
        <p:txBody>
          <a:bodyPr wrap="square" rtlCol="0" anchor="ctr"/>
          <a:lstStyle/>
          <a:p>
            <a:pPr indent="0" marL="0">
              <a:buNone/>
            </a:pPr>
            <a:r>
              <a:rPr lang="en-US" sz="1000" dirty="0">
                <a:solidFill>
                  <a:srgbClr val="475569"/>
                </a:solidFill>
              </a:rPr>
              <a:t>Las 3 prioridades políticas irrenunciables, cronograma en 7 fases con hitos, banco de mensajes y radar de competidores.</a:t>
            </a:r>
            <a:endParaRPr lang="en-US" sz="1000" dirty="0"/>
          </a:p>
        </p:txBody>
      </p:sp>
      <p:sp>
        <p:nvSpPr>
          <p:cNvPr id="33" name="Shape 31"/>
          <p:cNvSpPr/>
          <p:nvPr/>
        </p:nvSpPr>
        <p:spPr>
          <a:xfrm>
            <a:off x="9006840" y="5303520"/>
            <a:ext cx="2148840" cy="640080"/>
          </a:xfrm>
          <a:prstGeom prst="roundRect">
            <a:avLst>
              <a:gd name="adj" fmla="val 14286"/>
            </a:avLst>
          </a:prstGeom>
          <a:solidFill>
            <a:srgbClr val="FFFFFF"/>
          </a:solidFill>
          <a:ln w="12700">
            <a:solidFill>
              <a:srgbClr val="E9D5FF"/>
            </a:solidFill>
            <a:prstDash val="solid"/>
          </a:ln>
        </p:spPr>
      </p:sp>
      <p:sp>
        <p:nvSpPr>
          <p:cNvPr id="34" name="Text 32"/>
          <p:cNvSpPr/>
          <p:nvPr/>
        </p:nvSpPr>
        <p:spPr>
          <a:xfrm>
            <a:off x="9052560" y="5349240"/>
            <a:ext cx="2057400" cy="548640"/>
          </a:xfrm>
          <a:prstGeom prst="rect">
            <a:avLst/>
          </a:prstGeom>
          <a:noFill/>
          <a:ln/>
        </p:spPr>
        <p:txBody>
          <a:bodyPr wrap="square" rtlCol="0" anchor="ctr"/>
          <a:lstStyle/>
          <a:p>
            <a:pPr indent="0" marL="0">
              <a:buNone/>
            </a:pPr>
            <a:r>
              <a:rPr lang="en-US" sz="850" b="1" dirty="0">
                <a:solidFill>
                  <a:srgbClr val="7C3AED"/>
                </a:solidFill>
              </a:rPr>
              <a:t>3 Prioridades • Hoja de Ruta 7 Fases • Mensajes • Radar</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31520" y="457200"/>
            <a:ext cx="2560320" cy="320040"/>
          </a:xfrm>
          <a:prstGeom prst="roundRect">
            <a:avLst>
              <a:gd name="adj" fmla="val 28571"/>
            </a:avLst>
          </a:prstGeom>
          <a:solidFill>
            <a:srgbClr val="059669"/>
          </a:solidFill>
          <a:ln/>
        </p:spPr>
      </p:sp>
      <p:sp>
        <p:nvSpPr>
          <p:cNvPr id="3" name="Text 1"/>
          <p:cNvSpPr/>
          <p:nvPr/>
        </p:nvSpPr>
        <p:spPr>
          <a:xfrm>
            <a:off x="731520" y="457200"/>
            <a:ext cx="2560320" cy="320040"/>
          </a:xfrm>
          <a:prstGeom prst="rect">
            <a:avLst/>
          </a:prstGeom>
          <a:noFill/>
          <a:ln/>
        </p:spPr>
        <p:txBody>
          <a:bodyPr wrap="square" rtlCol="0" anchor="ctr"/>
          <a:lstStyle/>
          <a:p>
            <a:pPr algn="ctr" indent="0" marL="0">
              <a:buNone/>
            </a:pPr>
            <a:r>
              <a:rPr lang="en-US" sz="1000" b="1" dirty="0">
                <a:solidFill>
                  <a:srgbClr val="FFFFFF"/>
                </a:solidFill>
              </a:rPr>
              <a:t>BASE DE DATOS OFICIAL</a:t>
            </a:r>
            <a:endParaRPr lang="en-US" sz="1000" dirty="0"/>
          </a:p>
        </p:txBody>
      </p:sp>
      <p:sp>
        <p:nvSpPr>
          <p:cNvPr id="4" name="Text 2"/>
          <p:cNvSpPr/>
          <p:nvPr/>
        </p:nvSpPr>
        <p:spPr>
          <a:xfrm>
            <a:off x="731520" y="868680"/>
            <a:ext cx="10515600" cy="548640"/>
          </a:xfrm>
          <a:prstGeom prst="rect">
            <a:avLst/>
          </a:prstGeom>
          <a:noFill/>
          <a:ln/>
        </p:spPr>
        <p:txBody>
          <a:bodyPr wrap="square" rtlCol="0" anchor="ctr"/>
          <a:lstStyle/>
          <a:p>
            <a:pPr indent="0" marL="0">
              <a:buNone/>
            </a:pPr>
            <a:r>
              <a:rPr lang="en-US" sz="2200" b="1" dirty="0">
                <a:solidFill>
                  <a:srgbClr val="0F172A"/>
                </a:solidFill>
              </a:rPr>
              <a:t>Datos Reales: 68 Municipios de Sevilla</a:t>
            </a:r>
            <a:endParaRPr lang="en-US" sz="2200" dirty="0"/>
          </a:p>
        </p:txBody>
      </p:sp>
      <p:sp>
        <p:nvSpPr>
          <p:cNvPr id="5" name="Text 3"/>
          <p:cNvSpPr/>
          <p:nvPr/>
        </p:nvSpPr>
        <p:spPr>
          <a:xfrm>
            <a:off x="731520" y="1371600"/>
            <a:ext cx="10515600" cy="365760"/>
          </a:xfrm>
          <a:prstGeom prst="rect">
            <a:avLst/>
          </a:prstGeom>
          <a:noFill/>
          <a:ln/>
        </p:spPr>
        <p:txBody>
          <a:bodyPr wrap="square" rtlCol="0" anchor="ctr"/>
          <a:lstStyle/>
          <a:p>
            <a:pPr indent="0" marL="0">
              <a:buNone/>
            </a:pPr>
            <a:r>
              <a:rPr lang="en-US" sz="1200" dirty="0">
                <a:solidFill>
                  <a:srgbClr val="64748B"/>
                </a:solidFill>
              </a:rPr>
              <a:t>Escrutinio 2023 importado directamente de actas electorales del Ministerio del Interior</a:t>
            </a:r>
            <a:endParaRPr lang="en-US" sz="1200" dirty="0"/>
          </a:p>
        </p:txBody>
      </p:sp>
      <p:sp>
        <p:nvSpPr>
          <p:cNvPr id="6" name="Shape 4"/>
          <p:cNvSpPr/>
          <p:nvPr/>
        </p:nvSpPr>
        <p:spPr>
          <a:xfrm>
            <a:off x="731520" y="1783080"/>
            <a:ext cx="10698480" cy="0"/>
          </a:xfrm>
          <a:prstGeom prst="line">
            <a:avLst/>
          </a:prstGeom>
          <a:noFill/>
          <a:ln w="19050">
            <a:solidFill>
              <a:srgbClr val="E2E8F0"/>
            </a:solidFill>
            <a:prstDash val="solid"/>
          </a:ln>
        </p:spPr>
      </p:sp>
      <p:sp>
        <p:nvSpPr>
          <p:cNvPr id="7" name="Shape 5"/>
          <p:cNvSpPr/>
          <p:nvPr/>
        </p:nvSpPr>
        <p:spPr>
          <a:xfrm>
            <a:off x="731520" y="2011680"/>
            <a:ext cx="3429000" cy="1828800"/>
          </a:xfrm>
          <a:prstGeom prst="roundRect">
            <a:avLst>
              <a:gd name="adj" fmla="val 7500"/>
            </a:avLst>
          </a:prstGeom>
          <a:solidFill>
            <a:srgbClr val="F8FAFC"/>
          </a:solidFill>
          <a:ln w="12700">
            <a:solidFill>
              <a:srgbClr val="E2E8F0"/>
            </a:solidFill>
            <a:prstDash val="solid"/>
          </a:ln>
        </p:spPr>
      </p:sp>
      <p:sp>
        <p:nvSpPr>
          <p:cNvPr id="8" name="Text 6"/>
          <p:cNvSpPr/>
          <p:nvPr/>
        </p:nvSpPr>
        <p:spPr>
          <a:xfrm>
            <a:off x="914400" y="2194560"/>
            <a:ext cx="3063240" cy="365760"/>
          </a:xfrm>
          <a:prstGeom prst="rect">
            <a:avLst/>
          </a:prstGeom>
          <a:noFill/>
          <a:ln/>
        </p:spPr>
        <p:txBody>
          <a:bodyPr wrap="square" rtlCol="0" anchor="ctr"/>
          <a:lstStyle/>
          <a:p>
            <a:pPr indent="0" marL="0">
              <a:buNone/>
            </a:pPr>
            <a:r>
              <a:rPr lang="en-US" sz="1200" b="1" dirty="0">
                <a:solidFill>
                  <a:srgbClr val="0F172A"/>
                </a:solidFill>
              </a:rPr>
              <a:t>📋 Censo y Participación Exacta</a:t>
            </a:r>
            <a:endParaRPr lang="en-US" sz="1200" dirty="0"/>
          </a:p>
        </p:txBody>
      </p:sp>
      <p:sp>
        <p:nvSpPr>
          <p:cNvPr id="9" name="Text 7"/>
          <p:cNvSpPr/>
          <p:nvPr/>
        </p:nvSpPr>
        <p:spPr>
          <a:xfrm>
            <a:off x="914400" y="2606040"/>
            <a:ext cx="3063240" cy="1097280"/>
          </a:xfrm>
          <a:prstGeom prst="rect">
            <a:avLst/>
          </a:prstGeom>
          <a:noFill/>
          <a:ln/>
        </p:spPr>
        <p:txBody>
          <a:bodyPr wrap="square" rtlCol="0" anchor="ctr"/>
          <a:lstStyle/>
          <a:p>
            <a:pPr indent="0" marL="0">
              <a:buNone/>
            </a:pPr>
            <a:r>
              <a:rPr lang="en-US" sz="1000" dirty="0">
                <a:solidFill>
                  <a:srgbClr val="475569"/>
                </a:solidFill>
              </a:rPr>
              <a:t>Cada municipio cuenta con su censo electoral oficial, porcentaje de participación, abstención, votos nulos y votos en blanco registrados en 2023.</a:t>
            </a:r>
            <a:endParaRPr lang="en-US" sz="1000" dirty="0"/>
          </a:p>
        </p:txBody>
      </p:sp>
      <p:sp>
        <p:nvSpPr>
          <p:cNvPr id="10" name="Shape 8"/>
          <p:cNvSpPr/>
          <p:nvPr/>
        </p:nvSpPr>
        <p:spPr>
          <a:xfrm>
            <a:off x="4343400" y="2011680"/>
            <a:ext cx="3429000" cy="1828800"/>
          </a:xfrm>
          <a:prstGeom prst="roundRect">
            <a:avLst>
              <a:gd name="adj" fmla="val 7500"/>
            </a:avLst>
          </a:prstGeom>
          <a:solidFill>
            <a:srgbClr val="F8FAFC"/>
          </a:solidFill>
          <a:ln w="12700">
            <a:solidFill>
              <a:srgbClr val="E2E8F0"/>
            </a:solidFill>
            <a:prstDash val="solid"/>
          </a:ln>
        </p:spPr>
      </p:sp>
      <p:sp>
        <p:nvSpPr>
          <p:cNvPr id="11" name="Text 9"/>
          <p:cNvSpPr/>
          <p:nvPr/>
        </p:nvSpPr>
        <p:spPr>
          <a:xfrm>
            <a:off x="4526280" y="2194560"/>
            <a:ext cx="3063240" cy="365760"/>
          </a:xfrm>
          <a:prstGeom prst="rect">
            <a:avLst/>
          </a:prstGeom>
          <a:noFill/>
          <a:ln/>
        </p:spPr>
        <p:txBody>
          <a:bodyPr wrap="square" rtlCol="0" anchor="ctr"/>
          <a:lstStyle/>
          <a:p>
            <a:pPr indent="0" marL="0">
              <a:buNone/>
            </a:pPr>
            <a:r>
              <a:rPr lang="en-US" sz="1200" b="1" dirty="0">
                <a:solidFill>
                  <a:srgbClr val="0F172A"/>
                </a:solidFill>
              </a:rPr>
              <a:t>🏛️ Concejales Calibrados por Ley</a:t>
            </a:r>
            <a:endParaRPr lang="en-US" sz="1200" dirty="0"/>
          </a:p>
        </p:txBody>
      </p:sp>
      <p:sp>
        <p:nvSpPr>
          <p:cNvPr id="12" name="Text 10"/>
          <p:cNvSpPr/>
          <p:nvPr/>
        </p:nvSpPr>
        <p:spPr>
          <a:xfrm>
            <a:off x="4526280" y="2606040"/>
            <a:ext cx="3063240" cy="1097280"/>
          </a:xfrm>
          <a:prstGeom prst="rect">
            <a:avLst/>
          </a:prstGeom>
          <a:noFill/>
          <a:ln/>
        </p:spPr>
        <p:txBody>
          <a:bodyPr wrap="square" rtlCol="0" anchor="ctr"/>
          <a:lstStyle/>
          <a:p>
            <a:pPr indent="0" marL="0">
              <a:buNone/>
            </a:pPr>
            <a:r>
              <a:rPr lang="en-US" sz="1000" dirty="0">
                <a:solidFill>
                  <a:srgbClr val="475569"/>
                </a:solidFill>
              </a:rPr>
              <a:t>El pleno municipal se calibra automáticamente según la LOREG: 7, 9, 11, 13, 17 o 21 concejales en función de la población empadronada.</a:t>
            </a:r>
            <a:endParaRPr lang="en-US" sz="1000" dirty="0"/>
          </a:p>
        </p:txBody>
      </p:sp>
      <p:sp>
        <p:nvSpPr>
          <p:cNvPr id="13" name="Shape 11"/>
          <p:cNvSpPr/>
          <p:nvPr/>
        </p:nvSpPr>
        <p:spPr>
          <a:xfrm>
            <a:off x="7955280" y="2011680"/>
            <a:ext cx="3429000" cy="1828800"/>
          </a:xfrm>
          <a:prstGeom prst="roundRect">
            <a:avLst>
              <a:gd name="adj" fmla="val 7500"/>
            </a:avLst>
          </a:prstGeom>
          <a:solidFill>
            <a:srgbClr val="F8FAFC"/>
          </a:solidFill>
          <a:ln w="12700">
            <a:solidFill>
              <a:srgbClr val="E2E8F0"/>
            </a:solidFill>
            <a:prstDash val="solid"/>
          </a:ln>
        </p:spPr>
      </p:sp>
      <p:sp>
        <p:nvSpPr>
          <p:cNvPr id="14" name="Text 12"/>
          <p:cNvSpPr/>
          <p:nvPr/>
        </p:nvSpPr>
        <p:spPr>
          <a:xfrm>
            <a:off x="8138160" y="2194560"/>
            <a:ext cx="3063240" cy="365760"/>
          </a:xfrm>
          <a:prstGeom prst="rect">
            <a:avLst/>
          </a:prstGeom>
          <a:noFill/>
          <a:ln/>
        </p:spPr>
        <p:txBody>
          <a:bodyPr wrap="square" rtlCol="0" anchor="ctr"/>
          <a:lstStyle/>
          <a:p>
            <a:pPr indent="0" marL="0">
              <a:buNone/>
            </a:pPr>
            <a:r>
              <a:rPr lang="en-US" sz="1200" b="1" dirty="0">
                <a:solidFill>
                  <a:srgbClr val="0F172A"/>
                </a:solidFill>
              </a:rPr>
              <a:t>⚡ Cambio de Municipio Instantáneo</a:t>
            </a:r>
            <a:endParaRPr lang="en-US" sz="1200" dirty="0"/>
          </a:p>
        </p:txBody>
      </p:sp>
      <p:sp>
        <p:nvSpPr>
          <p:cNvPr id="15" name="Text 13"/>
          <p:cNvSpPr/>
          <p:nvPr/>
        </p:nvSpPr>
        <p:spPr>
          <a:xfrm>
            <a:off x="8138160" y="2606040"/>
            <a:ext cx="3063240" cy="1097280"/>
          </a:xfrm>
          <a:prstGeom prst="rect">
            <a:avLst/>
          </a:prstGeom>
          <a:noFill/>
          <a:ln/>
        </p:spPr>
        <p:txBody>
          <a:bodyPr wrap="square" rtlCol="0" anchor="ctr"/>
          <a:lstStyle/>
          <a:p>
            <a:pPr indent="0" marL="0">
              <a:buNone/>
            </a:pPr>
            <a:r>
              <a:rPr lang="en-US" sz="1000" dirty="0">
                <a:solidFill>
                  <a:srgbClr val="475569"/>
                </a:solidFill>
              </a:rPr>
              <a:t>El selector de cabecera con buscador predictivo conmuta la campaña activa en 1 clic: cambia los partidos, los votos y las simulaciones.</a:t>
            </a:r>
            <a:endParaRPr lang="en-US" sz="1000" dirty="0"/>
          </a:p>
        </p:txBody>
      </p:sp>
      <p:sp>
        <p:nvSpPr>
          <p:cNvPr id="16" name="Shape 14"/>
          <p:cNvSpPr/>
          <p:nvPr/>
        </p:nvSpPr>
        <p:spPr>
          <a:xfrm>
            <a:off x="731520" y="4114800"/>
            <a:ext cx="10652760" cy="2011680"/>
          </a:xfrm>
          <a:prstGeom prst="roundRect">
            <a:avLst>
              <a:gd name="adj" fmla="val 6818"/>
            </a:avLst>
          </a:prstGeom>
          <a:solidFill>
            <a:srgbClr val="0F172A"/>
          </a:solidFill>
          <a:ln/>
        </p:spPr>
      </p:sp>
      <p:sp>
        <p:nvSpPr>
          <p:cNvPr id="17" name="Text 15"/>
          <p:cNvSpPr/>
          <p:nvPr/>
        </p:nvSpPr>
        <p:spPr>
          <a:xfrm>
            <a:off x="1005840" y="4297680"/>
            <a:ext cx="10058400" cy="320040"/>
          </a:xfrm>
          <a:prstGeom prst="rect">
            <a:avLst/>
          </a:prstGeom>
          <a:noFill/>
          <a:ln/>
        </p:spPr>
        <p:txBody>
          <a:bodyPr wrap="square" rtlCol="0" anchor="ctr"/>
          <a:lstStyle/>
          <a:p>
            <a:pPr indent="0" marL="0">
              <a:buNone/>
            </a:pPr>
            <a:r>
              <a:rPr lang="en-US" sz="1050" b="1" dirty="0">
                <a:solidFill>
                  <a:srgbClr val="34D399"/>
                </a:solidFill>
              </a:rPr>
              <a:t>LOCALIDADES PRECARGADAS EN LA PLATAFORMA (HASTA 19.000 HABITANTES):</a:t>
            </a:r>
            <a:endParaRPr lang="en-US" sz="1050" dirty="0"/>
          </a:p>
        </p:txBody>
      </p:sp>
      <p:sp>
        <p:nvSpPr>
          <p:cNvPr id="18" name="Text 16"/>
          <p:cNvSpPr/>
          <p:nvPr/>
        </p:nvSpPr>
        <p:spPr>
          <a:xfrm>
            <a:off x="1005840" y="4663440"/>
            <a:ext cx="10058400" cy="1280160"/>
          </a:xfrm>
          <a:prstGeom prst="rect">
            <a:avLst/>
          </a:prstGeom>
          <a:noFill/>
          <a:ln/>
        </p:spPr>
        <p:txBody>
          <a:bodyPr wrap="square" rtlCol="0" anchor="ctr"/>
          <a:lstStyle/>
          <a:p>
            <a:pPr indent="0" marL="0">
              <a:lnSpc>
                <a:spcPts val="1800"/>
              </a:lnSpc>
              <a:buNone/>
            </a:pPr>
            <a:r>
              <a:rPr lang="en-US" sz="1000" dirty="0">
                <a:solidFill>
                  <a:srgbClr val="CBD5E1"/>
                </a:solidFill>
              </a:rPr>
              <a:t>Montellano (13 conc.) • Constantina (13 conc.) • Cazalla de la Sierra (11 conc.) • Alanís (9 conc.) • Guadalcanal (11 conc.) • El Ronquillo (9 conc.) • El Pedroso (9 conc.) • El Real de la Jara (9 conc.) • Almadén de la Plata (9 conc.) • Las Navas de la Concepción (9 conc.) • San Nicolás del Puerto (7 conc.) • El Castillo de las Guardas (9 conc.) • El Madroño (7 conc.) ... y toda la provincia menor de 19.000 hab. con resultados completos por partido.</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31520" y="457200"/>
            <a:ext cx="2560320" cy="320040"/>
          </a:xfrm>
          <a:prstGeom prst="roundRect">
            <a:avLst>
              <a:gd name="adj" fmla="val 28571"/>
            </a:avLst>
          </a:prstGeom>
          <a:solidFill>
            <a:srgbClr val="2563EB"/>
          </a:solidFill>
          <a:ln/>
        </p:spPr>
      </p:sp>
      <p:sp>
        <p:nvSpPr>
          <p:cNvPr id="3" name="Text 1"/>
          <p:cNvSpPr/>
          <p:nvPr/>
        </p:nvSpPr>
        <p:spPr>
          <a:xfrm>
            <a:off x="731520" y="457200"/>
            <a:ext cx="2560320" cy="320040"/>
          </a:xfrm>
          <a:prstGeom prst="rect">
            <a:avLst/>
          </a:prstGeom>
          <a:noFill/>
          <a:ln/>
        </p:spPr>
        <p:txBody>
          <a:bodyPr wrap="square" rtlCol="0" anchor="ctr"/>
          <a:lstStyle/>
          <a:p>
            <a:pPr algn="ctr" indent="0" marL="0">
              <a:buNone/>
            </a:pPr>
            <a:r>
              <a:rPr lang="en-US" sz="1000" b="1" dirty="0">
                <a:solidFill>
                  <a:srgbClr val="FFFFFF"/>
                </a:solidFill>
              </a:rPr>
              <a:t>MÓDULO OPERATIVO</a:t>
            </a:r>
            <a:endParaRPr lang="en-US" sz="1000" dirty="0"/>
          </a:p>
        </p:txBody>
      </p:sp>
      <p:sp>
        <p:nvSpPr>
          <p:cNvPr id="4" name="Text 2"/>
          <p:cNvSpPr/>
          <p:nvPr/>
        </p:nvSpPr>
        <p:spPr>
          <a:xfrm>
            <a:off x="731520" y="868680"/>
            <a:ext cx="10515600" cy="548640"/>
          </a:xfrm>
          <a:prstGeom prst="rect">
            <a:avLst/>
          </a:prstGeom>
          <a:noFill/>
          <a:ln/>
        </p:spPr>
        <p:txBody>
          <a:bodyPr wrap="square" rtlCol="0" anchor="ctr"/>
          <a:lstStyle/>
          <a:p>
            <a:pPr indent="0" marL="0">
              <a:buNone/>
            </a:pPr>
            <a:r>
              <a:rPr lang="en-US" sz="2200" b="1" dirty="0">
                <a:solidFill>
                  <a:srgbClr val="0F172A"/>
                </a:solidFill>
              </a:rPr>
              <a:t>Panel de Mando: "Esta Semana"</a:t>
            </a:r>
            <a:endParaRPr lang="en-US" sz="2200" dirty="0"/>
          </a:p>
        </p:txBody>
      </p:sp>
      <p:sp>
        <p:nvSpPr>
          <p:cNvPr id="5" name="Text 3"/>
          <p:cNvSpPr/>
          <p:nvPr/>
        </p:nvSpPr>
        <p:spPr>
          <a:xfrm>
            <a:off x="731520" y="1371600"/>
            <a:ext cx="10515600" cy="365760"/>
          </a:xfrm>
          <a:prstGeom prst="rect">
            <a:avLst/>
          </a:prstGeom>
          <a:noFill/>
          <a:ln/>
        </p:spPr>
        <p:txBody>
          <a:bodyPr wrap="square" rtlCol="0" anchor="ctr"/>
          <a:lstStyle/>
          <a:p>
            <a:pPr indent="0" marL="0">
              <a:buNone/>
            </a:pPr>
            <a:r>
              <a:rPr lang="en-US" sz="1200" dirty="0">
                <a:solidFill>
                  <a:srgbClr val="64748B"/>
                </a:solidFill>
              </a:rPr>
              <a:t>La pantalla de aterrizaje diaria para el candidato y el comité</a:t>
            </a:r>
            <a:endParaRPr lang="en-US" sz="1200" dirty="0"/>
          </a:p>
        </p:txBody>
      </p:sp>
      <p:sp>
        <p:nvSpPr>
          <p:cNvPr id="6" name="Shape 4"/>
          <p:cNvSpPr/>
          <p:nvPr/>
        </p:nvSpPr>
        <p:spPr>
          <a:xfrm>
            <a:off x="731520" y="1783080"/>
            <a:ext cx="10698480" cy="0"/>
          </a:xfrm>
          <a:prstGeom prst="line">
            <a:avLst/>
          </a:prstGeom>
          <a:noFill/>
          <a:ln w="19050">
            <a:solidFill>
              <a:srgbClr val="E2E8F0"/>
            </a:solidFill>
            <a:prstDash val="solid"/>
          </a:ln>
        </p:spPr>
      </p:sp>
      <p:sp>
        <p:nvSpPr>
          <p:cNvPr id="7" name="Shape 5"/>
          <p:cNvSpPr/>
          <p:nvPr/>
        </p:nvSpPr>
        <p:spPr>
          <a:xfrm>
            <a:off x="731520" y="2011680"/>
            <a:ext cx="3429000" cy="1463040"/>
          </a:xfrm>
          <a:prstGeom prst="roundRect">
            <a:avLst>
              <a:gd name="adj" fmla="val 7500"/>
            </a:avLst>
          </a:prstGeom>
          <a:solidFill>
            <a:srgbClr val="F8FAFC"/>
          </a:solidFill>
          <a:ln w="12700">
            <a:solidFill>
              <a:srgbClr val="CBD5E1"/>
            </a:solidFill>
            <a:prstDash val="solid"/>
          </a:ln>
        </p:spPr>
      </p:sp>
      <p:sp>
        <p:nvSpPr>
          <p:cNvPr id="8" name="Text 6"/>
          <p:cNvSpPr/>
          <p:nvPr/>
        </p:nvSpPr>
        <p:spPr>
          <a:xfrm>
            <a:off x="914400" y="2148840"/>
            <a:ext cx="3063240" cy="320040"/>
          </a:xfrm>
          <a:prstGeom prst="rect">
            <a:avLst/>
          </a:prstGeom>
          <a:noFill/>
          <a:ln/>
        </p:spPr>
        <p:txBody>
          <a:bodyPr wrap="square" rtlCol="0" anchor="ctr"/>
          <a:lstStyle/>
          <a:p>
            <a:pPr indent="0" marL="0">
              <a:buNone/>
            </a:pPr>
            <a:r>
              <a:rPr lang="en-US" sz="1100" b="1" dirty="0">
                <a:solidFill>
                  <a:srgbClr val="0F172A"/>
                </a:solidFill>
              </a:rPr>
              <a:t>🎯 Objetivo Central</a:t>
            </a:r>
            <a:endParaRPr lang="en-US" sz="1100" dirty="0"/>
          </a:p>
        </p:txBody>
      </p:sp>
      <p:sp>
        <p:nvSpPr>
          <p:cNvPr id="9" name="Text 7"/>
          <p:cNvSpPr/>
          <p:nvPr/>
        </p:nvSpPr>
        <p:spPr>
          <a:xfrm>
            <a:off x="914400" y="2514600"/>
            <a:ext cx="3063240" cy="822960"/>
          </a:xfrm>
          <a:prstGeom prst="rect">
            <a:avLst/>
          </a:prstGeom>
          <a:noFill/>
          <a:ln/>
        </p:spPr>
        <p:txBody>
          <a:bodyPr wrap="square" rtlCol="0" anchor="ctr"/>
          <a:lstStyle/>
          <a:p>
            <a:pPr indent="0" marL="0">
              <a:buNone/>
            </a:pPr>
            <a:r>
              <a:rPr lang="en-US" sz="950" dirty="0">
                <a:solidFill>
                  <a:srgbClr val="475569"/>
                </a:solidFill>
              </a:rPr>
              <a:t>Meta irrenunciable de concejales para gobernar en solitario o encabezar gobierno.</a:t>
            </a:r>
            <a:endParaRPr lang="en-US" sz="950" dirty="0"/>
          </a:p>
        </p:txBody>
      </p:sp>
      <p:sp>
        <p:nvSpPr>
          <p:cNvPr id="10" name="Shape 8"/>
          <p:cNvSpPr/>
          <p:nvPr/>
        </p:nvSpPr>
        <p:spPr>
          <a:xfrm>
            <a:off x="4343400" y="2011680"/>
            <a:ext cx="3429000" cy="1463040"/>
          </a:xfrm>
          <a:prstGeom prst="roundRect">
            <a:avLst>
              <a:gd name="adj" fmla="val 7500"/>
            </a:avLst>
          </a:prstGeom>
          <a:solidFill>
            <a:srgbClr val="F8FAFC"/>
          </a:solidFill>
          <a:ln w="12700">
            <a:solidFill>
              <a:srgbClr val="CBD5E1"/>
            </a:solidFill>
            <a:prstDash val="solid"/>
          </a:ln>
        </p:spPr>
      </p:sp>
      <p:sp>
        <p:nvSpPr>
          <p:cNvPr id="11" name="Text 9"/>
          <p:cNvSpPr/>
          <p:nvPr/>
        </p:nvSpPr>
        <p:spPr>
          <a:xfrm>
            <a:off x="4526280" y="2148840"/>
            <a:ext cx="3063240" cy="320040"/>
          </a:xfrm>
          <a:prstGeom prst="rect">
            <a:avLst/>
          </a:prstGeom>
          <a:noFill/>
          <a:ln/>
        </p:spPr>
        <p:txBody>
          <a:bodyPr wrap="square" rtlCol="0" anchor="ctr"/>
          <a:lstStyle/>
          <a:p>
            <a:pPr indent="0" marL="0">
              <a:buNone/>
            </a:pPr>
            <a:r>
              <a:rPr lang="en-US" sz="1100" b="1" dirty="0">
                <a:solidFill>
                  <a:srgbClr val="0F172A"/>
                </a:solidFill>
              </a:rPr>
              <a:t>⏳ Cuenta Atrás Mayo 2027</a:t>
            </a:r>
            <a:endParaRPr lang="en-US" sz="1100" dirty="0"/>
          </a:p>
        </p:txBody>
      </p:sp>
      <p:sp>
        <p:nvSpPr>
          <p:cNvPr id="12" name="Text 10"/>
          <p:cNvSpPr/>
          <p:nvPr/>
        </p:nvSpPr>
        <p:spPr>
          <a:xfrm>
            <a:off x="4526280" y="2514600"/>
            <a:ext cx="3063240" cy="822960"/>
          </a:xfrm>
          <a:prstGeom prst="rect">
            <a:avLst/>
          </a:prstGeom>
          <a:noFill/>
          <a:ln/>
        </p:spPr>
        <p:txBody>
          <a:bodyPr wrap="square" rtlCol="0" anchor="ctr"/>
          <a:lstStyle/>
          <a:p>
            <a:pPr indent="0" marL="0">
              <a:buNone/>
            </a:pPr>
            <a:r>
              <a:rPr lang="en-US" sz="950" dirty="0">
                <a:solidFill>
                  <a:srgbClr val="475569"/>
                </a:solidFill>
              </a:rPr>
              <a:t>Barra de avance cronológico que sitúa al equipo en la fase exacta del calendario.</a:t>
            </a:r>
            <a:endParaRPr lang="en-US" sz="950" dirty="0"/>
          </a:p>
        </p:txBody>
      </p:sp>
      <p:sp>
        <p:nvSpPr>
          <p:cNvPr id="13" name="Shape 11"/>
          <p:cNvSpPr/>
          <p:nvPr/>
        </p:nvSpPr>
        <p:spPr>
          <a:xfrm>
            <a:off x="7955280" y="2011680"/>
            <a:ext cx="3429000" cy="1463040"/>
          </a:xfrm>
          <a:prstGeom prst="roundRect">
            <a:avLst>
              <a:gd name="adj" fmla="val 7500"/>
            </a:avLst>
          </a:prstGeom>
          <a:solidFill>
            <a:srgbClr val="F8FAFC"/>
          </a:solidFill>
          <a:ln w="12700">
            <a:solidFill>
              <a:srgbClr val="CBD5E1"/>
            </a:solidFill>
            <a:prstDash val="solid"/>
          </a:ln>
        </p:spPr>
      </p:sp>
      <p:sp>
        <p:nvSpPr>
          <p:cNvPr id="14" name="Text 12"/>
          <p:cNvSpPr/>
          <p:nvPr/>
        </p:nvSpPr>
        <p:spPr>
          <a:xfrm>
            <a:off x="8138160" y="2148840"/>
            <a:ext cx="3063240" cy="320040"/>
          </a:xfrm>
          <a:prstGeom prst="rect">
            <a:avLst/>
          </a:prstGeom>
          <a:noFill/>
          <a:ln/>
        </p:spPr>
        <p:txBody>
          <a:bodyPr wrap="square" rtlCol="0" anchor="ctr"/>
          <a:lstStyle/>
          <a:p>
            <a:pPr indent="0" marL="0">
              <a:buNone/>
            </a:pPr>
            <a:r>
              <a:rPr lang="en-US" sz="1100" b="1" dirty="0">
                <a:solidFill>
                  <a:srgbClr val="0F172A"/>
                </a:solidFill>
              </a:rPr>
              <a:t>✅ Control Total de Tareas</a:t>
            </a:r>
            <a:endParaRPr lang="en-US" sz="1100" dirty="0"/>
          </a:p>
        </p:txBody>
      </p:sp>
      <p:sp>
        <p:nvSpPr>
          <p:cNvPr id="15" name="Text 13"/>
          <p:cNvSpPr/>
          <p:nvPr/>
        </p:nvSpPr>
        <p:spPr>
          <a:xfrm>
            <a:off x="8138160" y="2514600"/>
            <a:ext cx="3063240" cy="822960"/>
          </a:xfrm>
          <a:prstGeom prst="rect">
            <a:avLst/>
          </a:prstGeom>
          <a:noFill/>
          <a:ln/>
        </p:spPr>
        <p:txBody>
          <a:bodyPr wrap="square" rtlCol="0" anchor="ctr"/>
          <a:lstStyle/>
          <a:p>
            <a:pPr indent="0" marL="0">
              <a:buNone/>
            </a:pPr>
            <a:r>
              <a:rPr lang="en-US" sz="950" dirty="0">
                <a:solidFill>
                  <a:srgbClr val="475569"/>
                </a:solidFill>
              </a:rPr>
              <a:t>Crear, editar, eliminar y cambiar estado (Pendiente, En Curso, Completada).</a:t>
            </a:r>
            <a:endParaRPr lang="en-US" sz="950" dirty="0"/>
          </a:p>
        </p:txBody>
      </p:sp>
      <p:sp>
        <p:nvSpPr>
          <p:cNvPr id="16" name="Shape 14"/>
          <p:cNvSpPr/>
          <p:nvPr/>
        </p:nvSpPr>
        <p:spPr>
          <a:xfrm>
            <a:off x="731520" y="3749040"/>
            <a:ext cx="10652760" cy="2423160"/>
          </a:xfrm>
          <a:prstGeom prst="roundRect">
            <a:avLst>
              <a:gd name="adj" fmla="val 5660"/>
            </a:avLst>
          </a:prstGeom>
          <a:solidFill>
            <a:srgbClr val="EFF6FF"/>
          </a:solidFill>
          <a:ln w="12700">
            <a:solidFill>
              <a:srgbClr val="BFDBFE"/>
            </a:solidFill>
            <a:prstDash val="solid"/>
          </a:ln>
        </p:spPr>
      </p:sp>
      <p:sp>
        <p:nvSpPr>
          <p:cNvPr id="17" name="Text 15"/>
          <p:cNvSpPr/>
          <p:nvPr/>
        </p:nvSpPr>
        <p:spPr>
          <a:xfrm>
            <a:off x="1005840" y="3886200"/>
            <a:ext cx="10058400" cy="320040"/>
          </a:xfrm>
          <a:prstGeom prst="rect">
            <a:avLst/>
          </a:prstGeom>
          <a:noFill/>
          <a:ln/>
        </p:spPr>
        <p:txBody>
          <a:bodyPr wrap="square" rtlCol="0" anchor="ctr"/>
          <a:lstStyle/>
          <a:p>
            <a:pPr indent="0" marL="0">
              <a:buNone/>
            </a:pPr>
            <a:r>
              <a:rPr lang="en-US" sz="1100" b="1" dirty="0">
                <a:solidFill>
                  <a:srgbClr val="1E40AF"/>
                </a:solidFill>
              </a:rPr>
              <a:t>LAS 6 PREGUNTAS CLAVE QUE EL EQUIPO DEBE RESPONDER CADA LUNES:</a:t>
            </a:r>
            <a:endParaRPr lang="en-US" sz="1100" dirty="0"/>
          </a:p>
        </p:txBody>
      </p:sp>
      <p:sp>
        <p:nvSpPr>
          <p:cNvPr id="18" name="Shape 16"/>
          <p:cNvSpPr/>
          <p:nvPr/>
        </p:nvSpPr>
        <p:spPr>
          <a:xfrm>
            <a:off x="1005840" y="4297680"/>
            <a:ext cx="3200400" cy="685800"/>
          </a:xfrm>
          <a:prstGeom prst="roundRect">
            <a:avLst>
              <a:gd name="adj" fmla="val 10667"/>
            </a:avLst>
          </a:prstGeom>
          <a:solidFill>
            <a:srgbClr val="FFFFFF"/>
          </a:solidFill>
          <a:ln w="12700">
            <a:solidFill>
              <a:srgbClr val="DBEAFE"/>
            </a:solidFill>
            <a:prstDash val="solid"/>
          </a:ln>
        </p:spPr>
      </p:sp>
      <p:sp>
        <p:nvSpPr>
          <p:cNvPr id="19" name="Text 17"/>
          <p:cNvSpPr/>
          <p:nvPr/>
        </p:nvSpPr>
        <p:spPr>
          <a:xfrm>
            <a:off x="1143000" y="4389120"/>
            <a:ext cx="2926080" cy="502920"/>
          </a:xfrm>
          <a:prstGeom prst="rect">
            <a:avLst/>
          </a:prstGeom>
          <a:noFill/>
          <a:ln/>
        </p:spPr>
        <p:txBody>
          <a:bodyPr wrap="square" rtlCol="0" anchor="ctr"/>
          <a:lstStyle/>
          <a:p>
            <a:pPr indent="0" marL="0">
              <a:buNone/>
            </a:pPr>
            <a:r>
              <a:rPr lang="en-US" sz="950" b="1" dirty="0">
                <a:solidFill>
                  <a:srgbClr val="0F172A"/>
                </a:solidFill>
              </a:rPr>
              <a:t>1. ¿Dónde somos fuertes? (Bastiones)</a:t>
            </a:r>
            <a:endParaRPr lang="en-US" sz="950" dirty="0"/>
          </a:p>
        </p:txBody>
      </p:sp>
      <p:sp>
        <p:nvSpPr>
          <p:cNvPr id="20" name="Shape 18"/>
          <p:cNvSpPr/>
          <p:nvPr/>
        </p:nvSpPr>
        <p:spPr>
          <a:xfrm>
            <a:off x="4389120" y="4297680"/>
            <a:ext cx="3200400" cy="685800"/>
          </a:xfrm>
          <a:prstGeom prst="roundRect">
            <a:avLst>
              <a:gd name="adj" fmla="val 10667"/>
            </a:avLst>
          </a:prstGeom>
          <a:solidFill>
            <a:srgbClr val="FFFFFF"/>
          </a:solidFill>
          <a:ln w="12700">
            <a:solidFill>
              <a:srgbClr val="DBEAFE"/>
            </a:solidFill>
            <a:prstDash val="solid"/>
          </a:ln>
        </p:spPr>
      </p:sp>
      <p:sp>
        <p:nvSpPr>
          <p:cNvPr id="21" name="Text 19"/>
          <p:cNvSpPr/>
          <p:nvPr/>
        </p:nvSpPr>
        <p:spPr>
          <a:xfrm>
            <a:off x="4526280" y="4389120"/>
            <a:ext cx="2926080" cy="502920"/>
          </a:xfrm>
          <a:prstGeom prst="rect">
            <a:avLst/>
          </a:prstGeom>
          <a:noFill/>
          <a:ln/>
        </p:spPr>
        <p:txBody>
          <a:bodyPr wrap="square" rtlCol="0" anchor="ctr"/>
          <a:lstStyle/>
          <a:p>
            <a:pPr indent="0" marL="0">
              <a:buNone/>
            </a:pPr>
            <a:r>
              <a:rPr lang="en-US" sz="950" b="1" dirty="0">
                <a:solidFill>
                  <a:srgbClr val="0F172A"/>
                </a:solidFill>
              </a:rPr>
              <a:t>2. ¿Dónde se decide la elección? (Distrito clave)</a:t>
            </a:r>
            <a:endParaRPr lang="en-US" sz="950" dirty="0"/>
          </a:p>
        </p:txBody>
      </p:sp>
      <p:sp>
        <p:nvSpPr>
          <p:cNvPr id="22" name="Shape 20"/>
          <p:cNvSpPr/>
          <p:nvPr/>
        </p:nvSpPr>
        <p:spPr>
          <a:xfrm>
            <a:off x="7772400" y="4297680"/>
            <a:ext cx="3200400" cy="685800"/>
          </a:xfrm>
          <a:prstGeom prst="roundRect">
            <a:avLst>
              <a:gd name="adj" fmla="val 10667"/>
            </a:avLst>
          </a:prstGeom>
          <a:solidFill>
            <a:srgbClr val="FFFFFF"/>
          </a:solidFill>
          <a:ln w="12700">
            <a:solidFill>
              <a:srgbClr val="DBEAFE"/>
            </a:solidFill>
            <a:prstDash val="solid"/>
          </a:ln>
        </p:spPr>
      </p:sp>
      <p:sp>
        <p:nvSpPr>
          <p:cNvPr id="23" name="Text 21"/>
          <p:cNvSpPr/>
          <p:nvPr/>
        </p:nvSpPr>
        <p:spPr>
          <a:xfrm>
            <a:off x="7909560" y="4389120"/>
            <a:ext cx="2926080" cy="502920"/>
          </a:xfrm>
          <a:prstGeom prst="rect">
            <a:avLst/>
          </a:prstGeom>
          <a:noFill/>
          <a:ln/>
        </p:spPr>
        <p:txBody>
          <a:bodyPr wrap="square" rtlCol="0" anchor="ctr"/>
          <a:lstStyle/>
          <a:p>
            <a:pPr indent="0" marL="0">
              <a:buNone/>
            </a:pPr>
            <a:r>
              <a:rPr lang="en-US" sz="950" b="1" dirty="0">
                <a:solidFill>
                  <a:srgbClr val="0F172A"/>
                </a:solidFill>
              </a:rPr>
              <a:t>3. ¿Qué decimos siempre? (Mensaje central)</a:t>
            </a:r>
            <a:endParaRPr lang="en-US" sz="950" dirty="0"/>
          </a:p>
        </p:txBody>
      </p:sp>
      <p:sp>
        <p:nvSpPr>
          <p:cNvPr id="24" name="Shape 22"/>
          <p:cNvSpPr/>
          <p:nvPr/>
        </p:nvSpPr>
        <p:spPr>
          <a:xfrm>
            <a:off x="1005840" y="5166360"/>
            <a:ext cx="3200400" cy="685800"/>
          </a:xfrm>
          <a:prstGeom prst="roundRect">
            <a:avLst>
              <a:gd name="adj" fmla="val 10667"/>
            </a:avLst>
          </a:prstGeom>
          <a:solidFill>
            <a:srgbClr val="FFFFFF"/>
          </a:solidFill>
          <a:ln w="12700">
            <a:solidFill>
              <a:srgbClr val="DBEAFE"/>
            </a:solidFill>
            <a:prstDash val="solid"/>
          </a:ln>
        </p:spPr>
      </p:sp>
      <p:sp>
        <p:nvSpPr>
          <p:cNvPr id="25" name="Text 23"/>
          <p:cNvSpPr/>
          <p:nvPr/>
        </p:nvSpPr>
        <p:spPr>
          <a:xfrm>
            <a:off x="1143000" y="5257800"/>
            <a:ext cx="2926080" cy="502920"/>
          </a:xfrm>
          <a:prstGeom prst="rect">
            <a:avLst/>
          </a:prstGeom>
          <a:noFill/>
          <a:ln/>
        </p:spPr>
        <p:txBody>
          <a:bodyPr wrap="square" rtlCol="0" anchor="ctr"/>
          <a:lstStyle/>
          <a:p>
            <a:pPr indent="0" marL="0">
              <a:buNone/>
            </a:pPr>
            <a:r>
              <a:rPr lang="en-US" sz="950" b="1" dirty="0">
                <a:solidFill>
                  <a:srgbClr val="0F172A"/>
                </a:solidFill>
              </a:rPr>
              <a:t>4. ¿De qué no hablamos jamás? (Temas a evitar)</a:t>
            </a:r>
            <a:endParaRPr lang="en-US" sz="950" dirty="0"/>
          </a:p>
        </p:txBody>
      </p:sp>
      <p:sp>
        <p:nvSpPr>
          <p:cNvPr id="26" name="Shape 24"/>
          <p:cNvSpPr/>
          <p:nvPr/>
        </p:nvSpPr>
        <p:spPr>
          <a:xfrm>
            <a:off x="4389120" y="5166360"/>
            <a:ext cx="3200400" cy="685800"/>
          </a:xfrm>
          <a:prstGeom prst="roundRect">
            <a:avLst>
              <a:gd name="adj" fmla="val 10667"/>
            </a:avLst>
          </a:prstGeom>
          <a:solidFill>
            <a:srgbClr val="FFFFFF"/>
          </a:solidFill>
          <a:ln w="12700">
            <a:solidFill>
              <a:srgbClr val="DBEAFE"/>
            </a:solidFill>
            <a:prstDash val="solid"/>
          </a:ln>
        </p:spPr>
      </p:sp>
      <p:sp>
        <p:nvSpPr>
          <p:cNvPr id="27" name="Text 25"/>
          <p:cNvSpPr/>
          <p:nvPr/>
        </p:nvSpPr>
        <p:spPr>
          <a:xfrm>
            <a:off x="4526280" y="5257800"/>
            <a:ext cx="2926080" cy="502920"/>
          </a:xfrm>
          <a:prstGeom prst="rect">
            <a:avLst/>
          </a:prstGeom>
          <a:noFill/>
          <a:ln/>
        </p:spPr>
        <p:txBody>
          <a:bodyPr wrap="square" rtlCol="0" anchor="ctr"/>
          <a:lstStyle/>
          <a:p>
            <a:pPr indent="0" marL="0">
              <a:buNone/>
            </a:pPr>
            <a:r>
              <a:rPr lang="en-US" sz="950" b="1" dirty="0">
                <a:solidFill>
                  <a:srgbClr val="0F172A"/>
                </a:solidFill>
              </a:rPr>
              <a:t>5. ¿Qué hace el candidato esta semana?</a:t>
            </a:r>
            <a:endParaRPr lang="en-US" sz="950" dirty="0"/>
          </a:p>
        </p:txBody>
      </p:sp>
      <p:sp>
        <p:nvSpPr>
          <p:cNvPr id="28" name="Shape 26"/>
          <p:cNvSpPr/>
          <p:nvPr/>
        </p:nvSpPr>
        <p:spPr>
          <a:xfrm>
            <a:off x="7772400" y="5166360"/>
            <a:ext cx="3200400" cy="685800"/>
          </a:xfrm>
          <a:prstGeom prst="roundRect">
            <a:avLst>
              <a:gd name="adj" fmla="val 10667"/>
            </a:avLst>
          </a:prstGeom>
          <a:solidFill>
            <a:srgbClr val="FFFFFF"/>
          </a:solidFill>
          <a:ln w="12700">
            <a:solidFill>
              <a:srgbClr val="DBEAFE"/>
            </a:solidFill>
            <a:prstDash val="solid"/>
          </a:ln>
        </p:spPr>
      </p:sp>
      <p:sp>
        <p:nvSpPr>
          <p:cNvPr id="29" name="Text 27"/>
          <p:cNvSpPr/>
          <p:nvPr/>
        </p:nvSpPr>
        <p:spPr>
          <a:xfrm>
            <a:off x="7909560" y="5257800"/>
            <a:ext cx="2926080" cy="502920"/>
          </a:xfrm>
          <a:prstGeom prst="rect">
            <a:avLst/>
          </a:prstGeom>
          <a:noFill/>
          <a:ln/>
        </p:spPr>
        <p:txBody>
          <a:bodyPr wrap="square" rtlCol="0" anchor="ctr"/>
          <a:lstStyle/>
          <a:p>
            <a:pPr indent="0" marL="0">
              <a:buNone/>
            </a:pPr>
            <a:r>
              <a:rPr lang="en-US" sz="950" b="1" dirty="0">
                <a:solidFill>
                  <a:srgbClr val="0F172A"/>
                </a:solidFill>
              </a:rPr>
              <a:t>6. ¿Qué hacen los rivales? (Radar de contraste)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31520" y="457200"/>
            <a:ext cx="2560320" cy="320040"/>
          </a:xfrm>
          <a:prstGeom prst="roundRect">
            <a:avLst>
              <a:gd name="adj" fmla="val 28571"/>
            </a:avLst>
          </a:prstGeom>
          <a:solidFill>
            <a:srgbClr val="059669"/>
          </a:solidFill>
          <a:ln/>
        </p:spPr>
      </p:sp>
      <p:sp>
        <p:nvSpPr>
          <p:cNvPr id="3" name="Text 1"/>
          <p:cNvSpPr/>
          <p:nvPr/>
        </p:nvSpPr>
        <p:spPr>
          <a:xfrm>
            <a:off x="731520" y="457200"/>
            <a:ext cx="2560320" cy="320040"/>
          </a:xfrm>
          <a:prstGeom prst="rect">
            <a:avLst/>
          </a:prstGeom>
          <a:noFill/>
          <a:ln/>
        </p:spPr>
        <p:txBody>
          <a:bodyPr wrap="square" rtlCol="0" anchor="ctr"/>
          <a:lstStyle/>
          <a:p>
            <a:pPr algn="ctr" indent="0" marL="0">
              <a:buNone/>
            </a:pPr>
            <a:r>
              <a:rPr lang="en-US" sz="1000" b="1" dirty="0">
                <a:solidFill>
                  <a:srgbClr val="FFFFFF"/>
                </a:solidFill>
              </a:rPr>
              <a:t>MÓDULO OPERATIVO</a:t>
            </a:r>
            <a:endParaRPr lang="en-US" sz="1000" dirty="0"/>
          </a:p>
        </p:txBody>
      </p:sp>
      <p:sp>
        <p:nvSpPr>
          <p:cNvPr id="4" name="Text 2"/>
          <p:cNvSpPr/>
          <p:nvPr/>
        </p:nvSpPr>
        <p:spPr>
          <a:xfrm>
            <a:off x="731520" y="868680"/>
            <a:ext cx="10515600" cy="548640"/>
          </a:xfrm>
          <a:prstGeom prst="rect">
            <a:avLst/>
          </a:prstGeom>
          <a:noFill/>
          <a:ln/>
        </p:spPr>
        <p:txBody>
          <a:bodyPr wrap="square" rtlCol="0" anchor="ctr"/>
          <a:lstStyle/>
          <a:p>
            <a:pPr indent="0" marL="0">
              <a:buNone/>
            </a:pPr>
            <a:r>
              <a:rPr lang="en-US" sz="2200" b="1" dirty="0">
                <a:solidFill>
                  <a:srgbClr val="0F172A"/>
                </a:solidFill>
              </a:rPr>
              <a:t>Actos, Visitas Vecinales y Contacto</a:t>
            </a:r>
            <a:endParaRPr lang="en-US" sz="2200" dirty="0"/>
          </a:p>
        </p:txBody>
      </p:sp>
      <p:sp>
        <p:nvSpPr>
          <p:cNvPr id="5" name="Text 3"/>
          <p:cNvSpPr/>
          <p:nvPr/>
        </p:nvSpPr>
        <p:spPr>
          <a:xfrm>
            <a:off x="731520" y="1371600"/>
            <a:ext cx="10515600" cy="365760"/>
          </a:xfrm>
          <a:prstGeom prst="rect">
            <a:avLst/>
          </a:prstGeom>
          <a:noFill/>
          <a:ln/>
        </p:spPr>
        <p:txBody>
          <a:bodyPr wrap="square" rtlCol="0" anchor="ctr"/>
          <a:lstStyle/>
          <a:p>
            <a:pPr indent="0" marL="0">
              <a:buNone/>
            </a:pPr>
            <a:r>
              <a:rPr lang="en-US" sz="1200" dirty="0">
                <a:solidFill>
                  <a:srgbClr val="64748B"/>
                </a:solidFill>
              </a:rPr>
              <a:t>Planificación territorial con mensaje y público objetivo asignado</a:t>
            </a:r>
            <a:endParaRPr lang="en-US" sz="1200" dirty="0"/>
          </a:p>
        </p:txBody>
      </p:sp>
      <p:sp>
        <p:nvSpPr>
          <p:cNvPr id="6" name="Shape 4"/>
          <p:cNvSpPr/>
          <p:nvPr/>
        </p:nvSpPr>
        <p:spPr>
          <a:xfrm>
            <a:off x="731520" y="1783080"/>
            <a:ext cx="10698480" cy="0"/>
          </a:xfrm>
          <a:prstGeom prst="line">
            <a:avLst/>
          </a:prstGeom>
          <a:noFill/>
          <a:ln w="19050">
            <a:solidFill>
              <a:srgbClr val="E2E8F0"/>
            </a:solidFill>
            <a:prstDash val="solid"/>
          </a:ln>
        </p:spPr>
      </p:sp>
      <p:sp>
        <p:nvSpPr>
          <p:cNvPr id="7" name="Shape 5"/>
          <p:cNvSpPr/>
          <p:nvPr/>
        </p:nvSpPr>
        <p:spPr>
          <a:xfrm>
            <a:off x="731520" y="2011680"/>
            <a:ext cx="5120640" cy="4206240"/>
          </a:xfrm>
          <a:prstGeom prst="roundRect">
            <a:avLst>
              <a:gd name="adj" fmla="val 3261"/>
            </a:avLst>
          </a:prstGeom>
          <a:solidFill>
            <a:srgbClr val="F8FAFC"/>
          </a:solidFill>
          <a:ln w="12700">
            <a:solidFill>
              <a:srgbClr val="E2E8F0"/>
            </a:solidFill>
            <a:prstDash val="solid"/>
          </a:ln>
        </p:spPr>
      </p:sp>
      <p:sp>
        <p:nvSpPr>
          <p:cNvPr id="8" name="Text 6"/>
          <p:cNvSpPr/>
          <p:nvPr/>
        </p:nvSpPr>
        <p:spPr>
          <a:xfrm>
            <a:off x="1005840" y="2194560"/>
            <a:ext cx="4572000" cy="365760"/>
          </a:xfrm>
          <a:prstGeom prst="rect">
            <a:avLst/>
          </a:prstGeom>
          <a:noFill/>
          <a:ln/>
        </p:spPr>
        <p:txBody>
          <a:bodyPr wrap="square" rtlCol="0" anchor="ctr"/>
          <a:lstStyle/>
          <a:p>
            <a:pPr indent="0" marL="0">
              <a:buNone/>
            </a:pPr>
            <a:r>
              <a:rPr lang="en-US" sz="1100" b="1" dirty="0">
                <a:solidFill>
                  <a:srgbClr val="0F172A"/>
                </a:solidFill>
              </a:rPr>
              <a:t>TIPOLOGÍAS DE ACTIVIDAD REGISTRABLES:</a:t>
            </a:r>
            <a:endParaRPr lang="en-US" sz="1100" dirty="0"/>
          </a:p>
        </p:txBody>
      </p:sp>
      <p:sp>
        <p:nvSpPr>
          <p:cNvPr id="9" name="Text 7"/>
          <p:cNvSpPr/>
          <p:nvPr/>
        </p:nvSpPr>
        <p:spPr>
          <a:xfrm>
            <a:off x="1005840" y="2651760"/>
            <a:ext cx="4572000" cy="274320"/>
          </a:xfrm>
          <a:prstGeom prst="rect">
            <a:avLst/>
          </a:prstGeom>
          <a:noFill/>
          <a:ln/>
        </p:spPr>
        <p:txBody>
          <a:bodyPr wrap="square" rtlCol="0" anchor="ctr"/>
          <a:lstStyle/>
          <a:p>
            <a:pPr indent="0" marL="0">
              <a:buNone/>
            </a:pPr>
            <a:r>
              <a:rPr lang="en-US" sz="1000" b="1" dirty="0">
                <a:solidFill>
                  <a:srgbClr val="059669"/>
                </a:solidFill>
              </a:rPr>
              <a:t>VISIT • Salida a Pie / Visita Vecinal</a:t>
            </a:r>
            <a:endParaRPr lang="en-US" sz="1000" dirty="0"/>
          </a:p>
        </p:txBody>
      </p:sp>
      <p:sp>
        <p:nvSpPr>
          <p:cNvPr id="10" name="Text 8"/>
          <p:cNvSpPr/>
          <p:nvPr/>
        </p:nvSpPr>
        <p:spPr>
          <a:xfrm>
            <a:off x="1005840" y="2907792"/>
            <a:ext cx="4572000" cy="548640"/>
          </a:xfrm>
          <a:prstGeom prst="rect">
            <a:avLst/>
          </a:prstGeom>
          <a:noFill/>
          <a:ln/>
        </p:spPr>
        <p:txBody>
          <a:bodyPr wrap="square" rtlCol="0" anchor="ctr"/>
          <a:lstStyle/>
          <a:p>
            <a:pPr indent="0" marL="0">
              <a:buNone/>
            </a:pPr>
            <a:r>
              <a:rPr lang="en-US" sz="900" dirty="0">
                <a:solidFill>
                  <a:srgbClr val="64748B"/>
                </a:solidFill>
              </a:rPr>
              <a:t>Paseos por barriadas concretas escuchando demandas directas en comercios y plazas.</a:t>
            </a:r>
            <a:endParaRPr lang="en-US" sz="900" dirty="0"/>
          </a:p>
        </p:txBody>
      </p:sp>
      <p:sp>
        <p:nvSpPr>
          <p:cNvPr id="11" name="Text 9"/>
          <p:cNvSpPr/>
          <p:nvPr/>
        </p:nvSpPr>
        <p:spPr>
          <a:xfrm>
            <a:off x="1005840" y="3520440"/>
            <a:ext cx="4572000" cy="274320"/>
          </a:xfrm>
          <a:prstGeom prst="rect">
            <a:avLst/>
          </a:prstGeom>
          <a:noFill/>
          <a:ln/>
        </p:spPr>
        <p:txBody>
          <a:bodyPr wrap="square" rtlCol="0" anchor="ctr"/>
          <a:lstStyle/>
          <a:p>
            <a:pPr indent="0" marL="0">
              <a:buNone/>
            </a:pPr>
            <a:r>
              <a:rPr lang="en-US" sz="1000" b="1" dirty="0">
                <a:solidFill>
                  <a:srgbClr val="059669"/>
                </a:solidFill>
              </a:rPr>
              <a:t>EVENT • Carpa Informativa / Calle</a:t>
            </a:r>
            <a:endParaRPr lang="en-US" sz="1000" dirty="0"/>
          </a:p>
        </p:txBody>
      </p:sp>
      <p:sp>
        <p:nvSpPr>
          <p:cNvPr id="12" name="Text 10"/>
          <p:cNvSpPr/>
          <p:nvPr/>
        </p:nvSpPr>
        <p:spPr>
          <a:xfrm>
            <a:off x="1005840" y="3776472"/>
            <a:ext cx="4572000" cy="548640"/>
          </a:xfrm>
          <a:prstGeom prst="rect">
            <a:avLst/>
          </a:prstGeom>
          <a:noFill/>
          <a:ln/>
        </p:spPr>
        <p:txBody>
          <a:bodyPr wrap="square" rtlCol="0" anchor="ctr"/>
          <a:lstStyle/>
          <a:p>
            <a:pPr indent="0" marL="0">
              <a:buNone/>
            </a:pPr>
            <a:r>
              <a:rPr lang="en-US" sz="900" dirty="0">
                <a:solidFill>
                  <a:srgbClr val="64748B"/>
                </a:solidFill>
              </a:rPr>
              <a:t>Puntos de contacto directo, reparto de folletos y recogida de firmas vecinales.</a:t>
            </a:r>
            <a:endParaRPr lang="en-US" sz="900" dirty="0"/>
          </a:p>
        </p:txBody>
      </p:sp>
      <p:sp>
        <p:nvSpPr>
          <p:cNvPr id="13" name="Text 11"/>
          <p:cNvSpPr/>
          <p:nvPr/>
        </p:nvSpPr>
        <p:spPr>
          <a:xfrm>
            <a:off x="1005840" y="4389120"/>
            <a:ext cx="4572000" cy="274320"/>
          </a:xfrm>
          <a:prstGeom prst="rect">
            <a:avLst/>
          </a:prstGeom>
          <a:noFill/>
          <a:ln/>
        </p:spPr>
        <p:txBody>
          <a:bodyPr wrap="square" rtlCol="0" anchor="ctr"/>
          <a:lstStyle/>
          <a:p>
            <a:pPr indent="0" marL="0">
              <a:buNone/>
            </a:pPr>
            <a:r>
              <a:rPr lang="en-US" sz="1000" b="1" dirty="0">
                <a:solidFill>
                  <a:srgbClr val="059669"/>
                </a:solidFill>
              </a:rPr>
              <a:t>MEETING • Reunión Sectorial</a:t>
            </a:r>
            <a:endParaRPr lang="en-US" sz="1000" dirty="0"/>
          </a:p>
        </p:txBody>
      </p:sp>
      <p:sp>
        <p:nvSpPr>
          <p:cNvPr id="14" name="Text 12"/>
          <p:cNvSpPr/>
          <p:nvPr/>
        </p:nvSpPr>
        <p:spPr>
          <a:xfrm>
            <a:off x="1005840" y="4645152"/>
            <a:ext cx="4572000" cy="548640"/>
          </a:xfrm>
          <a:prstGeom prst="rect">
            <a:avLst/>
          </a:prstGeom>
          <a:noFill/>
          <a:ln/>
        </p:spPr>
        <p:txBody>
          <a:bodyPr wrap="square" rtlCol="0" anchor="ctr"/>
          <a:lstStyle/>
          <a:p>
            <a:pPr indent="0" marL="0">
              <a:buNone/>
            </a:pPr>
            <a:r>
              <a:rPr lang="en-US" sz="900" dirty="0">
                <a:solidFill>
                  <a:srgbClr val="64748B"/>
                </a:solidFill>
              </a:rPr>
              <a:t>Encuentros específicos con asociaciones empresariales, agricultores, jóvenes, etc.</a:t>
            </a:r>
            <a:endParaRPr lang="en-US" sz="900" dirty="0"/>
          </a:p>
        </p:txBody>
      </p:sp>
      <p:sp>
        <p:nvSpPr>
          <p:cNvPr id="15" name="Text 13"/>
          <p:cNvSpPr/>
          <p:nvPr/>
        </p:nvSpPr>
        <p:spPr>
          <a:xfrm>
            <a:off x="1005840" y="5257800"/>
            <a:ext cx="4572000" cy="274320"/>
          </a:xfrm>
          <a:prstGeom prst="rect">
            <a:avLst/>
          </a:prstGeom>
          <a:noFill/>
          <a:ln/>
        </p:spPr>
        <p:txBody>
          <a:bodyPr wrap="square" rtlCol="0" anchor="ctr"/>
          <a:lstStyle/>
          <a:p>
            <a:pPr indent="0" marL="0">
              <a:buNone/>
            </a:pPr>
            <a:r>
              <a:rPr lang="en-US" sz="1000" b="1" dirty="0">
                <a:solidFill>
                  <a:srgbClr val="059669"/>
                </a:solidFill>
              </a:rPr>
              <a:t>MEDIA • Medios y Publicaciones</a:t>
            </a:r>
            <a:endParaRPr lang="en-US" sz="1000" dirty="0"/>
          </a:p>
        </p:txBody>
      </p:sp>
      <p:sp>
        <p:nvSpPr>
          <p:cNvPr id="16" name="Text 14"/>
          <p:cNvSpPr/>
          <p:nvPr/>
        </p:nvSpPr>
        <p:spPr>
          <a:xfrm>
            <a:off x="1005840" y="5513832"/>
            <a:ext cx="4572000" cy="548640"/>
          </a:xfrm>
          <a:prstGeom prst="rect">
            <a:avLst/>
          </a:prstGeom>
          <a:noFill/>
          <a:ln/>
        </p:spPr>
        <p:txBody>
          <a:bodyPr wrap="square" rtlCol="0" anchor="ctr"/>
          <a:lstStyle/>
          <a:p>
            <a:pPr indent="0" marL="0">
              <a:buNone/>
            </a:pPr>
            <a:r>
              <a:rPr lang="en-US" sz="900" dirty="0">
                <a:solidFill>
                  <a:srgbClr val="64748B"/>
                </a:solidFill>
              </a:rPr>
              <a:t>Ruedas de prensa, notas informativas, entrevistas locales y directos en redes.</a:t>
            </a:r>
            <a:endParaRPr lang="en-US" sz="900" dirty="0"/>
          </a:p>
        </p:txBody>
      </p:sp>
      <p:sp>
        <p:nvSpPr>
          <p:cNvPr id="17" name="Shape 15"/>
          <p:cNvSpPr/>
          <p:nvPr/>
        </p:nvSpPr>
        <p:spPr>
          <a:xfrm>
            <a:off x="6217920" y="2011680"/>
            <a:ext cx="5120640" cy="4206240"/>
          </a:xfrm>
          <a:prstGeom prst="roundRect">
            <a:avLst>
              <a:gd name="adj" fmla="val 3261"/>
            </a:avLst>
          </a:prstGeom>
          <a:solidFill>
            <a:srgbClr val="ECFDF5"/>
          </a:solidFill>
          <a:ln w="12700">
            <a:solidFill>
              <a:srgbClr val="A7F3D0"/>
            </a:solidFill>
            <a:prstDash val="solid"/>
          </a:ln>
        </p:spPr>
      </p:sp>
      <p:sp>
        <p:nvSpPr>
          <p:cNvPr id="18" name="Text 16"/>
          <p:cNvSpPr/>
          <p:nvPr/>
        </p:nvSpPr>
        <p:spPr>
          <a:xfrm>
            <a:off x="6492240" y="2194560"/>
            <a:ext cx="4572000" cy="365760"/>
          </a:xfrm>
          <a:prstGeom prst="rect">
            <a:avLst/>
          </a:prstGeom>
          <a:noFill/>
          <a:ln/>
        </p:spPr>
        <p:txBody>
          <a:bodyPr wrap="square" rtlCol="0" anchor="ctr"/>
          <a:lstStyle/>
          <a:p>
            <a:pPr indent="0" marL="0">
              <a:buNone/>
            </a:pPr>
            <a:r>
              <a:rPr lang="en-US" sz="1100" b="1" dirty="0">
                <a:solidFill>
                  <a:srgbClr val="065F46"/>
                </a:solidFill>
              </a:rPr>
              <a:t>FICHA COMPLETA DE CADA ACCIÓN:</a:t>
            </a:r>
            <a:endParaRPr lang="en-US" sz="1100" dirty="0"/>
          </a:p>
        </p:txBody>
      </p:sp>
      <p:sp>
        <p:nvSpPr>
          <p:cNvPr id="19" name="Text 17"/>
          <p:cNvSpPr/>
          <p:nvPr/>
        </p:nvSpPr>
        <p:spPr>
          <a:xfrm>
            <a:off x="6492240" y="2651760"/>
            <a:ext cx="4572000" cy="3383280"/>
          </a:xfrm>
          <a:prstGeom prst="rect">
            <a:avLst/>
          </a:prstGeom>
          <a:noFill/>
          <a:ln/>
        </p:spPr>
        <p:txBody>
          <a:bodyPr wrap="square" rtlCol="0" anchor="ctr"/>
          <a:lstStyle/>
          <a:p>
            <a:pPr indent="0" marL="0">
              <a:buNone/>
            </a:pPr>
            <a:r>
              <a:rPr lang="en-US" sz="950" b="1" dirty="0">
                <a:solidFill>
                  <a:srgbClr val="047857"/>
                </a:solidFill>
              </a:rPr>
              <a:t>• Distrito y Zona Asignada:
</a:t>
            </a:r>
            <a:pPr indent="0" marL="0">
              <a:buNone/>
            </a:pPr>
            <a:r>
              <a:rPr lang="en-US" sz="950" dirty="0">
                <a:solidFill>
                  <a:srgbClr val="334155"/>
                </a:solidFill>
              </a:rPr>
              <a:t>Asignación geográfica para medir la presencia en cada punto del pueblo.
</a:t>
            </a:r>
            <a:pPr indent="0" marL="0">
              <a:buNone/>
            </a:pPr>
            <a:r>
              <a:rPr lang="en-US" sz="950" b="1" dirty="0">
                <a:solidFill>
                  <a:srgbClr val="047857"/>
                </a:solidFill>
              </a:rPr>
              <a:t>• Prioridad Política Asociada:
</a:t>
            </a:r>
            <a:pPr indent="0" marL="0">
              <a:buNone/>
            </a:pPr>
            <a:r>
              <a:rPr lang="en-US" sz="950" dirty="0">
                <a:solidFill>
                  <a:srgbClr val="334155"/>
                </a:solidFill>
              </a:rPr>
              <a:t>Vinculado a uno de los 3 pilares irrenunciables de campaña.
</a:t>
            </a:r>
            <a:pPr indent="0" marL="0">
              <a:buNone/>
            </a:pPr>
            <a:r>
              <a:rPr lang="en-US" sz="950" b="1" dirty="0">
                <a:solidFill>
                  <a:srgbClr val="047857"/>
                </a:solidFill>
              </a:rPr>
              <a:t>• Público Objetivo Específico:
</a:t>
            </a:r>
            <a:pPr indent="0" marL="0">
              <a:buNone/>
            </a:pPr>
            <a:r>
              <a:rPr lang="en-US" sz="950" dirty="0">
                <a:solidFill>
                  <a:srgbClr val="334155"/>
                </a:solidFill>
              </a:rPr>
              <a:t>Familias jóvenes, pensionistas, comerciantes de barrio, desempleados...
</a:t>
            </a:r>
            <a:pPr indent="0" marL="0">
              <a:buNone/>
            </a:pPr>
            <a:r>
              <a:rPr lang="en-US" sz="950" b="1" dirty="0">
                <a:solidFill>
                  <a:srgbClr val="047857"/>
                </a:solidFill>
              </a:rPr>
              <a:t>• Mensaje Principal a Transmitir:
</a:t>
            </a:r>
            <a:pPr indent="0" marL="0">
              <a:buNone/>
            </a:pPr>
            <a:r>
              <a:rPr lang="en-US" sz="950" dirty="0">
                <a:solidFill>
                  <a:srgbClr val="334155"/>
                </a:solidFill>
              </a:rPr>
              <a:t>El titular obligatorio que todo portavoz debe repetir en ese acto.
</a:t>
            </a:r>
            <a:pPr indent="0" marL="0">
              <a:buNone/>
            </a:pPr>
            <a:r>
              <a:rPr lang="en-US" sz="950" b="1" dirty="0">
                <a:solidFill>
                  <a:srgbClr val="047857"/>
                </a:solidFill>
              </a:rPr>
              <a:t>• Edición y Eliminación Completa (CRUD):
</a:t>
            </a:r>
            <a:pPr indent="0" marL="0">
              <a:buNone/>
            </a:pPr>
            <a:r>
              <a:rPr lang="en-US" sz="950" dirty="0">
                <a:solidFill>
                  <a:srgbClr val="334155"/>
                </a:solidFill>
              </a:rPr>
              <a:t>Modal interactivo para cambiar fechas, corregir textos o suprimir actos.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31520" y="457200"/>
            <a:ext cx="2560320" cy="320040"/>
          </a:xfrm>
          <a:prstGeom prst="roundRect">
            <a:avLst>
              <a:gd name="adj" fmla="val 28571"/>
            </a:avLst>
          </a:prstGeom>
          <a:solidFill>
            <a:srgbClr val="7C3AED"/>
          </a:solidFill>
          <a:ln/>
        </p:spPr>
      </p:sp>
      <p:sp>
        <p:nvSpPr>
          <p:cNvPr id="3" name="Text 1"/>
          <p:cNvSpPr/>
          <p:nvPr/>
        </p:nvSpPr>
        <p:spPr>
          <a:xfrm>
            <a:off x="731520" y="457200"/>
            <a:ext cx="2560320" cy="320040"/>
          </a:xfrm>
          <a:prstGeom prst="rect">
            <a:avLst/>
          </a:prstGeom>
          <a:noFill/>
          <a:ln/>
        </p:spPr>
        <p:txBody>
          <a:bodyPr wrap="square" rtlCol="0" anchor="ctr"/>
          <a:lstStyle/>
          <a:p>
            <a:pPr algn="ctr" indent="0" marL="0">
              <a:buNone/>
            </a:pPr>
            <a:r>
              <a:rPr lang="en-US" sz="1000" b="1" dirty="0">
                <a:solidFill>
                  <a:srgbClr val="FFFFFF"/>
                </a:solidFill>
              </a:rPr>
              <a:t>GOBERNANZA DE CAMPAÑA</a:t>
            </a:r>
            <a:endParaRPr lang="en-US" sz="1000" dirty="0"/>
          </a:p>
        </p:txBody>
      </p:sp>
      <p:sp>
        <p:nvSpPr>
          <p:cNvPr id="4" name="Text 2"/>
          <p:cNvSpPr/>
          <p:nvPr/>
        </p:nvSpPr>
        <p:spPr>
          <a:xfrm>
            <a:off x="731520" y="868680"/>
            <a:ext cx="10515600" cy="548640"/>
          </a:xfrm>
          <a:prstGeom prst="rect">
            <a:avLst/>
          </a:prstGeom>
          <a:noFill/>
          <a:ln/>
        </p:spPr>
        <p:txBody>
          <a:bodyPr wrap="square" rtlCol="0" anchor="ctr"/>
          <a:lstStyle/>
          <a:p>
            <a:pPr indent="0" marL="0">
              <a:buNone/>
            </a:pPr>
            <a:r>
              <a:rPr lang="en-US" sz="2200" b="1" dirty="0">
                <a:solidFill>
                  <a:srgbClr val="0F172A"/>
                </a:solidFill>
              </a:rPr>
              <a:t>Seguimiento Semanal y Actas de Comité</a:t>
            </a:r>
            <a:endParaRPr lang="en-US" sz="2200" dirty="0"/>
          </a:p>
        </p:txBody>
      </p:sp>
      <p:sp>
        <p:nvSpPr>
          <p:cNvPr id="5" name="Text 3"/>
          <p:cNvSpPr/>
          <p:nvPr/>
        </p:nvSpPr>
        <p:spPr>
          <a:xfrm>
            <a:off x="731520" y="1371600"/>
            <a:ext cx="10515600" cy="365760"/>
          </a:xfrm>
          <a:prstGeom prst="rect">
            <a:avLst/>
          </a:prstGeom>
          <a:noFill/>
          <a:ln/>
        </p:spPr>
        <p:txBody>
          <a:bodyPr wrap="square" rtlCol="0" anchor="ctr"/>
          <a:lstStyle/>
          <a:p>
            <a:pPr indent="0" marL="0">
              <a:buNone/>
            </a:pPr>
            <a:r>
              <a:rPr lang="en-US" sz="1200" dirty="0">
                <a:solidFill>
                  <a:srgbClr val="64748B"/>
                </a:solidFill>
              </a:rPr>
              <a:t>Gobernanza formal, acuerdos vinculantes y resolución de bloqueos</a:t>
            </a:r>
            <a:endParaRPr lang="en-US" sz="1200" dirty="0"/>
          </a:p>
        </p:txBody>
      </p:sp>
      <p:sp>
        <p:nvSpPr>
          <p:cNvPr id="6" name="Shape 4"/>
          <p:cNvSpPr/>
          <p:nvPr/>
        </p:nvSpPr>
        <p:spPr>
          <a:xfrm>
            <a:off x="731520" y="1783080"/>
            <a:ext cx="10698480" cy="0"/>
          </a:xfrm>
          <a:prstGeom prst="line">
            <a:avLst/>
          </a:prstGeom>
          <a:noFill/>
          <a:ln w="19050">
            <a:solidFill>
              <a:srgbClr val="E2E8F0"/>
            </a:solidFill>
            <a:prstDash val="solid"/>
          </a:ln>
        </p:spPr>
      </p:sp>
      <p:sp>
        <p:nvSpPr>
          <p:cNvPr id="7" name="Shape 5"/>
          <p:cNvSpPr/>
          <p:nvPr/>
        </p:nvSpPr>
        <p:spPr>
          <a:xfrm>
            <a:off x="731520" y="2103120"/>
            <a:ext cx="2514600" cy="2194560"/>
          </a:xfrm>
          <a:prstGeom prst="roundRect">
            <a:avLst>
              <a:gd name="adj" fmla="val 6250"/>
            </a:avLst>
          </a:prstGeom>
          <a:solidFill>
            <a:srgbClr val="F8FAFC"/>
          </a:solidFill>
          <a:ln w="12700">
            <a:solidFill>
              <a:srgbClr val="E2E8F0"/>
            </a:solidFill>
            <a:prstDash val="solid"/>
          </a:ln>
        </p:spPr>
      </p:sp>
      <p:sp>
        <p:nvSpPr>
          <p:cNvPr id="8" name="Shape 6"/>
          <p:cNvSpPr/>
          <p:nvPr/>
        </p:nvSpPr>
        <p:spPr>
          <a:xfrm>
            <a:off x="914400" y="2286000"/>
            <a:ext cx="457200" cy="457200"/>
          </a:xfrm>
          <a:prstGeom prst="roundRect">
            <a:avLst>
              <a:gd name="adj" fmla="val 20000"/>
            </a:avLst>
          </a:prstGeom>
          <a:solidFill>
            <a:srgbClr val="7C3AED"/>
          </a:solidFill>
          <a:ln/>
        </p:spPr>
      </p:sp>
      <p:sp>
        <p:nvSpPr>
          <p:cNvPr id="9" name="Text 7"/>
          <p:cNvSpPr/>
          <p:nvPr/>
        </p:nvSpPr>
        <p:spPr>
          <a:xfrm>
            <a:off x="914400" y="2286000"/>
            <a:ext cx="457200" cy="457200"/>
          </a:xfrm>
          <a:prstGeom prst="rect">
            <a:avLst/>
          </a:prstGeom>
          <a:noFill/>
          <a:ln/>
        </p:spPr>
        <p:txBody>
          <a:bodyPr wrap="square" rtlCol="0" anchor="ctr"/>
          <a:lstStyle/>
          <a:p>
            <a:pPr algn="ctr" indent="0" marL="0">
              <a:buNone/>
            </a:pPr>
            <a:r>
              <a:rPr lang="en-US" sz="1200" b="1" dirty="0">
                <a:solidFill>
                  <a:srgbClr val="FFFFFF"/>
                </a:solidFill>
              </a:rPr>
              <a:t>1</a:t>
            </a:r>
            <a:endParaRPr lang="en-US" sz="1200" dirty="0"/>
          </a:p>
        </p:txBody>
      </p:sp>
      <p:sp>
        <p:nvSpPr>
          <p:cNvPr id="10" name="Text 8"/>
          <p:cNvSpPr/>
          <p:nvPr/>
        </p:nvSpPr>
        <p:spPr>
          <a:xfrm>
            <a:off x="914400" y="2880360"/>
            <a:ext cx="2148840" cy="365760"/>
          </a:xfrm>
          <a:prstGeom prst="rect">
            <a:avLst/>
          </a:prstGeom>
          <a:noFill/>
          <a:ln/>
        </p:spPr>
        <p:txBody>
          <a:bodyPr wrap="square" rtlCol="0" anchor="ctr"/>
          <a:lstStyle/>
          <a:p>
            <a:pPr indent="0" marL="0">
              <a:buNone/>
            </a:pPr>
            <a:r>
              <a:rPr lang="en-US" sz="1100" b="1" dirty="0">
                <a:solidFill>
                  <a:srgbClr val="0F172A"/>
                </a:solidFill>
              </a:rPr>
              <a:t>Orden del Día</a:t>
            </a:r>
            <a:endParaRPr lang="en-US" sz="1100" dirty="0"/>
          </a:p>
        </p:txBody>
      </p:sp>
      <p:sp>
        <p:nvSpPr>
          <p:cNvPr id="11" name="Text 9"/>
          <p:cNvSpPr/>
          <p:nvPr/>
        </p:nvSpPr>
        <p:spPr>
          <a:xfrm>
            <a:off x="914400" y="3246120"/>
            <a:ext cx="2148840" cy="914400"/>
          </a:xfrm>
          <a:prstGeom prst="rect">
            <a:avLst/>
          </a:prstGeom>
          <a:noFill/>
          <a:ln/>
        </p:spPr>
        <p:txBody>
          <a:bodyPr wrap="square" rtlCol="0" anchor="ctr"/>
          <a:lstStyle/>
          <a:p>
            <a:pPr indent="0" marL="0">
              <a:buNone/>
            </a:pPr>
            <a:r>
              <a:rPr lang="en-US" sz="950" dirty="0">
                <a:solidFill>
                  <a:srgbClr val="64748B"/>
                </a:solidFill>
              </a:rPr>
              <a:t>Puntos aprobados previamente para no dispersar el tiempo del comité directivo.</a:t>
            </a:r>
            <a:endParaRPr lang="en-US" sz="950" dirty="0"/>
          </a:p>
        </p:txBody>
      </p:sp>
      <p:sp>
        <p:nvSpPr>
          <p:cNvPr id="12" name="Shape 10"/>
          <p:cNvSpPr/>
          <p:nvPr/>
        </p:nvSpPr>
        <p:spPr>
          <a:xfrm>
            <a:off x="3429000" y="2103120"/>
            <a:ext cx="2514600" cy="2194560"/>
          </a:xfrm>
          <a:prstGeom prst="roundRect">
            <a:avLst>
              <a:gd name="adj" fmla="val 6250"/>
            </a:avLst>
          </a:prstGeom>
          <a:solidFill>
            <a:srgbClr val="F8FAFC"/>
          </a:solidFill>
          <a:ln w="12700">
            <a:solidFill>
              <a:srgbClr val="E2E8F0"/>
            </a:solidFill>
            <a:prstDash val="solid"/>
          </a:ln>
        </p:spPr>
      </p:sp>
      <p:sp>
        <p:nvSpPr>
          <p:cNvPr id="13" name="Shape 11"/>
          <p:cNvSpPr/>
          <p:nvPr/>
        </p:nvSpPr>
        <p:spPr>
          <a:xfrm>
            <a:off x="3611880" y="2286000"/>
            <a:ext cx="457200" cy="457200"/>
          </a:xfrm>
          <a:prstGeom prst="roundRect">
            <a:avLst>
              <a:gd name="adj" fmla="val 20000"/>
            </a:avLst>
          </a:prstGeom>
          <a:solidFill>
            <a:srgbClr val="7C3AED"/>
          </a:solidFill>
          <a:ln/>
        </p:spPr>
      </p:sp>
      <p:sp>
        <p:nvSpPr>
          <p:cNvPr id="14" name="Text 12"/>
          <p:cNvSpPr/>
          <p:nvPr/>
        </p:nvSpPr>
        <p:spPr>
          <a:xfrm>
            <a:off x="3611880" y="2286000"/>
            <a:ext cx="457200" cy="457200"/>
          </a:xfrm>
          <a:prstGeom prst="rect">
            <a:avLst/>
          </a:prstGeom>
          <a:noFill/>
          <a:ln/>
        </p:spPr>
        <p:txBody>
          <a:bodyPr wrap="square" rtlCol="0" anchor="ctr"/>
          <a:lstStyle/>
          <a:p>
            <a:pPr algn="ctr" indent="0" marL="0">
              <a:buNone/>
            </a:pPr>
            <a:r>
              <a:rPr lang="en-US" sz="1200" b="1" dirty="0">
                <a:solidFill>
                  <a:srgbClr val="FFFFFF"/>
                </a:solidFill>
              </a:rPr>
              <a:t>2</a:t>
            </a:r>
            <a:endParaRPr lang="en-US" sz="1200" dirty="0"/>
          </a:p>
        </p:txBody>
      </p:sp>
      <p:sp>
        <p:nvSpPr>
          <p:cNvPr id="15" name="Text 13"/>
          <p:cNvSpPr/>
          <p:nvPr/>
        </p:nvSpPr>
        <p:spPr>
          <a:xfrm>
            <a:off x="3611880" y="2880360"/>
            <a:ext cx="2148840" cy="365760"/>
          </a:xfrm>
          <a:prstGeom prst="rect">
            <a:avLst/>
          </a:prstGeom>
          <a:noFill/>
          <a:ln/>
        </p:spPr>
        <p:txBody>
          <a:bodyPr wrap="square" rtlCol="0" anchor="ctr"/>
          <a:lstStyle/>
          <a:p>
            <a:pPr indent="0" marL="0">
              <a:buNone/>
            </a:pPr>
            <a:r>
              <a:rPr lang="en-US" sz="1100" b="1" dirty="0">
                <a:solidFill>
                  <a:srgbClr val="0F172A"/>
                </a:solidFill>
              </a:rPr>
              <a:t>Decisiones y Acuerdos</a:t>
            </a:r>
            <a:endParaRPr lang="en-US" sz="1100" dirty="0"/>
          </a:p>
        </p:txBody>
      </p:sp>
      <p:sp>
        <p:nvSpPr>
          <p:cNvPr id="16" name="Text 14"/>
          <p:cNvSpPr/>
          <p:nvPr/>
        </p:nvSpPr>
        <p:spPr>
          <a:xfrm>
            <a:off x="3611880" y="3246120"/>
            <a:ext cx="2148840" cy="914400"/>
          </a:xfrm>
          <a:prstGeom prst="rect">
            <a:avLst/>
          </a:prstGeom>
          <a:noFill/>
          <a:ln/>
        </p:spPr>
        <p:txBody>
          <a:bodyPr wrap="square" rtlCol="0" anchor="ctr"/>
          <a:lstStyle/>
          <a:p>
            <a:pPr indent="0" marL="0">
              <a:buNone/>
            </a:pPr>
            <a:r>
              <a:rPr lang="en-US" sz="950" dirty="0">
                <a:solidFill>
                  <a:srgbClr val="64748B"/>
                </a:solidFill>
              </a:rPr>
              <a:t>Compromisos ejecutivos con nombre de responsable y fecha límite de entrega.</a:t>
            </a:r>
            <a:endParaRPr lang="en-US" sz="950" dirty="0"/>
          </a:p>
        </p:txBody>
      </p:sp>
      <p:sp>
        <p:nvSpPr>
          <p:cNvPr id="17" name="Shape 15"/>
          <p:cNvSpPr/>
          <p:nvPr/>
        </p:nvSpPr>
        <p:spPr>
          <a:xfrm>
            <a:off x="6126480" y="2103120"/>
            <a:ext cx="2514600" cy="2194560"/>
          </a:xfrm>
          <a:prstGeom prst="roundRect">
            <a:avLst>
              <a:gd name="adj" fmla="val 6250"/>
            </a:avLst>
          </a:prstGeom>
          <a:solidFill>
            <a:srgbClr val="F8FAFC"/>
          </a:solidFill>
          <a:ln w="12700">
            <a:solidFill>
              <a:srgbClr val="E2E8F0"/>
            </a:solidFill>
            <a:prstDash val="solid"/>
          </a:ln>
        </p:spPr>
      </p:sp>
      <p:sp>
        <p:nvSpPr>
          <p:cNvPr id="18" name="Shape 16"/>
          <p:cNvSpPr/>
          <p:nvPr/>
        </p:nvSpPr>
        <p:spPr>
          <a:xfrm>
            <a:off x="6309360" y="2286000"/>
            <a:ext cx="457200" cy="457200"/>
          </a:xfrm>
          <a:prstGeom prst="roundRect">
            <a:avLst>
              <a:gd name="adj" fmla="val 20000"/>
            </a:avLst>
          </a:prstGeom>
          <a:solidFill>
            <a:srgbClr val="7C3AED"/>
          </a:solidFill>
          <a:ln/>
        </p:spPr>
      </p:sp>
      <p:sp>
        <p:nvSpPr>
          <p:cNvPr id="19" name="Text 17"/>
          <p:cNvSpPr/>
          <p:nvPr/>
        </p:nvSpPr>
        <p:spPr>
          <a:xfrm>
            <a:off x="6309360" y="2286000"/>
            <a:ext cx="457200" cy="457200"/>
          </a:xfrm>
          <a:prstGeom prst="rect">
            <a:avLst/>
          </a:prstGeom>
          <a:noFill/>
          <a:ln/>
        </p:spPr>
        <p:txBody>
          <a:bodyPr wrap="square" rtlCol="0" anchor="ctr"/>
          <a:lstStyle/>
          <a:p>
            <a:pPr algn="ctr" indent="0" marL="0">
              <a:buNone/>
            </a:pPr>
            <a:r>
              <a:rPr lang="en-US" sz="1200" b="1" dirty="0">
                <a:solidFill>
                  <a:srgbClr val="FFFFFF"/>
                </a:solidFill>
              </a:rPr>
              <a:t>3</a:t>
            </a:r>
            <a:endParaRPr lang="en-US" sz="1200" dirty="0"/>
          </a:p>
        </p:txBody>
      </p:sp>
      <p:sp>
        <p:nvSpPr>
          <p:cNvPr id="20" name="Text 18"/>
          <p:cNvSpPr/>
          <p:nvPr/>
        </p:nvSpPr>
        <p:spPr>
          <a:xfrm>
            <a:off x="6309360" y="2880360"/>
            <a:ext cx="2148840" cy="365760"/>
          </a:xfrm>
          <a:prstGeom prst="rect">
            <a:avLst/>
          </a:prstGeom>
          <a:noFill/>
          <a:ln/>
        </p:spPr>
        <p:txBody>
          <a:bodyPr wrap="square" rtlCol="0" anchor="ctr"/>
          <a:lstStyle/>
          <a:p>
            <a:pPr indent="0" marL="0">
              <a:buNone/>
            </a:pPr>
            <a:r>
              <a:rPr lang="en-US" sz="1100" b="1" dirty="0">
                <a:solidFill>
                  <a:srgbClr val="0F172A"/>
                </a:solidFill>
              </a:rPr>
              <a:t>Bloqueos Identificados</a:t>
            </a:r>
            <a:endParaRPr lang="en-US" sz="1100" dirty="0"/>
          </a:p>
        </p:txBody>
      </p:sp>
      <p:sp>
        <p:nvSpPr>
          <p:cNvPr id="21" name="Text 19"/>
          <p:cNvSpPr/>
          <p:nvPr/>
        </p:nvSpPr>
        <p:spPr>
          <a:xfrm>
            <a:off x="6309360" y="3246120"/>
            <a:ext cx="2148840" cy="914400"/>
          </a:xfrm>
          <a:prstGeom prst="rect">
            <a:avLst/>
          </a:prstGeom>
          <a:noFill/>
          <a:ln/>
        </p:spPr>
        <p:txBody>
          <a:bodyPr wrap="square" rtlCol="0" anchor="ctr"/>
          <a:lstStyle/>
          <a:p>
            <a:pPr indent="0" marL="0">
              <a:buNone/>
            </a:pPr>
            <a:r>
              <a:rPr lang="en-US" sz="950" dirty="0">
                <a:solidFill>
                  <a:srgbClr val="64748B"/>
                </a:solidFill>
              </a:rPr>
              <a:t>Retrasos de material, trabas burocráticas o fallos que exigen intervención inmediata.</a:t>
            </a:r>
            <a:endParaRPr lang="en-US" sz="950" dirty="0"/>
          </a:p>
        </p:txBody>
      </p:sp>
      <p:sp>
        <p:nvSpPr>
          <p:cNvPr id="22" name="Shape 20"/>
          <p:cNvSpPr/>
          <p:nvPr/>
        </p:nvSpPr>
        <p:spPr>
          <a:xfrm>
            <a:off x="8823960" y="2103120"/>
            <a:ext cx="2514600" cy="2194560"/>
          </a:xfrm>
          <a:prstGeom prst="roundRect">
            <a:avLst>
              <a:gd name="adj" fmla="val 6250"/>
            </a:avLst>
          </a:prstGeom>
          <a:solidFill>
            <a:srgbClr val="F8FAFC"/>
          </a:solidFill>
          <a:ln w="12700">
            <a:solidFill>
              <a:srgbClr val="E2E8F0"/>
            </a:solidFill>
            <a:prstDash val="solid"/>
          </a:ln>
        </p:spPr>
      </p:sp>
      <p:sp>
        <p:nvSpPr>
          <p:cNvPr id="23" name="Shape 21"/>
          <p:cNvSpPr/>
          <p:nvPr/>
        </p:nvSpPr>
        <p:spPr>
          <a:xfrm>
            <a:off x="9006840" y="2286000"/>
            <a:ext cx="457200" cy="457200"/>
          </a:xfrm>
          <a:prstGeom prst="roundRect">
            <a:avLst>
              <a:gd name="adj" fmla="val 20000"/>
            </a:avLst>
          </a:prstGeom>
          <a:solidFill>
            <a:srgbClr val="7C3AED"/>
          </a:solidFill>
          <a:ln/>
        </p:spPr>
      </p:sp>
      <p:sp>
        <p:nvSpPr>
          <p:cNvPr id="24" name="Text 22"/>
          <p:cNvSpPr/>
          <p:nvPr/>
        </p:nvSpPr>
        <p:spPr>
          <a:xfrm>
            <a:off x="9006840" y="2286000"/>
            <a:ext cx="457200" cy="457200"/>
          </a:xfrm>
          <a:prstGeom prst="rect">
            <a:avLst/>
          </a:prstGeom>
          <a:noFill/>
          <a:ln/>
        </p:spPr>
        <p:txBody>
          <a:bodyPr wrap="square" rtlCol="0" anchor="ctr"/>
          <a:lstStyle/>
          <a:p>
            <a:pPr algn="ctr" indent="0" marL="0">
              <a:buNone/>
            </a:pPr>
            <a:r>
              <a:rPr lang="en-US" sz="1200" b="1" dirty="0">
                <a:solidFill>
                  <a:srgbClr val="FFFFFF"/>
                </a:solidFill>
              </a:rPr>
              <a:t>4</a:t>
            </a:r>
            <a:endParaRPr lang="en-US" sz="1200" dirty="0"/>
          </a:p>
        </p:txBody>
      </p:sp>
      <p:sp>
        <p:nvSpPr>
          <p:cNvPr id="25" name="Text 23"/>
          <p:cNvSpPr/>
          <p:nvPr/>
        </p:nvSpPr>
        <p:spPr>
          <a:xfrm>
            <a:off x="9006840" y="2880360"/>
            <a:ext cx="2148840" cy="365760"/>
          </a:xfrm>
          <a:prstGeom prst="rect">
            <a:avLst/>
          </a:prstGeom>
          <a:noFill/>
          <a:ln/>
        </p:spPr>
        <p:txBody>
          <a:bodyPr wrap="square" rtlCol="0" anchor="ctr"/>
          <a:lstStyle/>
          <a:p>
            <a:pPr indent="0" marL="0">
              <a:buNone/>
            </a:pPr>
            <a:r>
              <a:rPr lang="en-US" sz="1100" b="1" dirty="0">
                <a:solidFill>
                  <a:srgbClr val="0F172A"/>
                </a:solidFill>
              </a:rPr>
              <a:t>Nuevos Riesgos</a:t>
            </a:r>
            <a:endParaRPr lang="en-US" sz="1100" dirty="0"/>
          </a:p>
        </p:txBody>
      </p:sp>
      <p:sp>
        <p:nvSpPr>
          <p:cNvPr id="26" name="Text 24"/>
          <p:cNvSpPr/>
          <p:nvPr/>
        </p:nvSpPr>
        <p:spPr>
          <a:xfrm>
            <a:off x="9006840" y="3246120"/>
            <a:ext cx="2148840" cy="914400"/>
          </a:xfrm>
          <a:prstGeom prst="rect">
            <a:avLst/>
          </a:prstGeom>
          <a:noFill/>
          <a:ln/>
        </p:spPr>
        <p:txBody>
          <a:bodyPr wrap="square" rtlCol="0" anchor="ctr"/>
          <a:lstStyle/>
          <a:p>
            <a:pPr indent="0" marL="0">
              <a:buNone/>
            </a:pPr>
            <a:r>
              <a:rPr lang="en-US" sz="950" dirty="0">
                <a:solidFill>
                  <a:srgbClr val="64748B"/>
                </a:solidFill>
              </a:rPr>
              <a:t>Anuncios del rival, polémicas o cambios que exigen cautela y preparación.</a:t>
            </a:r>
            <a:endParaRPr lang="en-US" sz="950" dirty="0"/>
          </a:p>
        </p:txBody>
      </p:sp>
      <p:sp>
        <p:nvSpPr>
          <p:cNvPr id="27" name="Shape 25"/>
          <p:cNvSpPr/>
          <p:nvPr/>
        </p:nvSpPr>
        <p:spPr>
          <a:xfrm>
            <a:off x="731520" y="4572000"/>
            <a:ext cx="10652760" cy="1554480"/>
          </a:xfrm>
          <a:prstGeom prst="roundRect">
            <a:avLst>
              <a:gd name="adj" fmla="val 8824"/>
            </a:avLst>
          </a:prstGeom>
          <a:solidFill>
            <a:srgbClr val="FAF5FF"/>
          </a:solidFill>
          <a:ln w="12700">
            <a:solidFill>
              <a:srgbClr val="E9D5FF"/>
            </a:solidFill>
            <a:prstDash val="solid"/>
          </a:ln>
        </p:spPr>
      </p:sp>
      <p:sp>
        <p:nvSpPr>
          <p:cNvPr id="28" name="Text 26"/>
          <p:cNvSpPr/>
          <p:nvPr/>
        </p:nvSpPr>
        <p:spPr>
          <a:xfrm>
            <a:off x="1005840" y="4709160"/>
            <a:ext cx="10058400" cy="320040"/>
          </a:xfrm>
          <a:prstGeom prst="rect">
            <a:avLst/>
          </a:prstGeom>
          <a:noFill/>
          <a:ln/>
        </p:spPr>
        <p:txBody>
          <a:bodyPr wrap="square" rtlCol="0" anchor="ctr"/>
          <a:lstStyle/>
          <a:p>
            <a:pPr indent="0" marL="0">
              <a:buNone/>
            </a:pPr>
            <a:r>
              <a:rPr lang="en-US" sz="1100" b="1" dirty="0">
                <a:solidFill>
                  <a:srgbClr val="6B21A8"/>
                </a:solidFill>
              </a:rPr>
              <a:t>HISTORIAL DIGITAL DE ACTAS PERMANENTE</a:t>
            </a:r>
            <a:endParaRPr lang="en-US" sz="1100" dirty="0"/>
          </a:p>
        </p:txBody>
      </p:sp>
      <p:sp>
        <p:nvSpPr>
          <p:cNvPr id="29" name="Text 27"/>
          <p:cNvSpPr/>
          <p:nvPr/>
        </p:nvSpPr>
        <p:spPr>
          <a:xfrm>
            <a:off x="1005840" y="5029200"/>
            <a:ext cx="10058400" cy="914400"/>
          </a:xfrm>
          <a:prstGeom prst="rect">
            <a:avLst/>
          </a:prstGeom>
          <a:noFill/>
          <a:ln/>
        </p:spPr>
        <p:txBody>
          <a:bodyPr wrap="square" rtlCol="0" anchor="ctr"/>
          <a:lstStyle/>
          <a:p>
            <a:pPr indent="0" marL="0">
              <a:buNone/>
            </a:pPr>
            <a:r>
              <a:rPr lang="en-US" sz="1000" dirty="0">
                <a:solidFill>
                  <a:srgbClr val="475569"/>
                </a:solidFill>
              </a:rPr>
              <a:t>Todas las actas de comités anteriores quedan archivadas y accesibles. Permite revisar acuerdos de hace meses, auditar cumplimientos y evitar los clásicos "yo creía que tú te encargabas de eso". Dispone de botones para editar el acta o eliminarla si hubo error.</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31520" y="457200"/>
            <a:ext cx="2560320" cy="320040"/>
          </a:xfrm>
          <a:prstGeom prst="roundRect">
            <a:avLst>
              <a:gd name="adj" fmla="val 28571"/>
            </a:avLst>
          </a:prstGeom>
          <a:solidFill>
            <a:srgbClr val="D97706"/>
          </a:solidFill>
          <a:ln/>
        </p:spPr>
      </p:sp>
      <p:sp>
        <p:nvSpPr>
          <p:cNvPr id="3" name="Text 1"/>
          <p:cNvSpPr/>
          <p:nvPr/>
        </p:nvSpPr>
        <p:spPr>
          <a:xfrm>
            <a:off x="731520" y="457200"/>
            <a:ext cx="2560320" cy="320040"/>
          </a:xfrm>
          <a:prstGeom prst="rect">
            <a:avLst/>
          </a:prstGeom>
          <a:noFill/>
          <a:ln/>
        </p:spPr>
        <p:txBody>
          <a:bodyPr wrap="square" rtlCol="0" anchor="ctr"/>
          <a:lstStyle/>
          <a:p>
            <a:pPr algn="ctr" indent="0" marL="0">
              <a:buNone/>
            </a:pPr>
            <a:r>
              <a:rPr lang="en-US" sz="1000" b="1" dirty="0">
                <a:solidFill>
                  <a:srgbClr val="FFFFFF"/>
                </a:solidFill>
              </a:rPr>
              <a:t>GOBERNANZA DE CAMPAÑA</a:t>
            </a:r>
            <a:endParaRPr lang="en-US" sz="1000" dirty="0"/>
          </a:p>
        </p:txBody>
      </p:sp>
      <p:sp>
        <p:nvSpPr>
          <p:cNvPr id="4" name="Text 2"/>
          <p:cNvSpPr/>
          <p:nvPr/>
        </p:nvSpPr>
        <p:spPr>
          <a:xfrm>
            <a:off x="731520" y="868680"/>
            <a:ext cx="10515600" cy="548640"/>
          </a:xfrm>
          <a:prstGeom prst="rect">
            <a:avLst/>
          </a:prstGeom>
          <a:noFill/>
          <a:ln/>
        </p:spPr>
        <p:txBody>
          <a:bodyPr wrap="square" rtlCol="0" anchor="ctr"/>
          <a:lstStyle/>
          <a:p>
            <a:pPr indent="0" marL="0">
              <a:buNone/>
            </a:pPr>
            <a:r>
              <a:rPr lang="en-US" sz="2200" b="1" dirty="0">
                <a:solidFill>
                  <a:srgbClr val="0F172A"/>
                </a:solidFill>
              </a:rPr>
              <a:t>Informe Semanal Ejecutivo (PDF)</a:t>
            </a:r>
            <a:endParaRPr lang="en-US" sz="2200" dirty="0"/>
          </a:p>
        </p:txBody>
      </p:sp>
      <p:sp>
        <p:nvSpPr>
          <p:cNvPr id="5" name="Text 3"/>
          <p:cNvSpPr/>
          <p:nvPr/>
        </p:nvSpPr>
        <p:spPr>
          <a:xfrm>
            <a:off x="731520" y="1371600"/>
            <a:ext cx="10515600" cy="365760"/>
          </a:xfrm>
          <a:prstGeom prst="rect">
            <a:avLst/>
          </a:prstGeom>
          <a:noFill/>
          <a:ln/>
        </p:spPr>
        <p:txBody>
          <a:bodyPr wrap="square" rtlCol="0" anchor="ctr"/>
          <a:lstStyle/>
          <a:p>
            <a:pPr indent="0" marL="0">
              <a:buNone/>
            </a:pPr>
            <a:r>
              <a:rPr lang="en-US" sz="1200" dirty="0">
                <a:solidFill>
                  <a:srgbClr val="64748B"/>
                </a:solidFill>
              </a:rPr>
              <a:t>La estructura de las 4 preguntas esenciales lista para imprimir o compartir</a:t>
            </a:r>
            <a:endParaRPr lang="en-US" sz="1200" dirty="0"/>
          </a:p>
        </p:txBody>
      </p:sp>
      <p:sp>
        <p:nvSpPr>
          <p:cNvPr id="6" name="Shape 4"/>
          <p:cNvSpPr/>
          <p:nvPr/>
        </p:nvSpPr>
        <p:spPr>
          <a:xfrm>
            <a:off x="731520" y="1783080"/>
            <a:ext cx="10698480" cy="0"/>
          </a:xfrm>
          <a:prstGeom prst="line">
            <a:avLst/>
          </a:prstGeom>
          <a:noFill/>
          <a:ln w="19050">
            <a:solidFill>
              <a:srgbClr val="E2E8F0"/>
            </a:solidFill>
            <a:prstDash val="solid"/>
          </a:ln>
        </p:spPr>
      </p:sp>
      <p:sp>
        <p:nvSpPr>
          <p:cNvPr id="7" name="Shape 5"/>
          <p:cNvSpPr/>
          <p:nvPr/>
        </p:nvSpPr>
        <p:spPr>
          <a:xfrm>
            <a:off x="731520" y="2011680"/>
            <a:ext cx="5212080" cy="1965960"/>
          </a:xfrm>
          <a:prstGeom prst="roundRect">
            <a:avLst>
              <a:gd name="adj" fmla="val 6977"/>
            </a:avLst>
          </a:prstGeom>
          <a:solidFill>
            <a:srgbClr val="ECFDF5"/>
          </a:solidFill>
          <a:ln w="12700">
            <a:solidFill>
              <a:srgbClr val="CBD5E1"/>
            </a:solidFill>
            <a:prstDash val="solid"/>
          </a:ln>
        </p:spPr>
      </p:sp>
      <p:sp>
        <p:nvSpPr>
          <p:cNvPr id="8" name="Text 6"/>
          <p:cNvSpPr/>
          <p:nvPr/>
        </p:nvSpPr>
        <p:spPr>
          <a:xfrm>
            <a:off x="960120" y="2194560"/>
            <a:ext cx="4754880" cy="365760"/>
          </a:xfrm>
          <a:prstGeom prst="rect">
            <a:avLst/>
          </a:prstGeom>
          <a:noFill/>
          <a:ln/>
        </p:spPr>
        <p:txBody>
          <a:bodyPr wrap="square" rtlCol="0" anchor="ctr"/>
          <a:lstStyle/>
          <a:p>
            <a:pPr indent="0" marL="0">
              <a:buNone/>
            </a:pPr>
            <a:r>
              <a:rPr lang="en-US" sz="1300" b="1" dirty="0">
                <a:solidFill>
                  <a:srgbClr val="059669"/>
                </a:solidFill>
              </a:rPr>
              <a:t>✓ ¿Qué se hizo?</a:t>
            </a:r>
            <a:endParaRPr lang="en-US" sz="1300" dirty="0"/>
          </a:p>
        </p:txBody>
      </p:sp>
      <p:sp>
        <p:nvSpPr>
          <p:cNvPr id="9" name="Text 7"/>
          <p:cNvSpPr/>
          <p:nvPr/>
        </p:nvSpPr>
        <p:spPr>
          <a:xfrm>
            <a:off x="960120" y="2651760"/>
            <a:ext cx="4754880" cy="1143000"/>
          </a:xfrm>
          <a:prstGeom prst="rect">
            <a:avLst/>
          </a:prstGeom>
          <a:noFill/>
          <a:ln/>
        </p:spPr>
        <p:txBody>
          <a:bodyPr wrap="square" rtlCol="0" anchor="ctr"/>
          <a:lstStyle/>
          <a:p>
            <a:pPr indent="0" marL="0">
              <a:buNone/>
            </a:pPr>
            <a:r>
              <a:rPr lang="en-US" sz="1000" dirty="0">
                <a:solidFill>
                  <a:srgbClr val="334155"/>
                </a:solidFill>
              </a:rPr>
              <a:t>Balance objetivo de los actos celebrados, visitas concluidas, mensajes difundidos y tareas cerradas durante los últimos 7 días.</a:t>
            </a:r>
            <a:endParaRPr lang="en-US" sz="1000" dirty="0"/>
          </a:p>
        </p:txBody>
      </p:sp>
      <p:sp>
        <p:nvSpPr>
          <p:cNvPr id="10" name="Shape 8"/>
          <p:cNvSpPr/>
          <p:nvPr/>
        </p:nvSpPr>
        <p:spPr>
          <a:xfrm>
            <a:off x="6172200" y="2011680"/>
            <a:ext cx="5212080" cy="1965960"/>
          </a:xfrm>
          <a:prstGeom prst="roundRect">
            <a:avLst>
              <a:gd name="adj" fmla="val 6977"/>
            </a:avLst>
          </a:prstGeom>
          <a:solidFill>
            <a:srgbClr val="FFF1F2"/>
          </a:solidFill>
          <a:ln w="12700">
            <a:solidFill>
              <a:srgbClr val="CBD5E1"/>
            </a:solidFill>
            <a:prstDash val="solid"/>
          </a:ln>
        </p:spPr>
      </p:sp>
      <p:sp>
        <p:nvSpPr>
          <p:cNvPr id="11" name="Text 9"/>
          <p:cNvSpPr/>
          <p:nvPr/>
        </p:nvSpPr>
        <p:spPr>
          <a:xfrm>
            <a:off x="6400800" y="2194560"/>
            <a:ext cx="4754880" cy="365760"/>
          </a:xfrm>
          <a:prstGeom prst="rect">
            <a:avLst/>
          </a:prstGeom>
          <a:noFill/>
          <a:ln/>
        </p:spPr>
        <p:txBody>
          <a:bodyPr wrap="square" rtlCol="0" anchor="ctr"/>
          <a:lstStyle/>
          <a:p>
            <a:pPr indent="0" marL="0">
              <a:buNone/>
            </a:pPr>
            <a:r>
              <a:rPr lang="en-US" sz="1300" b="1" dirty="0">
                <a:solidFill>
                  <a:srgbClr val="DC2626"/>
                </a:solidFill>
              </a:rPr>
              <a:t>✕ ¿Qué no se hizo?</a:t>
            </a:r>
            <a:endParaRPr lang="en-US" sz="1300" dirty="0"/>
          </a:p>
        </p:txBody>
      </p:sp>
      <p:sp>
        <p:nvSpPr>
          <p:cNvPr id="12" name="Text 10"/>
          <p:cNvSpPr/>
          <p:nvPr/>
        </p:nvSpPr>
        <p:spPr>
          <a:xfrm>
            <a:off x="6400800" y="2651760"/>
            <a:ext cx="4754880" cy="1143000"/>
          </a:xfrm>
          <a:prstGeom prst="rect">
            <a:avLst/>
          </a:prstGeom>
          <a:noFill/>
          <a:ln/>
        </p:spPr>
        <p:txBody>
          <a:bodyPr wrap="square" rtlCol="0" anchor="ctr"/>
          <a:lstStyle/>
          <a:p>
            <a:pPr indent="0" marL="0">
              <a:buNone/>
            </a:pPr>
            <a:r>
              <a:rPr lang="en-US" sz="1000" dirty="0">
                <a:solidFill>
                  <a:srgbClr val="334155"/>
                </a:solidFill>
              </a:rPr>
              <a:t>Autocrítica rigurosa de compromisos que quedaron pendientes, identificando los motivos y el plan de recuperación.</a:t>
            </a:r>
            <a:endParaRPr lang="en-US" sz="1000" dirty="0"/>
          </a:p>
        </p:txBody>
      </p:sp>
      <p:sp>
        <p:nvSpPr>
          <p:cNvPr id="13" name="Shape 11"/>
          <p:cNvSpPr/>
          <p:nvPr/>
        </p:nvSpPr>
        <p:spPr>
          <a:xfrm>
            <a:off x="731520" y="4160520"/>
            <a:ext cx="5212080" cy="1965960"/>
          </a:xfrm>
          <a:prstGeom prst="roundRect">
            <a:avLst>
              <a:gd name="adj" fmla="val 6977"/>
            </a:avLst>
          </a:prstGeom>
          <a:solidFill>
            <a:srgbClr val="EFF6FF"/>
          </a:solidFill>
          <a:ln w="12700">
            <a:solidFill>
              <a:srgbClr val="CBD5E1"/>
            </a:solidFill>
            <a:prstDash val="solid"/>
          </a:ln>
        </p:spPr>
      </p:sp>
      <p:sp>
        <p:nvSpPr>
          <p:cNvPr id="14" name="Text 12"/>
          <p:cNvSpPr/>
          <p:nvPr/>
        </p:nvSpPr>
        <p:spPr>
          <a:xfrm>
            <a:off x="960120" y="4343400"/>
            <a:ext cx="4754880" cy="365760"/>
          </a:xfrm>
          <a:prstGeom prst="rect">
            <a:avLst/>
          </a:prstGeom>
          <a:noFill/>
          <a:ln/>
        </p:spPr>
        <p:txBody>
          <a:bodyPr wrap="square" rtlCol="0" anchor="ctr"/>
          <a:lstStyle/>
          <a:p>
            <a:pPr indent="0" marL="0">
              <a:buNone/>
            </a:pPr>
            <a:r>
              <a:rPr lang="en-US" sz="1300" b="1" dirty="0">
                <a:solidFill>
                  <a:srgbClr val="2563EB"/>
                </a:solidFill>
              </a:rPr>
              <a:t>👥 ¿Qué hicieron los rivales?</a:t>
            </a:r>
            <a:endParaRPr lang="en-US" sz="1300" dirty="0"/>
          </a:p>
        </p:txBody>
      </p:sp>
      <p:sp>
        <p:nvSpPr>
          <p:cNvPr id="15" name="Text 13"/>
          <p:cNvSpPr/>
          <p:nvPr/>
        </p:nvSpPr>
        <p:spPr>
          <a:xfrm>
            <a:off x="960120" y="4800600"/>
            <a:ext cx="4754880" cy="1143000"/>
          </a:xfrm>
          <a:prstGeom prst="rect">
            <a:avLst/>
          </a:prstGeom>
          <a:noFill/>
          <a:ln/>
        </p:spPr>
        <p:txBody>
          <a:bodyPr wrap="square" rtlCol="0" anchor="ctr"/>
          <a:lstStyle/>
          <a:p>
            <a:pPr indent="0" marL="0">
              <a:buNone/>
            </a:pPr>
            <a:r>
              <a:rPr lang="en-US" sz="1000" dirty="0">
                <a:solidFill>
                  <a:srgbClr val="334155"/>
                </a:solidFill>
              </a:rPr>
              <a:t>Resumen de inteligencia: declaraciones públicas, propuestas, actos de calle y errores cometidos por las demás fuerzas.</a:t>
            </a:r>
            <a:endParaRPr lang="en-US" sz="1000" dirty="0"/>
          </a:p>
        </p:txBody>
      </p:sp>
      <p:sp>
        <p:nvSpPr>
          <p:cNvPr id="16" name="Shape 14"/>
          <p:cNvSpPr/>
          <p:nvPr/>
        </p:nvSpPr>
        <p:spPr>
          <a:xfrm>
            <a:off x="6172200" y="4160520"/>
            <a:ext cx="5212080" cy="1965960"/>
          </a:xfrm>
          <a:prstGeom prst="roundRect">
            <a:avLst>
              <a:gd name="adj" fmla="val 6977"/>
            </a:avLst>
          </a:prstGeom>
          <a:solidFill>
            <a:srgbClr val="FAF5FF"/>
          </a:solidFill>
          <a:ln w="12700">
            <a:solidFill>
              <a:srgbClr val="CBD5E1"/>
            </a:solidFill>
            <a:prstDash val="solid"/>
          </a:ln>
        </p:spPr>
      </p:sp>
      <p:sp>
        <p:nvSpPr>
          <p:cNvPr id="17" name="Text 15"/>
          <p:cNvSpPr/>
          <p:nvPr/>
        </p:nvSpPr>
        <p:spPr>
          <a:xfrm>
            <a:off x="6400800" y="4343400"/>
            <a:ext cx="4754880" cy="365760"/>
          </a:xfrm>
          <a:prstGeom prst="rect">
            <a:avLst/>
          </a:prstGeom>
          <a:noFill/>
          <a:ln/>
        </p:spPr>
        <p:txBody>
          <a:bodyPr wrap="square" rtlCol="0" anchor="ctr"/>
          <a:lstStyle/>
          <a:p>
            <a:pPr indent="0" marL="0">
              <a:buNone/>
            </a:pPr>
            <a:r>
              <a:rPr lang="en-US" sz="1300" b="1" dirty="0">
                <a:solidFill>
                  <a:srgbClr val="7C3AED"/>
                </a:solidFill>
              </a:rPr>
              <a:t>💡 ¿Qué aprendió el equipo?</a:t>
            </a:r>
            <a:endParaRPr lang="en-US" sz="1300" dirty="0"/>
          </a:p>
        </p:txBody>
      </p:sp>
      <p:sp>
        <p:nvSpPr>
          <p:cNvPr id="18" name="Text 16"/>
          <p:cNvSpPr/>
          <p:nvPr/>
        </p:nvSpPr>
        <p:spPr>
          <a:xfrm>
            <a:off x="6400800" y="4800600"/>
            <a:ext cx="4754880" cy="1143000"/>
          </a:xfrm>
          <a:prstGeom prst="rect">
            <a:avLst/>
          </a:prstGeom>
          <a:noFill/>
          <a:ln/>
        </p:spPr>
        <p:txBody>
          <a:bodyPr wrap="square" rtlCol="0" anchor="ctr"/>
          <a:lstStyle/>
          <a:p>
            <a:pPr indent="0" marL="0">
              <a:buNone/>
            </a:pPr>
            <a:r>
              <a:rPr lang="en-US" sz="1000" dirty="0">
                <a:solidFill>
                  <a:srgbClr val="334155"/>
                </a:solidFill>
              </a:rPr>
              <a:t>Lecciones tácticas de la semana: qué temas conectaron mejor con los vecinos y qué ajustes de discurso deben aplicarse.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31520" y="457200"/>
            <a:ext cx="2560320" cy="320040"/>
          </a:xfrm>
          <a:prstGeom prst="roundRect">
            <a:avLst>
              <a:gd name="adj" fmla="val 28571"/>
            </a:avLst>
          </a:prstGeom>
          <a:solidFill>
            <a:srgbClr val="0284C7"/>
          </a:solidFill>
          <a:ln/>
        </p:spPr>
      </p:sp>
      <p:sp>
        <p:nvSpPr>
          <p:cNvPr id="3" name="Text 1"/>
          <p:cNvSpPr/>
          <p:nvPr/>
        </p:nvSpPr>
        <p:spPr>
          <a:xfrm>
            <a:off x="731520" y="457200"/>
            <a:ext cx="2560320" cy="320040"/>
          </a:xfrm>
          <a:prstGeom prst="rect">
            <a:avLst/>
          </a:prstGeom>
          <a:noFill/>
          <a:ln/>
        </p:spPr>
        <p:txBody>
          <a:bodyPr wrap="square" rtlCol="0" anchor="ctr"/>
          <a:lstStyle/>
          <a:p>
            <a:pPr algn="ctr" indent="0" marL="0">
              <a:buNone/>
            </a:pPr>
            <a:r>
              <a:rPr lang="en-US" sz="1000" b="1" dirty="0">
                <a:solidFill>
                  <a:srgbClr val="FFFFFF"/>
                </a:solidFill>
              </a:rPr>
              <a:t>DIAGNÓSTICO ELECTORAL</a:t>
            </a:r>
            <a:endParaRPr lang="en-US" sz="1000" dirty="0"/>
          </a:p>
        </p:txBody>
      </p:sp>
      <p:sp>
        <p:nvSpPr>
          <p:cNvPr id="4" name="Text 2"/>
          <p:cNvSpPr/>
          <p:nvPr/>
        </p:nvSpPr>
        <p:spPr>
          <a:xfrm>
            <a:off x="731520" y="868680"/>
            <a:ext cx="10515600" cy="548640"/>
          </a:xfrm>
          <a:prstGeom prst="rect">
            <a:avLst/>
          </a:prstGeom>
          <a:noFill/>
          <a:ln/>
        </p:spPr>
        <p:txBody>
          <a:bodyPr wrap="square" rtlCol="0" anchor="ctr"/>
          <a:lstStyle/>
          <a:p>
            <a:pPr indent="0" marL="0">
              <a:buNone/>
            </a:pPr>
            <a:r>
              <a:rPr lang="en-US" sz="2200" b="1" dirty="0">
                <a:solidFill>
                  <a:srgbClr val="0F172A"/>
                </a:solidFill>
              </a:rPr>
              <a:t>Escrutinio 2023: Línea Base Oficial</a:t>
            </a:r>
            <a:endParaRPr lang="en-US" sz="2200" dirty="0"/>
          </a:p>
        </p:txBody>
      </p:sp>
      <p:sp>
        <p:nvSpPr>
          <p:cNvPr id="5" name="Text 3"/>
          <p:cNvSpPr/>
          <p:nvPr/>
        </p:nvSpPr>
        <p:spPr>
          <a:xfrm>
            <a:off x="731520" y="1371600"/>
            <a:ext cx="10515600" cy="365760"/>
          </a:xfrm>
          <a:prstGeom prst="rect">
            <a:avLst/>
          </a:prstGeom>
          <a:noFill/>
          <a:ln/>
        </p:spPr>
        <p:txBody>
          <a:bodyPr wrap="square" rtlCol="0" anchor="ctr"/>
          <a:lstStyle/>
          <a:p>
            <a:pPr indent="0" marL="0">
              <a:buNone/>
            </a:pPr>
            <a:r>
              <a:rPr lang="en-US" sz="1200" dirty="0">
                <a:solidFill>
                  <a:srgbClr val="64748B"/>
                </a:solidFill>
              </a:rPr>
              <a:t>Análisis detallado de votos, concejales y participación</a:t>
            </a:r>
            <a:endParaRPr lang="en-US" sz="1200" dirty="0"/>
          </a:p>
        </p:txBody>
      </p:sp>
      <p:sp>
        <p:nvSpPr>
          <p:cNvPr id="6" name="Shape 4"/>
          <p:cNvSpPr/>
          <p:nvPr/>
        </p:nvSpPr>
        <p:spPr>
          <a:xfrm>
            <a:off x="731520" y="1783080"/>
            <a:ext cx="10698480" cy="0"/>
          </a:xfrm>
          <a:prstGeom prst="line">
            <a:avLst/>
          </a:prstGeom>
          <a:noFill/>
          <a:ln w="19050">
            <a:solidFill>
              <a:srgbClr val="E2E8F0"/>
            </a:solidFill>
            <a:prstDash val="solid"/>
          </a:ln>
        </p:spPr>
      </p:sp>
      <p:sp>
        <p:nvSpPr>
          <p:cNvPr id="7" name="Shape 5"/>
          <p:cNvSpPr/>
          <p:nvPr/>
        </p:nvSpPr>
        <p:spPr>
          <a:xfrm>
            <a:off x="731520" y="2011680"/>
            <a:ext cx="2514600" cy="1737360"/>
          </a:xfrm>
          <a:prstGeom prst="roundRect">
            <a:avLst>
              <a:gd name="adj" fmla="val 6316"/>
            </a:avLst>
          </a:prstGeom>
          <a:solidFill>
            <a:srgbClr val="F8FAFC"/>
          </a:solidFill>
          <a:ln w="12700">
            <a:solidFill>
              <a:srgbClr val="E2E8F0"/>
            </a:solidFill>
            <a:prstDash val="solid"/>
          </a:ln>
        </p:spPr>
      </p:sp>
      <p:sp>
        <p:nvSpPr>
          <p:cNvPr id="8" name="Text 6"/>
          <p:cNvSpPr/>
          <p:nvPr/>
        </p:nvSpPr>
        <p:spPr>
          <a:xfrm>
            <a:off x="868680" y="2148840"/>
            <a:ext cx="2240280" cy="320040"/>
          </a:xfrm>
          <a:prstGeom prst="rect">
            <a:avLst/>
          </a:prstGeom>
          <a:noFill/>
          <a:ln/>
        </p:spPr>
        <p:txBody>
          <a:bodyPr wrap="square" rtlCol="0" anchor="ctr"/>
          <a:lstStyle/>
          <a:p>
            <a:pPr indent="0" marL="0">
              <a:buNone/>
            </a:pPr>
            <a:r>
              <a:rPr lang="en-US" sz="850" b="1" dirty="0">
                <a:solidFill>
                  <a:srgbClr val="0284C7"/>
                </a:solidFill>
              </a:rPr>
              <a:t>CENSO ELECTORAL TOTAL</a:t>
            </a:r>
            <a:endParaRPr lang="en-US" sz="850" dirty="0"/>
          </a:p>
        </p:txBody>
      </p:sp>
      <p:sp>
        <p:nvSpPr>
          <p:cNvPr id="9" name="Text 7"/>
          <p:cNvSpPr/>
          <p:nvPr/>
        </p:nvSpPr>
        <p:spPr>
          <a:xfrm>
            <a:off x="868680" y="2468880"/>
            <a:ext cx="2240280" cy="411480"/>
          </a:xfrm>
          <a:prstGeom prst="rect">
            <a:avLst/>
          </a:prstGeom>
          <a:noFill/>
          <a:ln/>
        </p:spPr>
        <p:txBody>
          <a:bodyPr wrap="square" rtlCol="0" anchor="ctr"/>
          <a:lstStyle/>
          <a:p>
            <a:pPr indent="0" marL="0">
              <a:buNone/>
            </a:pPr>
            <a:r>
              <a:rPr lang="en-US" sz="1200" b="1" dirty="0">
                <a:solidFill>
                  <a:srgbClr val="0F172A"/>
                </a:solidFill>
              </a:rPr>
              <a:t>Electorado Municipal</a:t>
            </a:r>
            <a:endParaRPr lang="en-US" sz="1200" dirty="0"/>
          </a:p>
        </p:txBody>
      </p:sp>
      <p:sp>
        <p:nvSpPr>
          <p:cNvPr id="10" name="Text 8"/>
          <p:cNvSpPr/>
          <p:nvPr/>
        </p:nvSpPr>
        <p:spPr>
          <a:xfrm>
            <a:off x="868680" y="2880360"/>
            <a:ext cx="2240280" cy="731520"/>
          </a:xfrm>
          <a:prstGeom prst="rect">
            <a:avLst/>
          </a:prstGeom>
          <a:noFill/>
          <a:ln/>
        </p:spPr>
        <p:txBody>
          <a:bodyPr wrap="square" rtlCol="0" anchor="ctr"/>
          <a:lstStyle/>
          <a:p>
            <a:pPr indent="0" marL="0">
              <a:buNone/>
            </a:pPr>
            <a:r>
              <a:rPr lang="en-US" sz="900" dirty="0">
                <a:solidFill>
                  <a:srgbClr val="64748B"/>
                </a:solidFill>
              </a:rPr>
              <a:t>Población con derecho a voto según censo oficial del INE.</a:t>
            </a:r>
            <a:endParaRPr lang="en-US" sz="900" dirty="0"/>
          </a:p>
        </p:txBody>
      </p:sp>
      <p:sp>
        <p:nvSpPr>
          <p:cNvPr id="11" name="Shape 9"/>
          <p:cNvSpPr/>
          <p:nvPr/>
        </p:nvSpPr>
        <p:spPr>
          <a:xfrm>
            <a:off x="3429000" y="2011680"/>
            <a:ext cx="2514600" cy="1737360"/>
          </a:xfrm>
          <a:prstGeom prst="roundRect">
            <a:avLst>
              <a:gd name="adj" fmla="val 6316"/>
            </a:avLst>
          </a:prstGeom>
          <a:solidFill>
            <a:srgbClr val="F8FAFC"/>
          </a:solidFill>
          <a:ln w="12700">
            <a:solidFill>
              <a:srgbClr val="E2E8F0"/>
            </a:solidFill>
            <a:prstDash val="solid"/>
          </a:ln>
        </p:spPr>
      </p:sp>
      <p:sp>
        <p:nvSpPr>
          <p:cNvPr id="12" name="Text 10"/>
          <p:cNvSpPr/>
          <p:nvPr/>
        </p:nvSpPr>
        <p:spPr>
          <a:xfrm>
            <a:off x="3566160" y="2148840"/>
            <a:ext cx="2240280" cy="320040"/>
          </a:xfrm>
          <a:prstGeom prst="rect">
            <a:avLst/>
          </a:prstGeom>
          <a:noFill/>
          <a:ln/>
        </p:spPr>
        <p:txBody>
          <a:bodyPr wrap="square" rtlCol="0" anchor="ctr"/>
          <a:lstStyle/>
          <a:p>
            <a:pPr indent="0" marL="0">
              <a:buNone/>
            </a:pPr>
            <a:r>
              <a:rPr lang="en-US" sz="850" b="1" dirty="0">
                <a:solidFill>
                  <a:srgbClr val="0284C7"/>
                </a:solidFill>
              </a:rPr>
              <a:t>PARTICIPACIÓN EFECTIVA</a:t>
            </a:r>
            <a:endParaRPr lang="en-US" sz="850" dirty="0"/>
          </a:p>
        </p:txBody>
      </p:sp>
      <p:sp>
        <p:nvSpPr>
          <p:cNvPr id="13" name="Text 11"/>
          <p:cNvSpPr/>
          <p:nvPr/>
        </p:nvSpPr>
        <p:spPr>
          <a:xfrm>
            <a:off x="3566160" y="2468880"/>
            <a:ext cx="2240280" cy="411480"/>
          </a:xfrm>
          <a:prstGeom prst="rect">
            <a:avLst/>
          </a:prstGeom>
          <a:noFill/>
          <a:ln/>
        </p:spPr>
        <p:txBody>
          <a:bodyPr wrap="square" rtlCol="0" anchor="ctr"/>
          <a:lstStyle/>
          <a:p>
            <a:pPr indent="0" marL="0">
              <a:buNone/>
            </a:pPr>
            <a:r>
              <a:rPr lang="en-US" sz="1200" b="1" dirty="0">
                <a:solidFill>
                  <a:srgbClr val="0F172A"/>
                </a:solidFill>
              </a:rPr>
              <a:t>Votos Válidos</a:t>
            </a:r>
            <a:endParaRPr lang="en-US" sz="1200" dirty="0"/>
          </a:p>
        </p:txBody>
      </p:sp>
      <p:sp>
        <p:nvSpPr>
          <p:cNvPr id="14" name="Text 12"/>
          <p:cNvSpPr/>
          <p:nvPr/>
        </p:nvSpPr>
        <p:spPr>
          <a:xfrm>
            <a:off x="3566160" y="2880360"/>
            <a:ext cx="2240280" cy="731520"/>
          </a:xfrm>
          <a:prstGeom prst="rect">
            <a:avLst/>
          </a:prstGeom>
          <a:noFill/>
          <a:ln/>
        </p:spPr>
        <p:txBody>
          <a:bodyPr wrap="square" rtlCol="0" anchor="ctr"/>
          <a:lstStyle/>
          <a:p>
            <a:pPr indent="0" marL="0">
              <a:buNone/>
            </a:pPr>
            <a:r>
              <a:rPr lang="en-US" sz="900" dirty="0">
                <a:solidFill>
                  <a:srgbClr val="64748B"/>
                </a:solidFill>
              </a:rPr>
              <a:t>Votos a candidaturas que determinan el reparto de concejales.</a:t>
            </a:r>
            <a:endParaRPr lang="en-US" sz="900" dirty="0"/>
          </a:p>
        </p:txBody>
      </p:sp>
      <p:sp>
        <p:nvSpPr>
          <p:cNvPr id="15" name="Shape 13"/>
          <p:cNvSpPr/>
          <p:nvPr/>
        </p:nvSpPr>
        <p:spPr>
          <a:xfrm>
            <a:off x="6126480" y="2011680"/>
            <a:ext cx="2514600" cy="1737360"/>
          </a:xfrm>
          <a:prstGeom prst="roundRect">
            <a:avLst>
              <a:gd name="adj" fmla="val 6316"/>
            </a:avLst>
          </a:prstGeom>
          <a:solidFill>
            <a:srgbClr val="F8FAFC"/>
          </a:solidFill>
          <a:ln w="12700">
            <a:solidFill>
              <a:srgbClr val="E2E8F0"/>
            </a:solidFill>
            <a:prstDash val="solid"/>
          </a:ln>
        </p:spPr>
      </p:sp>
      <p:sp>
        <p:nvSpPr>
          <p:cNvPr id="16" name="Text 14"/>
          <p:cNvSpPr/>
          <p:nvPr/>
        </p:nvSpPr>
        <p:spPr>
          <a:xfrm>
            <a:off x="6263640" y="2148840"/>
            <a:ext cx="2240280" cy="320040"/>
          </a:xfrm>
          <a:prstGeom prst="rect">
            <a:avLst/>
          </a:prstGeom>
          <a:noFill/>
          <a:ln/>
        </p:spPr>
        <p:txBody>
          <a:bodyPr wrap="square" rtlCol="0" anchor="ctr"/>
          <a:lstStyle/>
          <a:p>
            <a:pPr indent="0" marL="0">
              <a:buNone/>
            </a:pPr>
            <a:r>
              <a:rPr lang="en-US" sz="850" b="1" dirty="0">
                <a:solidFill>
                  <a:srgbClr val="0284C7"/>
                </a:solidFill>
              </a:rPr>
              <a:t>ABSTENCIÓN REGISTRADA</a:t>
            </a:r>
            <a:endParaRPr lang="en-US" sz="850" dirty="0"/>
          </a:p>
        </p:txBody>
      </p:sp>
      <p:sp>
        <p:nvSpPr>
          <p:cNvPr id="17" name="Text 15"/>
          <p:cNvSpPr/>
          <p:nvPr/>
        </p:nvSpPr>
        <p:spPr>
          <a:xfrm>
            <a:off x="6263640" y="2468880"/>
            <a:ext cx="2240280" cy="411480"/>
          </a:xfrm>
          <a:prstGeom prst="rect">
            <a:avLst/>
          </a:prstGeom>
          <a:noFill/>
          <a:ln/>
        </p:spPr>
        <p:txBody>
          <a:bodyPr wrap="square" rtlCol="0" anchor="ctr"/>
          <a:lstStyle/>
          <a:p>
            <a:pPr indent="0" marL="0">
              <a:buNone/>
            </a:pPr>
            <a:r>
              <a:rPr lang="en-US" sz="1200" b="1" dirty="0">
                <a:solidFill>
                  <a:srgbClr val="0F172A"/>
                </a:solidFill>
              </a:rPr>
              <a:t>Bolsa Oculta</a:t>
            </a:r>
            <a:endParaRPr lang="en-US" sz="1200" dirty="0"/>
          </a:p>
        </p:txBody>
      </p:sp>
      <p:sp>
        <p:nvSpPr>
          <p:cNvPr id="18" name="Text 16"/>
          <p:cNvSpPr/>
          <p:nvPr/>
        </p:nvSpPr>
        <p:spPr>
          <a:xfrm>
            <a:off x="6263640" y="2880360"/>
            <a:ext cx="2240280" cy="731520"/>
          </a:xfrm>
          <a:prstGeom prst="rect">
            <a:avLst/>
          </a:prstGeom>
          <a:noFill/>
          <a:ln/>
        </p:spPr>
        <p:txBody>
          <a:bodyPr wrap="square" rtlCol="0" anchor="ctr"/>
          <a:lstStyle/>
          <a:p>
            <a:pPr indent="0" marL="0">
              <a:buNone/>
            </a:pPr>
            <a:r>
              <a:rPr lang="en-US" sz="900" dirty="0">
                <a:solidFill>
                  <a:srgbClr val="64748B"/>
                </a:solidFill>
              </a:rPr>
              <a:t>Votantes que no acudieron: el mayor potencial de crecimiento.</a:t>
            </a:r>
            <a:endParaRPr lang="en-US" sz="900" dirty="0"/>
          </a:p>
        </p:txBody>
      </p:sp>
      <p:sp>
        <p:nvSpPr>
          <p:cNvPr id="19" name="Shape 17"/>
          <p:cNvSpPr/>
          <p:nvPr/>
        </p:nvSpPr>
        <p:spPr>
          <a:xfrm>
            <a:off x="8823960" y="2011680"/>
            <a:ext cx="2514600" cy="1737360"/>
          </a:xfrm>
          <a:prstGeom prst="roundRect">
            <a:avLst>
              <a:gd name="adj" fmla="val 6316"/>
            </a:avLst>
          </a:prstGeom>
          <a:solidFill>
            <a:srgbClr val="F8FAFC"/>
          </a:solidFill>
          <a:ln w="12700">
            <a:solidFill>
              <a:srgbClr val="E2E8F0"/>
            </a:solidFill>
            <a:prstDash val="solid"/>
          </a:ln>
        </p:spPr>
      </p:sp>
      <p:sp>
        <p:nvSpPr>
          <p:cNvPr id="20" name="Text 18"/>
          <p:cNvSpPr/>
          <p:nvPr/>
        </p:nvSpPr>
        <p:spPr>
          <a:xfrm>
            <a:off x="8961120" y="2148840"/>
            <a:ext cx="2240280" cy="320040"/>
          </a:xfrm>
          <a:prstGeom prst="rect">
            <a:avLst/>
          </a:prstGeom>
          <a:noFill/>
          <a:ln/>
        </p:spPr>
        <p:txBody>
          <a:bodyPr wrap="square" rtlCol="0" anchor="ctr"/>
          <a:lstStyle/>
          <a:p>
            <a:pPr indent="0" marL="0">
              <a:buNone/>
            </a:pPr>
            <a:r>
              <a:rPr lang="en-US" sz="850" b="1" dirty="0">
                <a:solidFill>
                  <a:srgbClr val="0284C7"/>
                </a:solidFill>
              </a:rPr>
              <a:t>VOTOS EN BLANCO Y NULOS</a:t>
            </a:r>
            <a:endParaRPr lang="en-US" sz="850" dirty="0"/>
          </a:p>
        </p:txBody>
      </p:sp>
      <p:sp>
        <p:nvSpPr>
          <p:cNvPr id="21" name="Text 19"/>
          <p:cNvSpPr/>
          <p:nvPr/>
        </p:nvSpPr>
        <p:spPr>
          <a:xfrm>
            <a:off x="8961120" y="2468880"/>
            <a:ext cx="2240280" cy="411480"/>
          </a:xfrm>
          <a:prstGeom prst="rect">
            <a:avLst/>
          </a:prstGeom>
          <a:noFill/>
          <a:ln/>
        </p:spPr>
        <p:txBody>
          <a:bodyPr wrap="square" rtlCol="0" anchor="ctr"/>
          <a:lstStyle/>
          <a:p>
            <a:pPr indent="0" marL="0">
              <a:buNone/>
            </a:pPr>
            <a:r>
              <a:rPr lang="en-US" sz="1200" b="1" dirty="0">
                <a:solidFill>
                  <a:srgbClr val="0F172A"/>
                </a:solidFill>
              </a:rPr>
              <a:t>Voto Crítico</a:t>
            </a:r>
            <a:endParaRPr lang="en-US" sz="1200" dirty="0"/>
          </a:p>
        </p:txBody>
      </p:sp>
      <p:sp>
        <p:nvSpPr>
          <p:cNvPr id="22" name="Text 20"/>
          <p:cNvSpPr/>
          <p:nvPr/>
        </p:nvSpPr>
        <p:spPr>
          <a:xfrm>
            <a:off x="8961120" y="2880360"/>
            <a:ext cx="2240280" cy="731520"/>
          </a:xfrm>
          <a:prstGeom prst="rect">
            <a:avLst/>
          </a:prstGeom>
          <a:noFill/>
          <a:ln/>
        </p:spPr>
        <p:txBody>
          <a:bodyPr wrap="square" rtlCol="0" anchor="ctr"/>
          <a:lstStyle/>
          <a:p>
            <a:pPr indent="0" marL="0">
              <a:buNone/>
            </a:pPr>
            <a:r>
              <a:rPr lang="en-US" sz="900" dirty="0">
                <a:solidFill>
                  <a:srgbClr val="64748B"/>
                </a:solidFill>
              </a:rPr>
              <a:t>Voto de descontento que influye en los porcentajes finales.</a:t>
            </a:r>
            <a:endParaRPr lang="en-US" sz="900" dirty="0"/>
          </a:p>
        </p:txBody>
      </p:sp>
      <p:sp>
        <p:nvSpPr>
          <p:cNvPr id="23" name="Shape 21"/>
          <p:cNvSpPr/>
          <p:nvPr/>
        </p:nvSpPr>
        <p:spPr>
          <a:xfrm>
            <a:off x="731520" y="4023360"/>
            <a:ext cx="10652760" cy="2103120"/>
          </a:xfrm>
          <a:prstGeom prst="roundRect">
            <a:avLst>
              <a:gd name="adj" fmla="val 6522"/>
            </a:avLst>
          </a:prstGeom>
          <a:solidFill>
            <a:srgbClr val="F0F9FF"/>
          </a:solidFill>
          <a:ln w="12700">
            <a:solidFill>
              <a:srgbClr val="BAE6FD"/>
            </a:solidFill>
            <a:prstDash val="solid"/>
          </a:ln>
        </p:spPr>
      </p:sp>
      <p:sp>
        <p:nvSpPr>
          <p:cNvPr id="24" name="Text 22"/>
          <p:cNvSpPr/>
          <p:nvPr/>
        </p:nvSpPr>
        <p:spPr>
          <a:xfrm>
            <a:off x="1005840" y="4206240"/>
            <a:ext cx="10058400" cy="320040"/>
          </a:xfrm>
          <a:prstGeom prst="rect">
            <a:avLst/>
          </a:prstGeom>
          <a:noFill/>
          <a:ln/>
        </p:spPr>
        <p:txBody>
          <a:bodyPr wrap="square" rtlCol="0" anchor="ctr"/>
          <a:lstStyle/>
          <a:p>
            <a:pPr indent="0" marL="0">
              <a:buNone/>
            </a:pPr>
            <a:r>
              <a:rPr lang="en-US" sz="1100" b="1" dirty="0">
                <a:solidFill>
                  <a:srgbClr val="0369A1"/>
                </a:solidFill>
              </a:rPr>
              <a:t>VALOR ESTRATÉGICO DE LA LÍNEA BASE:</a:t>
            </a:r>
            <a:endParaRPr lang="en-US" sz="1100" dirty="0"/>
          </a:p>
        </p:txBody>
      </p:sp>
      <p:sp>
        <p:nvSpPr>
          <p:cNvPr id="25" name="Text 23"/>
          <p:cNvSpPr/>
          <p:nvPr/>
        </p:nvSpPr>
        <p:spPr>
          <a:xfrm>
            <a:off x="1005840" y="4572000"/>
            <a:ext cx="10058400" cy="1371600"/>
          </a:xfrm>
          <a:prstGeom prst="rect">
            <a:avLst/>
          </a:prstGeom>
          <a:noFill/>
          <a:ln/>
        </p:spPr>
        <p:txBody>
          <a:bodyPr wrap="square" rtlCol="0" anchor="ctr"/>
          <a:lstStyle/>
          <a:p>
            <a:pPr indent="0" marL="0">
              <a:lnSpc>
                <a:spcPts val="2200"/>
              </a:lnSpc>
              <a:buNone/>
            </a:pPr>
            <a:r>
              <a:rPr lang="en-US" sz="1000" dirty="0">
                <a:solidFill>
                  <a:srgbClr val="334155"/>
                </a:solidFill>
              </a:rPr>
              <a:t>• Permite conocer el "suelo" y el "techo" electoral de cada partido en el municipio.</a:t>
            </a:r>
            <a:endParaRPr lang="en-US" sz="1000" dirty="0"/>
          </a:p>
          <a:p>
            <a:pPr indent="0" marL="0">
              <a:lnSpc>
                <a:spcPts val="2200"/>
              </a:lnSpc>
              <a:buNone/>
            </a:pPr>
            <a:r>
              <a:rPr lang="en-US" sz="1000" dirty="0">
                <a:solidFill>
                  <a:srgbClr val="334155"/>
                </a:solidFill>
              </a:rPr>
              <a:t>• Muestra con exactitud a qué distancia quedó cada lista del concejal que perdió o ganó en el último cociente.</a:t>
            </a:r>
            <a:endParaRPr lang="en-US" sz="1000" dirty="0"/>
          </a:p>
          <a:p>
            <a:pPr indent="0" marL="0">
              <a:lnSpc>
                <a:spcPts val="2200"/>
              </a:lnSpc>
              <a:buNone/>
            </a:pPr>
            <a:r>
              <a:rPr lang="en-US" sz="1000" dirty="0">
                <a:solidFill>
                  <a:srgbClr val="334155"/>
                </a:solidFill>
              </a:rPr>
              <a:t>• Identifica si la victoria depende de convencer a votantes de otros partidos o de movilizar a la bolsa de abstención.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31520" y="457200"/>
            <a:ext cx="2560320" cy="320040"/>
          </a:xfrm>
          <a:prstGeom prst="roundRect">
            <a:avLst>
              <a:gd name="adj" fmla="val 28571"/>
            </a:avLst>
          </a:prstGeom>
          <a:solidFill>
            <a:srgbClr val="7C3AED"/>
          </a:solidFill>
          <a:ln/>
        </p:spPr>
      </p:sp>
      <p:sp>
        <p:nvSpPr>
          <p:cNvPr id="3" name="Text 1"/>
          <p:cNvSpPr/>
          <p:nvPr/>
        </p:nvSpPr>
        <p:spPr>
          <a:xfrm>
            <a:off x="731520" y="457200"/>
            <a:ext cx="2560320" cy="320040"/>
          </a:xfrm>
          <a:prstGeom prst="rect">
            <a:avLst/>
          </a:prstGeom>
          <a:noFill/>
          <a:ln/>
        </p:spPr>
        <p:txBody>
          <a:bodyPr wrap="square" rtlCol="0" anchor="ctr"/>
          <a:lstStyle/>
          <a:p>
            <a:pPr algn="ctr" indent="0" marL="0">
              <a:buNone/>
            </a:pPr>
            <a:r>
              <a:rPr lang="en-US" sz="1000" b="1" dirty="0">
                <a:solidFill>
                  <a:srgbClr val="FFFFFF"/>
                </a:solidFill>
              </a:rPr>
              <a:t>INTELIGENCIA POLÍTICA</a:t>
            </a:r>
            <a:endParaRPr lang="en-US" sz="1000" dirty="0"/>
          </a:p>
        </p:txBody>
      </p:sp>
      <p:sp>
        <p:nvSpPr>
          <p:cNvPr id="4" name="Text 2"/>
          <p:cNvSpPr/>
          <p:nvPr/>
        </p:nvSpPr>
        <p:spPr>
          <a:xfrm>
            <a:off x="731520" y="868680"/>
            <a:ext cx="10515600" cy="548640"/>
          </a:xfrm>
          <a:prstGeom prst="rect">
            <a:avLst/>
          </a:prstGeom>
          <a:noFill/>
          <a:ln/>
        </p:spPr>
        <p:txBody>
          <a:bodyPr wrap="square" rtlCol="0" anchor="ctr"/>
          <a:lstStyle/>
          <a:p>
            <a:pPr indent="0" marL="0">
              <a:buNone/>
            </a:pPr>
            <a:r>
              <a:rPr lang="en-US" sz="2200" b="1" dirty="0">
                <a:solidFill>
                  <a:srgbClr val="0F172A"/>
                </a:solidFill>
              </a:rPr>
              <a:t>Mapeo de Candidaturas y Rivales</a:t>
            </a:r>
            <a:endParaRPr lang="en-US" sz="2200" dirty="0"/>
          </a:p>
        </p:txBody>
      </p:sp>
      <p:sp>
        <p:nvSpPr>
          <p:cNvPr id="5" name="Text 3"/>
          <p:cNvSpPr/>
          <p:nvPr/>
        </p:nvSpPr>
        <p:spPr>
          <a:xfrm>
            <a:off x="731520" y="1371600"/>
            <a:ext cx="10515600" cy="365760"/>
          </a:xfrm>
          <a:prstGeom prst="rect">
            <a:avLst/>
          </a:prstGeom>
          <a:noFill/>
          <a:ln/>
        </p:spPr>
        <p:txBody>
          <a:bodyPr wrap="square" rtlCol="0" anchor="ctr"/>
          <a:lstStyle/>
          <a:p>
            <a:pPr indent="0" marL="0">
              <a:buNone/>
            </a:pPr>
            <a:r>
              <a:rPr lang="en-US" sz="1200" dirty="0">
                <a:solidFill>
                  <a:srgbClr val="64748B"/>
                </a:solidFill>
              </a:rPr>
              <a:t>Separación epistemológica rigurosa en 4 niveles de certeza</a:t>
            </a:r>
            <a:endParaRPr lang="en-US" sz="1200" dirty="0"/>
          </a:p>
        </p:txBody>
      </p:sp>
      <p:sp>
        <p:nvSpPr>
          <p:cNvPr id="6" name="Shape 4"/>
          <p:cNvSpPr/>
          <p:nvPr/>
        </p:nvSpPr>
        <p:spPr>
          <a:xfrm>
            <a:off x="731520" y="1783080"/>
            <a:ext cx="10698480" cy="0"/>
          </a:xfrm>
          <a:prstGeom prst="line">
            <a:avLst/>
          </a:prstGeom>
          <a:noFill/>
          <a:ln w="19050">
            <a:solidFill>
              <a:srgbClr val="E2E8F0"/>
            </a:solidFill>
            <a:prstDash val="solid"/>
          </a:ln>
        </p:spPr>
      </p:sp>
      <p:sp>
        <p:nvSpPr>
          <p:cNvPr id="7" name="Shape 5"/>
          <p:cNvSpPr/>
          <p:nvPr/>
        </p:nvSpPr>
        <p:spPr>
          <a:xfrm>
            <a:off x="731520" y="2011680"/>
            <a:ext cx="2514600" cy="4206240"/>
          </a:xfrm>
          <a:prstGeom prst="roundRect">
            <a:avLst>
              <a:gd name="adj" fmla="val 5455"/>
            </a:avLst>
          </a:prstGeom>
          <a:solidFill>
            <a:srgbClr val="0F172A"/>
          </a:solidFill>
          <a:ln w="12700">
            <a:solidFill>
              <a:srgbClr val="334155"/>
            </a:solidFill>
            <a:prstDash val="solid"/>
          </a:ln>
        </p:spPr>
      </p:sp>
      <p:sp>
        <p:nvSpPr>
          <p:cNvPr id="8" name="Text 6"/>
          <p:cNvSpPr/>
          <p:nvPr/>
        </p:nvSpPr>
        <p:spPr>
          <a:xfrm>
            <a:off x="914400" y="2194560"/>
            <a:ext cx="2148840" cy="274320"/>
          </a:xfrm>
          <a:prstGeom prst="rect">
            <a:avLst/>
          </a:prstGeom>
          <a:noFill/>
          <a:ln/>
        </p:spPr>
        <p:txBody>
          <a:bodyPr wrap="square" rtlCol="0" anchor="ctr"/>
          <a:lstStyle/>
          <a:p>
            <a:pPr indent="0" marL="0">
              <a:buNone/>
            </a:pPr>
            <a:r>
              <a:rPr lang="en-US" sz="900" b="1" dirty="0">
                <a:solidFill>
                  <a:srgbClr val="10B981"/>
                </a:solidFill>
              </a:rPr>
              <a:t>NIVEL 1</a:t>
            </a:r>
            <a:endParaRPr lang="en-US" sz="900" dirty="0"/>
          </a:p>
        </p:txBody>
      </p:sp>
      <p:sp>
        <p:nvSpPr>
          <p:cNvPr id="9" name="Text 7"/>
          <p:cNvSpPr/>
          <p:nvPr/>
        </p:nvSpPr>
        <p:spPr>
          <a:xfrm>
            <a:off x="914400" y="2514600"/>
            <a:ext cx="2148840" cy="457200"/>
          </a:xfrm>
          <a:prstGeom prst="rect">
            <a:avLst/>
          </a:prstGeom>
          <a:noFill/>
          <a:ln/>
        </p:spPr>
        <p:txBody>
          <a:bodyPr wrap="square" rtlCol="0" anchor="ctr"/>
          <a:lstStyle/>
          <a:p>
            <a:pPr indent="0" marL="0">
              <a:buNone/>
            </a:pPr>
            <a:r>
              <a:rPr lang="en-US" sz="1200" b="1" dirty="0">
                <a:solidFill>
                  <a:srgbClr val="FFFFFF"/>
                </a:solidFill>
              </a:rPr>
              <a:t>📊 Dato Confirmado</a:t>
            </a:r>
            <a:endParaRPr lang="en-US" sz="1200" dirty="0"/>
          </a:p>
        </p:txBody>
      </p:sp>
      <p:sp>
        <p:nvSpPr>
          <p:cNvPr id="10" name="Text 8"/>
          <p:cNvSpPr/>
          <p:nvPr/>
        </p:nvSpPr>
        <p:spPr>
          <a:xfrm>
            <a:off x="914400" y="3063240"/>
            <a:ext cx="2148840" cy="1828800"/>
          </a:xfrm>
          <a:prstGeom prst="rect">
            <a:avLst/>
          </a:prstGeom>
          <a:noFill/>
          <a:ln/>
        </p:spPr>
        <p:txBody>
          <a:bodyPr wrap="square" rtlCol="0" anchor="ctr"/>
          <a:lstStyle/>
          <a:p>
            <a:pPr indent="0" marL="0">
              <a:buNone/>
            </a:pPr>
            <a:r>
              <a:rPr lang="en-US" sz="1000" dirty="0">
                <a:solidFill>
                  <a:srgbClr val="CBD5E1"/>
                </a:solidFill>
              </a:rPr>
              <a:t>Escrutinio oficial LOREG 2023, actas de escrutinio general y concejales obtenidos legalmente.</a:t>
            </a:r>
            <a:endParaRPr lang="en-US" sz="1000" dirty="0"/>
          </a:p>
        </p:txBody>
      </p:sp>
      <p:sp>
        <p:nvSpPr>
          <p:cNvPr id="11" name="Shape 9"/>
          <p:cNvSpPr/>
          <p:nvPr/>
        </p:nvSpPr>
        <p:spPr>
          <a:xfrm>
            <a:off x="3429000" y="2011680"/>
            <a:ext cx="2514600" cy="4206240"/>
          </a:xfrm>
          <a:prstGeom prst="roundRect">
            <a:avLst>
              <a:gd name="adj" fmla="val 5455"/>
            </a:avLst>
          </a:prstGeom>
          <a:solidFill>
            <a:srgbClr val="0F172A"/>
          </a:solidFill>
          <a:ln w="12700">
            <a:solidFill>
              <a:srgbClr val="334155"/>
            </a:solidFill>
            <a:prstDash val="solid"/>
          </a:ln>
        </p:spPr>
      </p:sp>
      <p:sp>
        <p:nvSpPr>
          <p:cNvPr id="12" name="Text 10"/>
          <p:cNvSpPr/>
          <p:nvPr/>
        </p:nvSpPr>
        <p:spPr>
          <a:xfrm>
            <a:off x="3611880" y="2194560"/>
            <a:ext cx="2148840" cy="274320"/>
          </a:xfrm>
          <a:prstGeom prst="rect">
            <a:avLst/>
          </a:prstGeom>
          <a:noFill/>
          <a:ln/>
        </p:spPr>
        <p:txBody>
          <a:bodyPr wrap="square" rtlCol="0" anchor="ctr"/>
          <a:lstStyle/>
          <a:p>
            <a:pPr indent="0" marL="0">
              <a:buNone/>
            </a:pPr>
            <a:r>
              <a:rPr lang="en-US" sz="900" b="1" dirty="0">
                <a:solidFill>
                  <a:srgbClr val="60A5FA"/>
                </a:solidFill>
              </a:rPr>
              <a:t>NIVEL 2</a:t>
            </a:r>
            <a:endParaRPr lang="en-US" sz="900" dirty="0"/>
          </a:p>
        </p:txBody>
      </p:sp>
      <p:sp>
        <p:nvSpPr>
          <p:cNvPr id="13" name="Text 11"/>
          <p:cNvSpPr/>
          <p:nvPr/>
        </p:nvSpPr>
        <p:spPr>
          <a:xfrm>
            <a:off x="3611880" y="2514600"/>
            <a:ext cx="2148840" cy="457200"/>
          </a:xfrm>
          <a:prstGeom prst="rect">
            <a:avLst/>
          </a:prstGeom>
          <a:noFill/>
          <a:ln/>
        </p:spPr>
        <p:txBody>
          <a:bodyPr wrap="square" rtlCol="0" anchor="ctr"/>
          <a:lstStyle/>
          <a:p>
            <a:pPr indent="0" marL="0">
              <a:buNone/>
            </a:pPr>
            <a:r>
              <a:rPr lang="en-US" sz="1200" b="1" dirty="0">
                <a:solidFill>
                  <a:srgbClr val="FFFFFF"/>
                </a:solidFill>
              </a:rPr>
              <a:t>📢 Información Pública</a:t>
            </a:r>
            <a:endParaRPr lang="en-US" sz="1200" dirty="0"/>
          </a:p>
        </p:txBody>
      </p:sp>
      <p:sp>
        <p:nvSpPr>
          <p:cNvPr id="14" name="Text 12"/>
          <p:cNvSpPr/>
          <p:nvPr/>
        </p:nvSpPr>
        <p:spPr>
          <a:xfrm>
            <a:off x="3611880" y="3063240"/>
            <a:ext cx="2148840" cy="1828800"/>
          </a:xfrm>
          <a:prstGeom prst="rect">
            <a:avLst/>
          </a:prstGeom>
          <a:noFill/>
          <a:ln/>
        </p:spPr>
        <p:txBody>
          <a:bodyPr wrap="square" rtlCol="0" anchor="ctr"/>
          <a:lstStyle/>
          <a:p>
            <a:pPr indent="0" marL="0">
              <a:buNone/>
            </a:pPr>
            <a:r>
              <a:rPr lang="en-US" sz="1000" dirty="0">
                <a:solidFill>
                  <a:srgbClr val="CBD5E1"/>
                </a:solidFill>
              </a:rPr>
              <a:t>Declaraciones en prensa, notas oficiales, publicaciones en redes y votos en plenos municipales.</a:t>
            </a:r>
            <a:endParaRPr lang="en-US" sz="1000" dirty="0"/>
          </a:p>
        </p:txBody>
      </p:sp>
      <p:sp>
        <p:nvSpPr>
          <p:cNvPr id="15" name="Shape 13"/>
          <p:cNvSpPr/>
          <p:nvPr/>
        </p:nvSpPr>
        <p:spPr>
          <a:xfrm>
            <a:off x="6126480" y="2011680"/>
            <a:ext cx="2514600" cy="4206240"/>
          </a:xfrm>
          <a:prstGeom prst="roundRect">
            <a:avLst>
              <a:gd name="adj" fmla="val 5455"/>
            </a:avLst>
          </a:prstGeom>
          <a:solidFill>
            <a:srgbClr val="0F172A"/>
          </a:solidFill>
          <a:ln w="12700">
            <a:solidFill>
              <a:srgbClr val="334155"/>
            </a:solidFill>
            <a:prstDash val="solid"/>
          </a:ln>
        </p:spPr>
      </p:sp>
      <p:sp>
        <p:nvSpPr>
          <p:cNvPr id="16" name="Text 14"/>
          <p:cNvSpPr/>
          <p:nvPr/>
        </p:nvSpPr>
        <p:spPr>
          <a:xfrm>
            <a:off x="6309360" y="2194560"/>
            <a:ext cx="2148840" cy="274320"/>
          </a:xfrm>
          <a:prstGeom prst="rect">
            <a:avLst/>
          </a:prstGeom>
          <a:noFill/>
          <a:ln/>
        </p:spPr>
        <p:txBody>
          <a:bodyPr wrap="square" rtlCol="0" anchor="ctr"/>
          <a:lstStyle/>
          <a:p>
            <a:pPr indent="0" marL="0">
              <a:buNone/>
            </a:pPr>
            <a:r>
              <a:rPr lang="en-US" sz="900" b="1" dirty="0">
                <a:solidFill>
                  <a:srgbClr val="FBBF24"/>
                </a:solidFill>
              </a:rPr>
              <a:t>NIVEL 3</a:t>
            </a:r>
            <a:endParaRPr lang="en-US" sz="900" dirty="0"/>
          </a:p>
        </p:txBody>
      </p:sp>
      <p:sp>
        <p:nvSpPr>
          <p:cNvPr id="17" name="Text 15"/>
          <p:cNvSpPr/>
          <p:nvPr/>
        </p:nvSpPr>
        <p:spPr>
          <a:xfrm>
            <a:off x="6309360" y="2514600"/>
            <a:ext cx="2148840" cy="457200"/>
          </a:xfrm>
          <a:prstGeom prst="rect">
            <a:avLst/>
          </a:prstGeom>
          <a:noFill/>
          <a:ln/>
        </p:spPr>
        <p:txBody>
          <a:bodyPr wrap="square" rtlCol="0" anchor="ctr"/>
          <a:lstStyle/>
          <a:p>
            <a:pPr indent="0" marL="0">
              <a:buNone/>
            </a:pPr>
            <a:r>
              <a:rPr lang="en-US" sz="1200" b="1" dirty="0">
                <a:solidFill>
                  <a:srgbClr val="FFFFFF"/>
                </a:solidFill>
              </a:rPr>
              <a:t>🧠 Valoración del Equipo</a:t>
            </a:r>
            <a:endParaRPr lang="en-US" sz="1200" dirty="0"/>
          </a:p>
        </p:txBody>
      </p:sp>
      <p:sp>
        <p:nvSpPr>
          <p:cNvPr id="18" name="Text 16"/>
          <p:cNvSpPr/>
          <p:nvPr/>
        </p:nvSpPr>
        <p:spPr>
          <a:xfrm>
            <a:off x="6309360" y="3063240"/>
            <a:ext cx="2148840" cy="1828800"/>
          </a:xfrm>
          <a:prstGeom prst="rect">
            <a:avLst/>
          </a:prstGeom>
          <a:noFill/>
          <a:ln/>
        </p:spPr>
        <p:txBody>
          <a:bodyPr wrap="square" rtlCol="0" anchor="ctr"/>
          <a:lstStyle/>
          <a:p>
            <a:pPr indent="0" marL="0">
              <a:buNone/>
            </a:pPr>
            <a:r>
              <a:rPr lang="en-US" sz="1000" dirty="0">
                <a:solidFill>
                  <a:srgbClr val="CBD5E1"/>
                </a:solidFill>
              </a:rPr>
              <a:t>Análisis cualitativo interno de fortalezas, debilidades y puntos vulnerables de cada candidatura rival.</a:t>
            </a:r>
            <a:endParaRPr lang="en-US" sz="1000" dirty="0"/>
          </a:p>
        </p:txBody>
      </p:sp>
      <p:sp>
        <p:nvSpPr>
          <p:cNvPr id="19" name="Shape 17"/>
          <p:cNvSpPr/>
          <p:nvPr/>
        </p:nvSpPr>
        <p:spPr>
          <a:xfrm>
            <a:off x="8823960" y="2011680"/>
            <a:ext cx="2514600" cy="4206240"/>
          </a:xfrm>
          <a:prstGeom prst="roundRect">
            <a:avLst>
              <a:gd name="adj" fmla="val 5455"/>
            </a:avLst>
          </a:prstGeom>
          <a:solidFill>
            <a:srgbClr val="0F172A"/>
          </a:solidFill>
          <a:ln w="12700">
            <a:solidFill>
              <a:srgbClr val="334155"/>
            </a:solidFill>
            <a:prstDash val="solid"/>
          </a:ln>
        </p:spPr>
      </p:sp>
      <p:sp>
        <p:nvSpPr>
          <p:cNvPr id="20" name="Text 18"/>
          <p:cNvSpPr/>
          <p:nvPr/>
        </p:nvSpPr>
        <p:spPr>
          <a:xfrm>
            <a:off x="9006840" y="2194560"/>
            <a:ext cx="2148840" cy="274320"/>
          </a:xfrm>
          <a:prstGeom prst="rect">
            <a:avLst/>
          </a:prstGeom>
          <a:noFill/>
          <a:ln/>
        </p:spPr>
        <p:txBody>
          <a:bodyPr wrap="square" rtlCol="0" anchor="ctr"/>
          <a:lstStyle/>
          <a:p>
            <a:pPr indent="0" marL="0">
              <a:buNone/>
            </a:pPr>
            <a:r>
              <a:rPr lang="en-US" sz="900" b="1" dirty="0">
                <a:solidFill>
                  <a:srgbClr val="C084FC"/>
                </a:solidFill>
              </a:rPr>
              <a:t>NIVEL 4</a:t>
            </a:r>
            <a:endParaRPr lang="en-US" sz="900" dirty="0"/>
          </a:p>
        </p:txBody>
      </p:sp>
      <p:sp>
        <p:nvSpPr>
          <p:cNvPr id="21" name="Text 19"/>
          <p:cNvSpPr/>
          <p:nvPr/>
        </p:nvSpPr>
        <p:spPr>
          <a:xfrm>
            <a:off x="9006840" y="2514600"/>
            <a:ext cx="2148840" cy="457200"/>
          </a:xfrm>
          <a:prstGeom prst="rect">
            <a:avLst/>
          </a:prstGeom>
          <a:noFill/>
          <a:ln/>
        </p:spPr>
        <p:txBody>
          <a:bodyPr wrap="square" rtlCol="0" anchor="ctr"/>
          <a:lstStyle/>
          <a:p>
            <a:pPr indent="0" marL="0">
              <a:buNone/>
            </a:pPr>
            <a:r>
              <a:rPr lang="en-US" sz="1200" b="1" dirty="0">
                <a:solidFill>
                  <a:srgbClr val="FFFFFF"/>
                </a:solidFill>
              </a:rPr>
              <a:t>🔮 Hipótesis de Trabajo</a:t>
            </a:r>
            <a:endParaRPr lang="en-US" sz="1200" dirty="0"/>
          </a:p>
        </p:txBody>
      </p:sp>
      <p:sp>
        <p:nvSpPr>
          <p:cNvPr id="22" name="Text 20"/>
          <p:cNvSpPr/>
          <p:nvPr/>
        </p:nvSpPr>
        <p:spPr>
          <a:xfrm>
            <a:off x="9006840" y="3063240"/>
            <a:ext cx="2148840" cy="1828800"/>
          </a:xfrm>
          <a:prstGeom prst="rect">
            <a:avLst/>
          </a:prstGeom>
          <a:noFill/>
          <a:ln/>
        </p:spPr>
        <p:txBody>
          <a:bodyPr wrap="square" rtlCol="0" anchor="ctr"/>
          <a:lstStyle/>
          <a:p>
            <a:pPr indent="0" marL="0">
              <a:buNone/>
            </a:pPr>
            <a:r>
              <a:rPr lang="en-US" sz="1000" dirty="0">
                <a:solidFill>
                  <a:srgbClr val="CBD5E1"/>
                </a:solidFill>
              </a:rPr>
              <a:t>Escenarios de pactos post-electorales 2027, posibles coaliciones de investidura y rupturas.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731520" y="457200"/>
            <a:ext cx="2560320" cy="320040"/>
          </a:xfrm>
          <a:prstGeom prst="roundRect">
            <a:avLst>
              <a:gd name="adj" fmla="val 28571"/>
            </a:avLst>
          </a:prstGeom>
          <a:solidFill>
            <a:srgbClr val="059669"/>
          </a:solidFill>
          <a:ln/>
        </p:spPr>
      </p:sp>
      <p:sp>
        <p:nvSpPr>
          <p:cNvPr id="3" name="Text 1"/>
          <p:cNvSpPr/>
          <p:nvPr/>
        </p:nvSpPr>
        <p:spPr>
          <a:xfrm>
            <a:off x="731520" y="457200"/>
            <a:ext cx="2560320" cy="320040"/>
          </a:xfrm>
          <a:prstGeom prst="rect">
            <a:avLst/>
          </a:prstGeom>
          <a:noFill/>
          <a:ln/>
        </p:spPr>
        <p:txBody>
          <a:bodyPr wrap="square" rtlCol="0" anchor="ctr"/>
          <a:lstStyle/>
          <a:p>
            <a:pPr algn="ctr" indent="0" marL="0">
              <a:buNone/>
            </a:pPr>
            <a:r>
              <a:rPr lang="en-US" sz="1000" b="1" dirty="0">
                <a:solidFill>
                  <a:srgbClr val="FFFFFF"/>
                </a:solidFill>
              </a:rPr>
              <a:t>ESTRATEGIA TERRITORIAL</a:t>
            </a:r>
            <a:endParaRPr lang="en-US" sz="1000" dirty="0"/>
          </a:p>
        </p:txBody>
      </p:sp>
      <p:sp>
        <p:nvSpPr>
          <p:cNvPr id="4" name="Text 2"/>
          <p:cNvSpPr/>
          <p:nvPr/>
        </p:nvSpPr>
        <p:spPr>
          <a:xfrm>
            <a:off x="731520" y="868680"/>
            <a:ext cx="10515600" cy="548640"/>
          </a:xfrm>
          <a:prstGeom prst="rect">
            <a:avLst/>
          </a:prstGeom>
          <a:noFill/>
          <a:ln/>
        </p:spPr>
        <p:txBody>
          <a:bodyPr wrap="square" rtlCol="0" anchor="ctr"/>
          <a:lstStyle/>
          <a:p>
            <a:pPr indent="0" marL="0">
              <a:buNone/>
            </a:pPr>
            <a:r>
              <a:rPr lang="en-US" sz="2200" b="1" dirty="0">
                <a:solidFill>
                  <a:srgbClr val="0F172A"/>
                </a:solidFill>
              </a:rPr>
              <a:t>Análisis Territorial por Distritos</a:t>
            </a:r>
            <a:endParaRPr lang="en-US" sz="2200" dirty="0"/>
          </a:p>
        </p:txBody>
      </p:sp>
      <p:sp>
        <p:nvSpPr>
          <p:cNvPr id="5" name="Text 3"/>
          <p:cNvSpPr/>
          <p:nvPr/>
        </p:nvSpPr>
        <p:spPr>
          <a:xfrm>
            <a:off x="731520" y="1371600"/>
            <a:ext cx="10515600" cy="365760"/>
          </a:xfrm>
          <a:prstGeom prst="rect">
            <a:avLst/>
          </a:prstGeom>
          <a:noFill/>
          <a:ln/>
        </p:spPr>
        <p:txBody>
          <a:bodyPr wrap="square" rtlCol="0" anchor="ctr"/>
          <a:lstStyle/>
          <a:p>
            <a:pPr indent="0" marL="0">
              <a:buNone/>
            </a:pPr>
            <a:r>
              <a:rPr lang="en-US" sz="1200" dirty="0">
                <a:solidFill>
                  <a:srgbClr val="64748B"/>
                </a:solidFill>
              </a:rPr>
              <a:t>Matriz de competitividad y brecha frente al primer competidor</a:t>
            </a:r>
            <a:endParaRPr lang="en-US" sz="1200" dirty="0"/>
          </a:p>
        </p:txBody>
      </p:sp>
      <p:sp>
        <p:nvSpPr>
          <p:cNvPr id="6" name="Shape 4"/>
          <p:cNvSpPr/>
          <p:nvPr/>
        </p:nvSpPr>
        <p:spPr>
          <a:xfrm>
            <a:off x="731520" y="1783080"/>
            <a:ext cx="10698480" cy="0"/>
          </a:xfrm>
          <a:prstGeom prst="line">
            <a:avLst/>
          </a:prstGeom>
          <a:noFill/>
          <a:ln w="19050">
            <a:solidFill>
              <a:srgbClr val="E2E8F0"/>
            </a:solidFill>
            <a:prstDash val="solid"/>
          </a:ln>
        </p:spPr>
      </p:sp>
      <p:sp>
        <p:nvSpPr>
          <p:cNvPr id="7" name="Shape 5"/>
          <p:cNvSpPr/>
          <p:nvPr/>
        </p:nvSpPr>
        <p:spPr>
          <a:xfrm>
            <a:off x="731520" y="2011680"/>
            <a:ext cx="5212080" cy="1965960"/>
          </a:xfrm>
          <a:prstGeom prst="roundRect">
            <a:avLst>
              <a:gd name="adj" fmla="val 6977"/>
            </a:avLst>
          </a:prstGeom>
          <a:solidFill>
            <a:srgbClr val="F0FDF4"/>
          </a:solidFill>
          <a:ln w="12700">
            <a:solidFill>
              <a:srgbClr val="BBF7D0"/>
            </a:solidFill>
            <a:prstDash val="solid"/>
          </a:ln>
        </p:spPr>
      </p:sp>
      <p:sp>
        <p:nvSpPr>
          <p:cNvPr id="8" name="Text 6"/>
          <p:cNvSpPr/>
          <p:nvPr/>
        </p:nvSpPr>
        <p:spPr>
          <a:xfrm>
            <a:off x="960120" y="2194560"/>
            <a:ext cx="4754880" cy="365760"/>
          </a:xfrm>
          <a:prstGeom prst="rect">
            <a:avLst/>
          </a:prstGeom>
          <a:noFill/>
          <a:ln/>
        </p:spPr>
        <p:txBody>
          <a:bodyPr wrap="square" rtlCol="0" anchor="ctr"/>
          <a:lstStyle/>
          <a:p>
            <a:pPr indent="0" marL="0">
              <a:buNone/>
            </a:pPr>
            <a:r>
              <a:rPr lang="en-US" sz="1300" b="1" dirty="0">
                <a:solidFill>
                  <a:srgbClr val="15803D"/>
                </a:solidFill>
              </a:rPr>
              <a:t>🏰 FORTALEZA</a:t>
            </a:r>
            <a:endParaRPr lang="en-US" sz="1300" dirty="0"/>
          </a:p>
        </p:txBody>
      </p:sp>
      <p:sp>
        <p:nvSpPr>
          <p:cNvPr id="9" name="Text 7"/>
          <p:cNvSpPr/>
          <p:nvPr/>
        </p:nvSpPr>
        <p:spPr>
          <a:xfrm>
            <a:off x="960120" y="2651760"/>
            <a:ext cx="4754880" cy="1143000"/>
          </a:xfrm>
          <a:prstGeom prst="rect">
            <a:avLst/>
          </a:prstGeom>
          <a:noFill/>
          <a:ln/>
        </p:spPr>
        <p:txBody>
          <a:bodyPr wrap="square" rtlCol="0" anchor="ctr"/>
          <a:lstStyle/>
          <a:p>
            <a:pPr indent="0" marL="0">
              <a:buNone/>
            </a:pPr>
            <a:r>
              <a:rPr lang="en-US" sz="1000" dirty="0">
                <a:solidFill>
                  <a:srgbClr val="334155"/>
                </a:solidFill>
              </a:rPr>
              <a:t>Bastión propio donde la candidatura lidera con solvencia. Estrategia: fidelizar y no desgastar recursos excesivos.</a:t>
            </a:r>
            <a:endParaRPr lang="en-US" sz="1000" dirty="0"/>
          </a:p>
        </p:txBody>
      </p:sp>
      <p:sp>
        <p:nvSpPr>
          <p:cNvPr id="10" name="Shape 8"/>
          <p:cNvSpPr/>
          <p:nvPr/>
        </p:nvSpPr>
        <p:spPr>
          <a:xfrm>
            <a:off x="6172200" y="2011680"/>
            <a:ext cx="5212080" cy="1965960"/>
          </a:xfrm>
          <a:prstGeom prst="roundRect">
            <a:avLst>
              <a:gd name="adj" fmla="val 6977"/>
            </a:avLst>
          </a:prstGeom>
          <a:solidFill>
            <a:srgbClr val="F0FDF4"/>
          </a:solidFill>
          <a:ln w="12700">
            <a:solidFill>
              <a:srgbClr val="BBF7D0"/>
            </a:solidFill>
            <a:prstDash val="solid"/>
          </a:ln>
        </p:spPr>
      </p:sp>
      <p:sp>
        <p:nvSpPr>
          <p:cNvPr id="11" name="Text 9"/>
          <p:cNvSpPr/>
          <p:nvPr/>
        </p:nvSpPr>
        <p:spPr>
          <a:xfrm>
            <a:off x="6400800" y="2194560"/>
            <a:ext cx="4754880" cy="365760"/>
          </a:xfrm>
          <a:prstGeom prst="rect">
            <a:avLst/>
          </a:prstGeom>
          <a:noFill/>
          <a:ln/>
        </p:spPr>
        <p:txBody>
          <a:bodyPr wrap="square" rtlCol="0" anchor="ctr"/>
          <a:lstStyle/>
          <a:p>
            <a:pPr indent="0" marL="0">
              <a:buNone/>
            </a:pPr>
            <a:r>
              <a:rPr lang="en-US" sz="1300" b="1" dirty="0">
                <a:solidFill>
                  <a:srgbClr val="15803D"/>
                </a:solidFill>
              </a:rPr>
              <a:t>📈 CRECIMIENTO</a:t>
            </a:r>
            <a:endParaRPr lang="en-US" sz="1300" dirty="0"/>
          </a:p>
        </p:txBody>
      </p:sp>
      <p:sp>
        <p:nvSpPr>
          <p:cNvPr id="12" name="Text 10"/>
          <p:cNvSpPr/>
          <p:nvPr/>
        </p:nvSpPr>
        <p:spPr>
          <a:xfrm>
            <a:off x="6400800" y="2651760"/>
            <a:ext cx="4754880" cy="1143000"/>
          </a:xfrm>
          <a:prstGeom prst="rect">
            <a:avLst/>
          </a:prstGeom>
          <a:noFill/>
          <a:ln/>
        </p:spPr>
        <p:txBody>
          <a:bodyPr wrap="square" rtlCol="0" anchor="ctr"/>
          <a:lstStyle/>
          <a:p>
            <a:pPr indent="0" marL="0">
              <a:buNone/>
            </a:pPr>
            <a:r>
              <a:rPr lang="en-US" sz="1000" dirty="0">
                <a:solidFill>
                  <a:srgbClr val="334155"/>
                </a:solidFill>
              </a:rPr>
              <a:t>Zona donde la candidatura supera su media municipal y está cerca del primer puesto. Estrategia: máxima concentración de actos.</a:t>
            </a:r>
            <a:endParaRPr lang="en-US" sz="1000" dirty="0"/>
          </a:p>
        </p:txBody>
      </p:sp>
      <p:sp>
        <p:nvSpPr>
          <p:cNvPr id="13" name="Shape 11"/>
          <p:cNvSpPr/>
          <p:nvPr/>
        </p:nvSpPr>
        <p:spPr>
          <a:xfrm>
            <a:off x="731520" y="4160520"/>
            <a:ext cx="5212080" cy="1965960"/>
          </a:xfrm>
          <a:prstGeom prst="roundRect">
            <a:avLst>
              <a:gd name="adj" fmla="val 6977"/>
            </a:avLst>
          </a:prstGeom>
          <a:solidFill>
            <a:srgbClr val="F0FDF4"/>
          </a:solidFill>
          <a:ln w="12700">
            <a:solidFill>
              <a:srgbClr val="BBF7D0"/>
            </a:solidFill>
            <a:prstDash val="solid"/>
          </a:ln>
        </p:spPr>
      </p:sp>
      <p:sp>
        <p:nvSpPr>
          <p:cNvPr id="14" name="Text 12"/>
          <p:cNvSpPr/>
          <p:nvPr/>
        </p:nvSpPr>
        <p:spPr>
          <a:xfrm>
            <a:off x="960120" y="4343400"/>
            <a:ext cx="4754880" cy="365760"/>
          </a:xfrm>
          <a:prstGeom prst="rect">
            <a:avLst/>
          </a:prstGeom>
          <a:noFill/>
          <a:ln/>
        </p:spPr>
        <p:txBody>
          <a:bodyPr wrap="square" rtlCol="0" anchor="ctr"/>
          <a:lstStyle/>
          <a:p>
            <a:pPr indent="0" marL="0">
              <a:buNone/>
            </a:pPr>
            <a:r>
              <a:rPr lang="en-US" sz="1300" b="1" dirty="0">
                <a:solidFill>
                  <a:srgbClr val="15803D"/>
                </a:solidFill>
              </a:rPr>
              <a:t>🛡️ DEFENSA</a:t>
            </a:r>
            <a:endParaRPr lang="en-US" sz="1300" dirty="0"/>
          </a:p>
        </p:txBody>
      </p:sp>
      <p:sp>
        <p:nvSpPr>
          <p:cNvPr id="15" name="Text 13"/>
          <p:cNvSpPr/>
          <p:nvPr/>
        </p:nvSpPr>
        <p:spPr>
          <a:xfrm>
            <a:off x="960120" y="4800600"/>
            <a:ext cx="4754880" cy="1143000"/>
          </a:xfrm>
          <a:prstGeom prst="rect">
            <a:avLst/>
          </a:prstGeom>
          <a:noFill/>
          <a:ln/>
        </p:spPr>
        <p:txBody>
          <a:bodyPr wrap="square" rtlCol="0" anchor="ctr"/>
          <a:lstStyle/>
          <a:p>
            <a:pPr indent="0" marL="0">
              <a:buNone/>
            </a:pPr>
            <a:r>
              <a:rPr lang="en-US" sz="1000" dirty="0">
                <a:solidFill>
                  <a:srgbClr val="334155"/>
                </a:solidFill>
              </a:rPr>
              <a:t>Zona con victoria por margen estrecho expuesta al asalto del rival. Estrategia: defensa activa y presencia vecinal.</a:t>
            </a:r>
            <a:endParaRPr lang="en-US" sz="1000" dirty="0"/>
          </a:p>
        </p:txBody>
      </p:sp>
      <p:sp>
        <p:nvSpPr>
          <p:cNvPr id="16" name="Shape 14"/>
          <p:cNvSpPr/>
          <p:nvPr/>
        </p:nvSpPr>
        <p:spPr>
          <a:xfrm>
            <a:off x="6172200" y="4160520"/>
            <a:ext cx="5212080" cy="1965960"/>
          </a:xfrm>
          <a:prstGeom prst="roundRect">
            <a:avLst>
              <a:gd name="adj" fmla="val 6977"/>
            </a:avLst>
          </a:prstGeom>
          <a:solidFill>
            <a:srgbClr val="F0FDF4"/>
          </a:solidFill>
          <a:ln w="12700">
            <a:solidFill>
              <a:srgbClr val="BBF7D0"/>
            </a:solidFill>
            <a:prstDash val="solid"/>
          </a:ln>
        </p:spPr>
      </p:sp>
      <p:sp>
        <p:nvSpPr>
          <p:cNvPr id="17" name="Text 15"/>
          <p:cNvSpPr/>
          <p:nvPr/>
        </p:nvSpPr>
        <p:spPr>
          <a:xfrm>
            <a:off x="6400800" y="4343400"/>
            <a:ext cx="4754880" cy="365760"/>
          </a:xfrm>
          <a:prstGeom prst="rect">
            <a:avLst/>
          </a:prstGeom>
          <a:noFill/>
          <a:ln/>
        </p:spPr>
        <p:txBody>
          <a:bodyPr wrap="square" rtlCol="0" anchor="ctr"/>
          <a:lstStyle/>
          <a:p>
            <a:pPr indent="0" marL="0">
              <a:buNone/>
            </a:pPr>
            <a:r>
              <a:rPr lang="en-US" sz="1300" b="1" dirty="0">
                <a:solidFill>
                  <a:srgbClr val="15803D"/>
                </a:solidFill>
              </a:rPr>
              <a:t>🎯 OPORTUNIDAD</a:t>
            </a:r>
            <a:endParaRPr lang="en-US" sz="1300" dirty="0"/>
          </a:p>
        </p:txBody>
      </p:sp>
      <p:sp>
        <p:nvSpPr>
          <p:cNvPr id="18" name="Text 16"/>
          <p:cNvSpPr/>
          <p:nvPr/>
        </p:nvSpPr>
        <p:spPr>
          <a:xfrm>
            <a:off x="6400800" y="4800600"/>
            <a:ext cx="4754880" cy="1143000"/>
          </a:xfrm>
          <a:prstGeom prst="rect">
            <a:avLst/>
          </a:prstGeom>
          <a:noFill/>
          <a:ln/>
        </p:spPr>
        <p:txBody>
          <a:bodyPr wrap="square" rtlCol="0" anchor="ctr"/>
          <a:lstStyle/>
          <a:p>
            <a:pPr indent="0" marL="0">
              <a:buNone/>
            </a:pPr>
            <a:r>
              <a:rPr lang="en-US" sz="1000" dirty="0">
                <a:solidFill>
                  <a:srgbClr val="334155"/>
                </a:solidFill>
              </a:rPr>
              <a:t>Zona dominada por rivales con alto descontento y baja participación. Estrategia: activar la abstención con propuestas concretas.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31520" y="457200"/>
            <a:ext cx="2560320" cy="320040"/>
          </a:xfrm>
          <a:prstGeom prst="roundRect">
            <a:avLst>
              <a:gd name="adj" fmla="val 28571"/>
            </a:avLst>
          </a:prstGeom>
          <a:solidFill>
            <a:srgbClr val="DC2626"/>
          </a:solidFill>
          <a:ln/>
        </p:spPr>
      </p:sp>
      <p:sp>
        <p:nvSpPr>
          <p:cNvPr id="3" name="Text 1"/>
          <p:cNvSpPr/>
          <p:nvPr/>
        </p:nvSpPr>
        <p:spPr>
          <a:xfrm>
            <a:off x="731520" y="457200"/>
            <a:ext cx="2560320" cy="320040"/>
          </a:xfrm>
          <a:prstGeom prst="rect">
            <a:avLst/>
          </a:prstGeom>
          <a:noFill/>
          <a:ln/>
        </p:spPr>
        <p:txBody>
          <a:bodyPr wrap="square" rtlCol="0" anchor="ctr"/>
          <a:lstStyle/>
          <a:p>
            <a:pPr algn="ctr" indent="0" marL="0">
              <a:buNone/>
            </a:pPr>
            <a:r>
              <a:rPr lang="en-US" sz="1000" b="1" dirty="0">
                <a:solidFill>
                  <a:srgbClr val="FFFFFF"/>
                </a:solidFill>
              </a:rPr>
              <a:t>SIMULACIÓN ELECTORAL</a:t>
            </a:r>
            <a:endParaRPr lang="en-US" sz="1000" dirty="0"/>
          </a:p>
        </p:txBody>
      </p:sp>
      <p:sp>
        <p:nvSpPr>
          <p:cNvPr id="4" name="Text 2"/>
          <p:cNvSpPr/>
          <p:nvPr/>
        </p:nvSpPr>
        <p:spPr>
          <a:xfrm>
            <a:off x="731520" y="868680"/>
            <a:ext cx="10515600" cy="548640"/>
          </a:xfrm>
          <a:prstGeom prst="rect">
            <a:avLst/>
          </a:prstGeom>
          <a:noFill/>
          <a:ln/>
        </p:spPr>
        <p:txBody>
          <a:bodyPr wrap="square" rtlCol="0" anchor="ctr"/>
          <a:lstStyle/>
          <a:p>
            <a:pPr indent="0" marL="0">
              <a:buNone/>
            </a:pPr>
            <a:r>
              <a:rPr lang="en-US" sz="2200" b="1" dirty="0">
                <a:solidFill>
                  <a:srgbClr val="0F172A"/>
                </a:solidFill>
              </a:rPr>
              <a:t>Simulador Electoral con Ley D’Hondt</a:t>
            </a:r>
            <a:endParaRPr lang="en-US" sz="2200" dirty="0"/>
          </a:p>
        </p:txBody>
      </p:sp>
      <p:sp>
        <p:nvSpPr>
          <p:cNvPr id="5" name="Text 3"/>
          <p:cNvSpPr/>
          <p:nvPr/>
        </p:nvSpPr>
        <p:spPr>
          <a:xfrm>
            <a:off x="731520" y="1371600"/>
            <a:ext cx="10515600" cy="365760"/>
          </a:xfrm>
          <a:prstGeom prst="rect">
            <a:avLst/>
          </a:prstGeom>
          <a:noFill/>
          <a:ln/>
        </p:spPr>
        <p:txBody>
          <a:bodyPr wrap="square" rtlCol="0" anchor="ctr"/>
          <a:lstStyle/>
          <a:p>
            <a:pPr indent="0" marL="0">
              <a:buNone/>
            </a:pPr>
            <a:r>
              <a:rPr lang="en-US" sz="1200" dirty="0">
                <a:solidFill>
                  <a:srgbClr val="64748B"/>
                </a:solidFill>
              </a:rPr>
              <a:t>Cálculo matemático exacto con doble columna y proyección en tiempo real</a:t>
            </a:r>
            <a:endParaRPr lang="en-US" sz="1200" dirty="0"/>
          </a:p>
        </p:txBody>
      </p:sp>
      <p:sp>
        <p:nvSpPr>
          <p:cNvPr id="6" name="Shape 4"/>
          <p:cNvSpPr/>
          <p:nvPr/>
        </p:nvSpPr>
        <p:spPr>
          <a:xfrm>
            <a:off x="731520" y="1783080"/>
            <a:ext cx="10698480" cy="0"/>
          </a:xfrm>
          <a:prstGeom prst="line">
            <a:avLst/>
          </a:prstGeom>
          <a:noFill/>
          <a:ln w="19050">
            <a:solidFill>
              <a:srgbClr val="E2E8F0"/>
            </a:solidFill>
            <a:prstDash val="solid"/>
          </a:ln>
        </p:spPr>
      </p:sp>
      <p:sp>
        <p:nvSpPr>
          <p:cNvPr id="7" name="Shape 5"/>
          <p:cNvSpPr/>
          <p:nvPr/>
        </p:nvSpPr>
        <p:spPr>
          <a:xfrm>
            <a:off x="731520" y="2011680"/>
            <a:ext cx="3429000" cy="1737360"/>
          </a:xfrm>
          <a:prstGeom prst="roundRect">
            <a:avLst>
              <a:gd name="adj" fmla="val 7895"/>
            </a:avLst>
          </a:prstGeom>
          <a:solidFill>
            <a:srgbClr val="FFF1F2"/>
          </a:solidFill>
          <a:ln w="12700">
            <a:solidFill>
              <a:srgbClr val="FECDD3"/>
            </a:solidFill>
            <a:prstDash val="solid"/>
          </a:ln>
        </p:spPr>
      </p:sp>
      <p:sp>
        <p:nvSpPr>
          <p:cNvPr id="8" name="Text 6"/>
          <p:cNvSpPr/>
          <p:nvPr/>
        </p:nvSpPr>
        <p:spPr>
          <a:xfrm>
            <a:off x="914400" y="2148840"/>
            <a:ext cx="3063240" cy="320040"/>
          </a:xfrm>
          <a:prstGeom prst="rect">
            <a:avLst/>
          </a:prstGeom>
          <a:noFill/>
          <a:ln/>
        </p:spPr>
        <p:txBody>
          <a:bodyPr wrap="square" rtlCol="0" anchor="ctr"/>
          <a:lstStyle/>
          <a:p>
            <a:pPr indent="0" marL="0">
              <a:buNone/>
            </a:pPr>
            <a:r>
              <a:rPr lang="en-US" sz="1100" b="1" dirty="0">
                <a:solidFill>
                  <a:srgbClr val="9F1239"/>
                </a:solidFill>
              </a:rPr>
              <a:t>🔢 Doble Columna de Votos</a:t>
            </a:r>
            <a:endParaRPr lang="en-US" sz="1100" dirty="0"/>
          </a:p>
        </p:txBody>
      </p:sp>
      <p:sp>
        <p:nvSpPr>
          <p:cNvPr id="9" name="Text 7"/>
          <p:cNvSpPr/>
          <p:nvPr/>
        </p:nvSpPr>
        <p:spPr>
          <a:xfrm>
            <a:off x="914400" y="2514600"/>
            <a:ext cx="3063240" cy="1097280"/>
          </a:xfrm>
          <a:prstGeom prst="rect">
            <a:avLst/>
          </a:prstGeom>
          <a:noFill/>
          <a:ln/>
        </p:spPr>
        <p:txBody>
          <a:bodyPr wrap="square" rtlCol="0" anchor="ctr"/>
          <a:lstStyle/>
          <a:p>
            <a:pPr indent="0" marL="0">
              <a:buNone/>
            </a:pPr>
            <a:r>
              <a:rPr lang="en-US" sz="950" dirty="0">
                <a:solidFill>
                  <a:srgbClr val="475569"/>
                </a:solidFill>
              </a:rPr>
              <a:t>Mantiene la columna con los votos originales de 2023 junto a la columna interactiva de votos proyectados.</a:t>
            </a:r>
            <a:endParaRPr lang="en-US" sz="950" dirty="0"/>
          </a:p>
        </p:txBody>
      </p:sp>
      <p:sp>
        <p:nvSpPr>
          <p:cNvPr id="10" name="Shape 8"/>
          <p:cNvSpPr/>
          <p:nvPr/>
        </p:nvSpPr>
        <p:spPr>
          <a:xfrm>
            <a:off x="4343400" y="2011680"/>
            <a:ext cx="3429000" cy="1737360"/>
          </a:xfrm>
          <a:prstGeom prst="roundRect">
            <a:avLst>
              <a:gd name="adj" fmla="val 7895"/>
            </a:avLst>
          </a:prstGeom>
          <a:solidFill>
            <a:srgbClr val="FFF1F2"/>
          </a:solidFill>
          <a:ln w="12700">
            <a:solidFill>
              <a:srgbClr val="FECDD3"/>
            </a:solidFill>
            <a:prstDash val="solid"/>
          </a:ln>
        </p:spPr>
      </p:sp>
      <p:sp>
        <p:nvSpPr>
          <p:cNvPr id="11" name="Text 9"/>
          <p:cNvSpPr/>
          <p:nvPr/>
        </p:nvSpPr>
        <p:spPr>
          <a:xfrm>
            <a:off x="4526280" y="2148840"/>
            <a:ext cx="3063240" cy="320040"/>
          </a:xfrm>
          <a:prstGeom prst="rect">
            <a:avLst/>
          </a:prstGeom>
          <a:noFill/>
          <a:ln/>
        </p:spPr>
        <p:txBody>
          <a:bodyPr wrap="square" rtlCol="0" anchor="ctr"/>
          <a:lstStyle/>
          <a:p>
            <a:pPr indent="0" marL="0">
              <a:buNone/>
            </a:pPr>
            <a:r>
              <a:rPr lang="en-US" sz="1100" b="1" dirty="0">
                <a:solidFill>
                  <a:srgbClr val="9F1239"/>
                </a:solidFill>
              </a:rPr>
              <a:t>🔄 Recálculo Bidireccional</a:t>
            </a:r>
            <a:endParaRPr lang="en-US" sz="1100" dirty="0"/>
          </a:p>
        </p:txBody>
      </p:sp>
      <p:sp>
        <p:nvSpPr>
          <p:cNvPr id="12" name="Text 10"/>
          <p:cNvSpPr/>
          <p:nvPr/>
        </p:nvSpPr>
        <p:spPr>
          <a:xfrm>
            <a:off x="4526280" y="2514600"/>
            <a:ext cx="3063240" cy="1097280"/>
          </a:xfrm>
          <a:prstGeom prst="rect">
            <a:avLst/>
          </a:prstGeom>
          <a:noFill/>
          <a:ln/>
        </p:spPr>
        <p:txBody>
          <a:bodyPr wrap="square" rtlCol="0" anchor="ctr"/>
          <a:lstStyle/>
          <a:p>
            <a:pPr indent="0" marL="0">
              <a:buNone/>
            </a:pPr>
            <a:r>
              <a:rPr lang="en-US" sz="950" dirty="0">
                <a:solidFill>
                  <a:srgbClr val="475569"/>
                </a:solidFill>
              </a:rPr>
              <a:t>Al modificar el porcentaje se recalculan los votos; al cambiar los votos se recalcula el porcentaje al instante.</a:t>
            </a:r>
            <a:endParaRPr lang="en-US" sz="950" dirty="0"/>
          </a:p>
        </p:txBody>
      </p:sp>
      <p:sp>
        <p:nvSpPr>
          <p:cNvPr id="13" name="Shape 11"/>
          <p:cNvSpPr/>
          <p:nvPr/>
        </p:nvSpPr>
        <p:spPr>
          <a:xfrm>
            <a:off x="7955280" y="2011680"/>
            <a:ext cx="3429000" cy="1737360"/>
          </a:xfrm>
          <a:prstGeom prst="roundRect">
            <a:avLst>
              <a:gd name="adj" fmla="val 7895"/>
            </a:avLst>
          </a:prstGeom>
          <a:solidFill>
            <a:srgbClr val="FFF1F2"/>
          </a:solidFill>
          <a:ln w="12700">
            <a:solidFill>
              <a:srgbClr val="FECDD3"/>
            </a:solidFill>
            <a:prstDash val="solid"/>
          </a:ln>
        </p:spPr>
      </p:sp>
      <p:sp>
        <p:nvSpPr>
          <p:cNvPr id="14" name="Text 12"/>
          <p:cNvSpPr/>
          <p:nvPr/>
        </p:nvSpPr>
        <p:spPr>
          <a:xfrm>
            <a:off x="8138160" y="2148840"/>
            <a:ext cx="3063240" cy="320040"/>
          </a:xfrm>
          <a:prstGeom prst="rect">
            <a:avLst/>
          </a:prstGeom>
          <a:noFill/>
          <a:ln/>
        </p:spPr>
        <p:txBody>
          <a:bodyPr wrap="square" rtlCol="0" anchor="ctr"/>
          <a:lstStyle/>
          <a:p>
            <a:pPr indent="0" marL="0">
              <a:buNone/>
            </a:pPr>
            <a:r>
              <a:rPr lang="en-US" sz="1100" b="1" dirty="0">
                <a:solidFill>
                  <a:srgbClr val="9F1239"/>
                </a:solidFill>
              </a:rPr>
              <a:t>⚖️ Algoritmo Oficial LOREG</a:t>
            </a:r>
            <a:endParaRPr lang="en-US" sz="1100" dirty="0"/>
          </a:p>
        </p:txBody>
      </p:sp>
      <p:sp>
        <p:nvSpPr>
          <p:cNvPr id="15" name="Text 13"/>
          <p:cNvSpPr/>
          <p:nvPr/>
        </p:nvSpPr>
        <p:spPr>
          <a:xfrm>
            <a:off x="8138160" y="2514600"/>
            <a:ext cx="3063240" cy="1097280"/>
          </a:xfrm>
          <a:prstGeom prst="rect">
            <a:avLst/>
          </a:prstGeom>
          <a:noFill/>
          <a:ln/>
        </p:spPr>
        <p:txBody>
          <a:bodyPr wrap="square" rtlCol="0" anchor="ctr"/>
          <a:lstStyle/>
          <a:p>
            <a:pPr indent="0" marL="0">
              <a:buNone/>
            </a:pPr>
            <a:r>
              <a:rPr lang="en-US" sz="950" dirty="0">
                <a:solidFill>
                  <a:srgbClr val="475569"/>
                </a:solidFill>
              </a:rPr>
              <a:t>Reparto por cocientes sucesivos decrecientes adaptado al número de concejales legales del municipio.</a:t>
            </a:r>
            <a:endParaRPr lang="en-US" sz="950" dirty="0"/>
          </a:p>
        </p:txBody>
      </p:sp>
      <p:sp>
        <p:nvSpPr>
          <p:cNvPr id="16" name="Shape 14"/>
          <p:cNvSpPr/>
          <p:nvPr/>
        </p:nvSpPr>
        <p:spPr>
          <a:xfrm>
            <a:off x="731520" y="4023360"/>
            <a:ext cx="10652760" cy="2103120"/>
          </a:xfrm>
          <a:prstGeom prst="roundRect">
            <a:avLst>
              <a:gd name="adj" fmla="val 6522"/>
            </a:avLst>
          </a:prstGeom>
          <a:solidFill>
            <a:srgbClr val="0F172A"/>
          </a:solidFill>
          <a:ln/>
        </p:spPr>
      </p:sp>
      <p:sp>
        <p:nvSpPr>
          <p:cNvPr id="17" name="Text 15"/>
          <p:cNvSpPr/>
          <p:nvPr/>
        </p:nvSpPr>
        <p:spPr>
          <a:xfrm>
            <a:off x="1005840" y="4206240"/>
            <a:ext cx="10058400" cy="320040"/>
          </a:xfrm>
          <a:prstGeom prst="rect">
            <a:avLst/>
          </a:prstGeom>
          <a:noFill/>
          <a:ln/>
        </p:spPr>
        <p:txBody>
          <a:bodyPr wrap="square" rtlCol="0" anchor="ctr"/>
          <a:lstStyle/>
          <a:p>
            <a:pPr indent="0" marL="0">
              <a:buNone/>
            </a:pPr>
            <a:r>
              <a:rPr lang="en-US" sz="1100" b="1" dirty="0">
                <a:solidFill>
                  <a:srgbClr val="F87171"/>
                </a:solidFill>
              </a:rPr>
              <a:t>RESPUESTAS ESTRATÉGICAS QUE APORTA EL SIMULADOR:</a:t>
            </a:r>
            <a:endParaRPr lang="en-US" sz="1100" dirty="0"/>
          </a:p>
        </p:txBody>
      </p:sp>
      <p:sp>
        <p:nvSpPr>
          <p:cNvPr id="18" name="Text 16"/>
          <p:cNvSpPr/>
          <p:nvPr/>
        </p:nvSpPr>
        <p:spPr>
          <a:xfrm>
            <a:off x="1005840" y="4572000"/>
            <a:ext cx="10058400" cy="1371600"/>
          </a:xfrm>
          <a:prstGeom prst="rect">
            <a:avLst/>
          </a:prstGeom>
          <a:noFill/>
          <a:ln/>
        </p:spPr>
        <p:txBody>
          <a:bodyPr wrap="square" rtlCol="0" anchor="ctr"/>
          <a:lstStyle/>
          <a:p>
            <a:pPr indent="0" marL="0">
              <a:lnSpc>
                <a:spcPts val="2200"/>
              </a:lnSpc>
              <a:buNone/>
            </a:pPr>
            <a:r>
              <a:rPr lang="en-US" sz="1000" dirty="0">
                <a:solidFill>
                  <a:srgbClr val="E2E8F0"/>
                </a:solidFill>
              </a:rPr>
              <a:t>• ¿Cuántos votos exactos nos faltan para obtener el concejal siguiente?</a:t>
            </a:r>
            <a:endParaRPr lang="en-US" sz="1000" dirty="0"/>
          </a:p>
          <a:p>
            <a:pPr indent="0" marL="0">
              <a:lnSpc>
                <a:spcPts val="2200"/>
              </a:lnSpc>
              <a:buNone/>
            </a:pPr>
            <a:r>
              <a:rPr lang="en-US" sz="1000" dirty="0">
                <a:solidFill>
                  <a:srgbClr val="E2E8F0"/>
                </a:solidFill>
              </a:rPr>
              <a:t>• ¿A qué distancia en votos estamos de la mayoría absoluta municipal?</a:t>
            </a:r>
            <a:endParaRPr lang="en-US" sz="1000" dirty="0"/>
          </a:p>
          <a:p>
            <a:pPr indent="0" marL="0">
              <a:lnSpc>
                <a:spcPts val="2200"/>
              </a:lnSpc>
              <a:buNone/>
            </a:pPr>
            <a:r>
              <a:rPr lang="en-US" sz="1000" dirty="0">
                <a:solidFill>
                  <a:srgbClr val="E2E8F0"/>
                </a:solidFill>
              </a:rPr>
              <a:t>• ¿Qué ocurre si la participación sube o baja 5 puntos porcentuales?</a:t>
            </a:r>
            <a:endParaRPr lang="en-US" sz="1000" dirty="0"/>
          </a:p>
          <a:p>
            <a:pPr indent="0" marL="0">
              <a:lnSpc>
                <a:spcPts val="2200"/>
              </a:lnSpc>
              <a:buNone/>
            </a:pPr>
            <a:r>
              <a:rPr lang="en-US" sz="1000" dirty="0">
                <a:solidFill>
                  <a:srgbClr val="E2E8F0"/>
                </a:solidFill>
              </a:rPr>
              <a:t>• ¿Cómo influye la entrada de una nueva candidatura independiente o la concentración de voto rival?</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31520" y="457200"/>
            <a:ext cx="2560320" cy="320040"/>
          </a:xfrm>
          <a:prstGeom prst="roundRect">
            <a:avLst>
              <a:gd name="adj" fmla="val 28571"/>
            </a:avLst>
          </a:prstGeom>
          <a:solidFill>
            <a:srgbClr val="D97706"/>
          </a:solidFill>
          <a:ln/>
        </p:spPr>
      </p:sp>
      <p:sp>
        <p:nvSpPr>
          <p:cNvPr id="3" name="Text 1"/>
          <p:cNvSpPr/>
          <p:nvPr/>
        </p:nvSpPr>
        <p:spPr>
          <a:xfrm>
            <a:off x="731520" y="457200"/>
            <a:ext cx="2560320" cy="320040"/>
          </a:xfrm>
          <a:prstGeom prst="rect">
            <a:avLst/>
          </a:prstGeom>
          <a:noFill/>
          <a:ln/>
        </p:spPr>
        <p:txBody>
          <a:bodyPr wrap="square" rtlCol="0" anchor="ctr"/>
          <a:lstStyle/>
          <a:p>
            <a:pPr algn="ctr" indent="0" marL="0">
              <a:buNone/>
            </a:pPr>
            <a:r>
              <a:rPr lang="en-US" sz="1000" b="1" dirty="0">
                <a:solidFill>
                  <a:srgbClr val="FFFFFF"/>
                </a:solidFill>
              </a:rPr>
              <a:t>DIAGNÓSTICO ESTRATÉGICO</a:t>
            </a:r>
            <a:endParaRPr lang="en-US" sz="1000" dirty="0"/>
          </a:p>
        </p:txBody>
      </p:sp>
      <p:sp>
        <p:nvSpPr>
          <p:cNvPr id="4" name="Text 2"/>
          <p:cNvSpPr/>
          <p:nvPr/>
        </p:nvSpPr>
        <p:spPr>
          <a:xfrm>
            <a:off x="731520" y="868680"/>
            <a:ext cx="10515600" cy="548640"/>
          </a:xfrm>
          <a:prstGeom prst="rect">
            <a:avLst/>
          </a:prstGeom>
          <a:noFill/>
          <a:ln/>
        </p:spPr>
        <p:txBody>
          <a:bodyPr wrap="square" rtlCol="0" anchor="ctr"/>
          <a:lstStyle/>
          <a:p>
            <a:pPr indent="0" marL="0">
              <a:buNone/>
            </a:pPr>
            <a:r>
              <a:rPr lang="en-US" sz="2200" b="1" dirty="0">
                <a:solidFill>
                  <a:srgbClr val="0F172A"/>
                </a:solidFill>
              </a:rPr>
              <a:t>Diagnóstico DAFO y Test 21 Preguntas</a:t>
            </a:r>
            <a:endParaRPr lang="en-US" sz="2200" dirty="0"/>
          </a:p>
        </p:txBody>
      </p:sp>
      <p:sp>
        <p:nvSpPr>
          <p:cNvPr id="5" name="Text 3"/>
          <p:cNvSpPr/>
          <p:nvPr/>
        </p:nvSpPr>
        <p:spPr>
          <a:xfrm>
            <a:off x="731520" y="1371600"/>
            <a:ext cx="10515600" cy="365760"/>
          </a:xfrm>
          <a:prstGeom prst="rect">
            <a:avLst/>
          </a:prstGeom>
          <a:noFill/>
          <a:ln/>
        </p:spPr>
        <p:txBody>
          <a:bodyPr wrap="square" rtlCol="0" anchor="ctr"/>
          <a:lstStyle/>
          <a:p>
            <a:pPr indent="0" marL="0">
              <a:buNone/>
            </a:pPr>
            <a:r>
              <a:rPr lang="en-US" sz="1200" dirty="0">
                <a:solidFill>
                  <a:srgbClr val="64748B"/>
                </a:solidFill>
              </a:rPr>
              <a:t>Evaluación continua del estado de salud de la candidatura</a:t>
            </a:r>
            <a:endParaRPr lang="en-US" sz="1200" dirty="0"/>
          </a:p>
        </p:txBody>
      </p:sp>
      <p:sp>
        <p:nvSpPr>
          <p:cNvPr id="6" name="Shape 4"/>
          <p:cNvSpPr/>
          <p:nvPr/>
        </p:nvSpPr>
        <p:spPr>
          <a:xfrm>
            <a:off x="731520" y="1783080"/>
            <a:ext cx="10698480" cy="0"/>
          </a:xfrm>
          <a:prstGeom prst="line">
            <a:avLst/>
          </a:prstGeom>
          <a:noFill/>
          <a:ln w="19050">
            <a:solidFill>
              <a:srgbClr val="E2E8F0"/>
            </a:solidFill>
            <a:prstDash val="solid"/>
          </a:ln>
        </p:spPr>
      </p:sp>
      <p:sp>
        <p:nvSpPr>
          <p:cNvPr id="7" name="Shape 5"/>
          <p:cNvSpPr/>
          <p:nvPr/>
        </p:nvSpPr>
        <p:spPr>
          <a:xfrm>
            <a:off x="731520" y="2011680"/>
            <a:ext cx="5120640" cy="4206240"/>
          </a:xfrm>
          <a:prstGeom prst="roundRect">
            <a:avLst>
              <a:gd name="adj" fmla="val 3261"/>
            </a:avLst>
          </a:prstGeom>
          <a:solidFill>
            <a:srgbClr val="F8FAFC"/>
          </a:solidFill>
          <a:ln w="12700">
            <a:solidFill>
              <a:srgbClr val="E2E8F0"/>
            </a:solidFill>
            <a:prstDash val="solid"/>
          </a:ln>
        </p:spPr>
      </p:sp>
      <p:sp>
        <p:nvSpPr>
          <p:cNvPr id="8" name="Text 6"/>
          <p:cNvSpPr/>
          <p:nvPr/>
        </p:nvSpPr>
        <p:spPr>
          <a:xfrm>
            <a:off x="1005840" y="2194560"/>
            <a:ext cx="4572000" cy="320040"/>
          </a:xfrm>
          <a:prstGeom prst="rect">
            <a:avLst/>
          </a:prstGeom>
          <a:noFill/>
          <a:ln/>
        </p:spPr>
        <p:txBody>
          <a:bodyPr wrap="square" rtlCol="0" anchor="ctr"/>
          <a:lstStyle/>
          <a:p>
            <a:pPr indent="0" marL="0">
              <a:buNone/>
            </a:pPr>
            <a:r>
              <a:rPr lang="en-US" sz="1100" b="1" dirty="0">
                <a:solidFill>
                  <a:srgbClr val="0F172A"/>
                </a:solidFill>
              </a:rPr>
              <a:t>MATRIZ DAFO MUNICIPAL Y POR DISTRITOS:</a:t>
            </a:r>
            <a:endParaRPr lang="en-US" sz="1100" dirty="0"/>
          </a:p>
        </p:txBody>
      </p:sp>
      <p:sp>
        <p:nvSpPr>
          <p:cNvPr id="9" name="Text 7"/>
          <p:cNvSpPr/>
          <p:nvPr/>
        </p:nvSpPr>
        <p:spPr>
          <a:xfrm>
            <a:off x="1005840" y="2606040"/>
            <a:ext cx="4572000" cy="3383280"/>
          </a:xfrm>
          <a:prstGeom prst="rect">
            <a:avLst/>
          </a:prstGeom>
          <a:noFill/>
          <a:ln/>
        </p:spPr>
        <p:txBody>
          <a:bodyPr wrap="square" rtlCol="0" anchor="ctr"/>
          <a:lstStyle/>
          <a:p>
            <a:pPr indent="0" marL="0">
              <a:lnSpc>
                <a:spcPts val="2000"/>
              </a:lnSpc>
              <a:buNone/>
            </a:pPr>
            <a:r>
              <a:rPr lang="en-US" sz="950" dirty="0">
                <a:solidFill>
                  <a:srgbClr val="475569"/>
                </a:solidFill>
              </a:rPr>
              <a:t>• Fortalezas: Activos contrastados (candidato conocido, gestión demostrada, cohesión).</a:t>
            </a:r>
            <a:endParaRPr lang="en-US" sz="950" dirty="0"/>
          </a:p>
          <a:p>
            <a:pPr indent="0" marL="0">
              <a:lnSpc>
                <a:spcPts val="2000"/>
              </a:lnSpc>
              <a:buNone/>
            </a:pPr>
            <a:r>
              <a:rPr lang="en-US" sz="950" dirty="0">
                <a:solidFill>
                  <a:srgbClr val="475569"/>
                </a:solidFill>
              </a:rPr>
              <a:t>• Debilidades: Flancos vulnerables (falta de presencia en barrios, desgaste previo).</a:t>
            </a:r>
            <a:endParaRPr lang="en-US" sz="950" dirty="0"/>
          </a:p>
          <a:p>
            <a:pPr indent="0" marL="0">
              <a:lnSpc>
                <a:spcPts val="2000"/>
              </a:lnSpc>
              <a:buNone/>
            </a:pPr>
            <a:r>
              <a:rPr lang="en-US" sz="950" dirty="0">
                <a:solidFill>
                  <a:srgbClr val="475569"/>
                </a:solidFill>
              </a:rPr>
              <a:t>• Oportunidades: Descontento vecinal con el gobierno actual, división en la oposición.</a:t>
            </a:r>
            <a:endParaRPr lang="en-US" sz="950" dirty="0"/>
          </a:p>
          <a:p>
            <a:pPr indent="0" marL="0">
              <a:lnSpc>
                <a:spcPts val="2000"/>
              </a:lnSpc>
              <a:buNone/>
            </a:pPr>
            <a:r>
              <a:rPr lang="en-US" sz="950" dirty="0">
                <a:solidFill>
                  <a:srgbClr val="475569"/>
                </a:solidFill>
              </a:rPr>
              <a:t>• Amenazas: Aparición de listas populistas, polémicas comarcales o falta de recursos.</a:t>
            </a:r>
            <a:endParaRPr lang="en-US" sz="950" dirty="0"/>
          </a:p>
        </p:txBody>
      </p:sp>
      <p:sp>
        <p:nvSpPr>
          <p:cNvPr id="10" name="Shape 8"/>
          <p:cNvSpPr/>
          <p:nvPr/>
        </p:nvSpPr>
        <p:spPr>
          <a:xfrm>
            <a:off x="6217920" y="2011680"/>
            <a:ext cx="5120640" cy="4206240"/>
          </a:xfrm>
          <a:prstGeom prst="roundRect">
            <a:avLst>
              <a:gd name="adj" fmla="val 3261"/>
            </a:avLst>
          </a:prstGeom>
          <a:solidFill>
            <a:srgbClr val="FFFBEB"/>
          </a:solidFill>
          <a:ln w="12700">
            <a:solidFill>
              <a:srgbClr val="FDE68A"/>
            </a:solidFill>
            <a:prstDash val="solid"/>
          </a:ln>
        </p:spPr>
      </p:sp>
      <p:sp>
        <p:nvSpPr>
          <p:cNvPr id="11" name="Text 9"/>
          <p:cNvSpPr/>
          <p:nvPr/>
        </p:nvSpPr>
        <p:spPr>
          <a:xfrm>
            <a:off x="6492240" y="2194560"/>
            <a:ext cx="4572000" cy="320040"/>
          </a:xfrm>
          <a:prstGeom prst="rect">
            <a:avLst/>
          </a:prstGeom>
          <a:noFill/>
          <a:ln/>
        </p:spPr>
        <p:txBody>
          <a:bodyPr wrap="square" rtlCol="0" anchor="ctr"/>
          <a:lstStyle/>
          <a:p>
            <a:pPr indent="0" marL="0">
              <a:buNone/>
            </a:pPr>
            <a:r>
              <a:rPr lang="en-US" sz="1100" b="1" dirty="0">
                <a:solidFill>
                  <a:srgbClr val="92400E"/>
                </a:solidFill>
              </a:rPr>
              <a:t>AUDITORÍA INTEGRAL DE 21 PREGUNTAS:</a:t>
            </a:r>
            <a:endParaRPr lang="en-US" sz="1100" dirty="0"/>
          </a:p>
        </p:txBody>
      </p:sp>
      <p:sp>
        <p:nvSpPr>
          <p:cNvPr id="12" name="Text 10"/>
          <p:cNvSpPr/>
          <p:nvPr/>
        </p:nvSpPr>
        <p:spPr>
          <a:xfrm>
            <a:off x="6492240" y="2606040"/>
            <a:ext cx="4572000" cy="3383280"/>
          </a:xfrm>
          <a:prstGeom prst="rect">
            <a:avLst/>
          </a:prstGeom>
          <a:noFill/>
          <a:ln/>
        </p:spPr>
        <p:txBody>
          <a:bodyPr wrap="square" rtlCol="0" anchor="ctr"/>
          <a:lstStyle/>
          <a:p>
            <a:pPr indent="0" marL="0">
              <a:lnSpc>
                <a:spcPts val="1800"/>
              </a:lnSpc>
              <a:buNone/>
            </a:pPr>
            <a:r>
              <a:rPr lang="en-US" sz="950" dirty="0">
                <a:solidFill>
                  <a:srgbClr val="475569"/>
                </a:solidFill>
              </a:rPr>
              <a:t>Test estructurado en 12 dimensiones clave:</a:t>
            </a:r>
            <a:endParaRPr lang="en-US" sz="950" dirty="0"/>
          </a:p>
          <a:p>
            <a:pPr indent="0" marL="0">
              <a:lnSpc>
                <a:spcPts val="1800"/>
              </a:lnSpc>
              <a:buNone/>
            </a:pPr>
            <a:r>
              <a:rPr lang="en-US" sz="950" dirty="0">
                <a:solidFill>
                  <a:srgbClr val="475569"/>
                </a:solidFill>
              </a:rPr>
              <a:t>1. Candidato y Liderazgo • 2. Mensaje y Relato • 3. Censo y Apoderados • 4. Equipo de Campaña • 5. Redes y Prensa • 6. Programa y Propuestas • 7. Presupuesto y Financiación • 8. Alianzas Vecinales.</a:t>
            </a:r>
            <a:endParaRPr lang="en-US" sz="950" dirty="0"/>
          </a:p>
          <a:p>
            <a:pPr indent="0" marL="0">
              <a:lnSpc>
                <a:spcPts val="1800"/>
              </a:lnSpc>
              <a:buNone/>
            </a:pPr>
            <a:endParaRPr lang="en-US" sz="950" dirty="0"/>
          </a:p>
          <a:p>
            <a:pPr indent="0" marL="0">
              <a:lnSpc>
                <a:spcPts val="1800"/>
              </a:lnSpc>
              <a:buNone/>
            </a:pPr>
            <a:r>
              <a:rPr lang="en-US" sz="950" dirty="0">
                <a:solidFill>
                  <a:srgbClr val="475569"/>
                </a:solidFill>
              </a:rPr>
              <a:t>Genera un Semáforo Cuantitativo de Madurez que alerta de los puntos ciegos antes de iniciar la campaña oficial.</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731520" y="457200"/>
            <a:ext cx="2560320" cy="320040"/>
          </a:xfrm>
          <a:prstGeom prst="roundRect">
            <a:avLst>
              <a:gd name="adj" fmla="val 28571"/>
            </a:avLst>
          </a:prstGeom>
          <a:solidFill>
            <a:srgbClr val="2563EB"/>
          </a:solidFill>
          <a:ln/>
        </p:spPr>
      </p:sp>
      <p:sp>
        <p:nvSpPr>
          <p:cNvPr id="3" name="Text 1"/>
          <p:cNvSpPr/>
          <p:nvPr/>
        </p:nvSpPr>
        <p:spPr>
          <a:xfrm>
            <a:off x="731520" y="457200"/>
            <a:ext cx="2560320" cy="320040"/>
          </a:xfrm>
          <a:prstGeom prst="rect">
            <a:avLst/>
          </a:prstGeom>
          <a:noFill/>
          <a:ln/>
        </p:spPr>
        <p:txBody>
          <a:bodyPr wrap="square" rtlCol="0" anchor="ctr"/>
          <a:lstStyle/>
          <a:p>
            <a:pPr algn="ctr" indent="0" marL="0">
              <a:buNone/>
            </a:pPr>
            <a:r>
              <a:rPr lang="en-US" sz="1000" b="1" dirty="0">
                <a:solidFill>
                  <a:srgbClr val="FFFFFF"/>
                </a:solidFill>
              </a:rPr>
              <a:t>ESTRATEGIA Y CRONOGRAMA</a:t>
            </a:r>
            <a:endParaRPr lang="en-US" sz="1000" dirty="0"/>
          </a:p>
        </p:txBody>
      </p:sp>
      <p:sp>
        <p:nvSpPr>
          <p:cNvPr id="4" name="Text 2"/>
          <p:cNvSpPr/>
          <p:nvPr/>
        </p:nvSpPr>
        <p:spPr>
          <a:xfrm>
            <a:off x="731520" y="868680"/>
            <a:ext cx="10515600" cy="548640"/>
          </a:xfrm>
          <a:prstGeom prst="rect">
            <a:avLst/>
          </a:prstGeom>
          <a:noFill/>
          <a:ln/>
        </p:spPr>
        <p:txBody>
          <a:bodyPr wrap="square" rtlCol="0" anchor="ctr"/>
          <a:lstStyle/>
          <a:p>
            <a:pPr indent="0" marL="0">
              <a:buNone/>
            </a:pPr>
            <a:r>
              <a:rPr lang="en-US" sz="2200" b="1" dirty="0">
                <a:solidFill>
                  <a:srgbClr val="0F172A"/>
                </a:solidFill>
              </a:rPr>
              <a:t>Estrategia Central y Hoja de Ruta</a:t>
            </a:r>
            <a:endParaRPr lang="en-US" sz="2200" dirty="0"/>
          </a:p>
        </p:txBody>
      </p:sp>
      <p:sp>
        <p:nvSpPr>
          <p:cNvPr id="5" name="Text 3"/>
          <p:cNvSpPr/>
          <p:nvPr/>
        </p:nvSpPr>
        <p:spPr>
          <a:xfrm>
            <a:off x="731520" y="1371600"/>
            <a:ext cx="10515600" cy="365760"/>
          </a:xfrm>
          <a:prstGeom prst="rect">
            <a:avLst/>
          </a:prstGeom>
          <a:noFill/>
          <a:ln/>
        </p:spPr>
        <p:txBody>
          <a:bodyPr wrap="square" rtlCol="0" anchor="ctr"/>
          <a:lstStyle/>
          <a:p>
            <a:pPr indent="0" marL="0">
              <a:buNone/>
            </a:pPr>
            <a:r>
              <a:rPr lang="en-US" sz="1200" dirty="0">
                <a:solidFill>
                  <a:srgbClr val="64748B"/>
                </a:solidFill>
              </a:rPr>
              <a:t>Las 3 prioridades políticas y el cronograma secuencial en 7 fases</a:t>
            </a:r>
            <a:endParaRPr lang="en-US" sz="1200" dirty="0"/>
          </a:p>
        </p:txBody>
      </p:sp>
      <p:sp>
        <p:nvSpPr>
          <p:cNvPr id="6" name="Shape 4"/>
          <p:cNvSpPr/>
          <p:nvPr/>
        </p:nvSpPr>
        <p:spPr>
          <a:xfrm>
            <a:off x="731520" y="1783080"/>
            <a:ext cx="10698480" cy="0"/>
          </a:xfrm>
          <a:prstGeom prst="line">
            <a:avLst/>
          </a:prstGeom>
          <a:noFill/>
          <a:ln w="19050">
            <a:solidFill>
              <a:srgbClr val="E2E8F0"/>
            </a:solidFill>
            <a:prstDash val="solid"/>
          </a:ln>
        </p:spPr>
      </p:sp>
      <p:sp>
        <p:nvSpPr>
          <p:cNvPr id="7" name="Shape 5"/>
          <p:cNvSpPr/>
          <p:nvPr/>
        </p:nvSpPr>
        <p:spPr>
          <a:xfrm>
            <a:off x="731520" y="2011680"/>
            <a:ext cx="3429000" cy="1645920"/>
          </a:xfrm>
          <a:prstGeom prst="roundRect">
            <a:avLst>
              <a:gd name="adj" fmla="val 6667"/>
            </a:avLst>
          </a:prstGeom>
          <a:solidFill>
            <a:srgbClr val="F8FAFC"/>
          </a:solidFill>
          <a:ln w="12700">
            <a:solidFill>
              <a:srgbClr val="CBD5E1"/>
            </a:solidFill>
            <a:prstDash val="solid"/>
          </a:ln>
        </p:spPr>
      </p:sp>
      <p:sp>
        <p:nvSpPr>
          <p:cNvPr id="8" name="Text 6"/>
          <p:cNvSpPr/>
          <p:nvPr/>
        </p:nvSpPr>
        <p:spPr>
          <a:xfrm>
            <a:off x="914400" y="2148840"/>
            <a:ext cx="3063240" cy="274320"/>
          </a:xfrm>
          <a:prstGeom prst="rect">
            <a:avLst/>
          </a:prstGeom>
          <a:noFill/>
          <a:ln/>
        </p:spPr>
        <p:txBody>
          <a:bodyPr wrap="square" rtlCol="0" anchor="ctr"/>
          <a:lstStyle/>
          <a:p>
            <a:pPr indent="0" marL="0">
              <a:buNone/>
            </a:pPr>
            <a:r>
              <a:rPr lang="en-US" sz="900" b="1" dirty="0">
                <a:solidFill>
                  <a:srgbClr val="DC2626"/>
                </a:solidFill>
              </a:rPr>
              <a:t>PRIORIDAD 1</a:t>
            </a:r>
            <a:endParaRPr lang="en-US" sz="900" dirty="0"/>
          </a:p>
        </p:txBody>
      </p:sp>
      <p:sp>
        <p:nvSpPr>
          <p:cNvPr id="9" name="Text 7"/>
          <p:cNvSpPr/>
          <p:nvPr/>
        </p:nvSpPr>
        <p:spPr>
          <a:xfrm>
            <a:off x="914400" y="2423160"/>
            <a:ext cx="3063240" cy="320040"/>
          </a:xfrm>
          <a:prstGeom prst="rect">
            <a:avLst/>
          </a:prstGeom>
          <a:noFill/>
          <a:ln/>
        </p:spPr>
        <p:txBody>
          <a:bodyPr wrap="square" rtlCol="0" anchor="ctr"/>
          <a:lstStyle/>
          <a:p>
            <a:pPr indent="0" marL="0">
              <a:buNone/>
            </a:pPr>
            <a:r>
              <a:rPr lang="en-US" sz="1100" b="1" dirty="0">
                <a:solidFill>
                  <a:srgbClr val="0F172A"/>
                </a:solidFill>
              </a:rPr>
              <a:t>Pilar Central Irrenunciable</a:t>
            </a:r>
            <a:endParaRPr lang="en-US" sz="1100" dirty="0"/>
          </a:p>
        </p:txBody>
      </p:sp>
      <p:sp>
        <p:nvSpPr>
          <p:cNvPr id="10" name="Text 8"/>
          <p:cNvSpPr/>
          <p:nvPr/>
        </p:nvSpPr>
        <p:spPr>
          <a:xfrm>
            <a:off x="914400" y="2788920"/>
            <a:ext cx="3063240" cy="731520"/>
          </a:xfrm>
          <a:prstGeom prst="rect">
            <a:avLst/>
          </a:prstGeom>
          <a:noFill/>
          <a:ln/>
        </p:spPr>
        <p:txBody>
          <a:bodyPr wrap="square" rtlCol="0" anchor="ctr"/>
          <a:lstStyle/>
          <a:p>
            <a:pPr indent="0" marL="0">
              <a:buNone/>
            </a:pPr>
            <a:r>
              <a:rPr lang="en-US" sz="900" dirty="0">
                <a:solidFill>
                  <a:srgbClr val="475569"/>
                </a:solidFill>
              </a:rPr>
              <a:t>El gran tema que define la candidatura (ej: empleo local, limpieza o vivienda).</a:t>
            </a:r>
            <a:endParaRPr lang="en-US" sz="900" dirty="0"/>
          </a:p>
        </p:txBody>
      </p:sp>
      <p:sp>
        <p:nvSpPr>
          <p:cNvPr id="11" name="Shape 9"/>
          <p:cNvSpPr/>
          <p:nvPr/>
        </p:nvSpPr>
        <p:spPr>
          <a:xfrm>
            <a:off x="4343400" y="2011680"/>
            <a:ext cx="3429000" cy="1645920"/>
          </a:xfrm>
          <a:prstGeom prst="roundRect">
            <a:avLst>
              <a:gd name="adj" fmla="val 6667"/>
            </a:avLst>
          </a:prstGeom>
          <a:solidFill>
            <a:srgbClr val="F8FAFC"/>
          </a:solidFill>
          <a:ln w="12700">
            <a:solidFill>
              <a:srgbClr val="CBD5E1"/>
            </a:solidFill>
            <a:prstDash val="solid"/>
          </a:ln>
        </p:spPr>
      </p:sp>
      <p:sp>
        <p:nvSpPr>
          <p:cNvPr id="12" name="Text 10"/>
          <p:cNvSpPr/>
          <p:nvPr/>
        </p:nvSpPr>
        <p:spPr>
          <a:xfrm>
            <a:off x="4526280" y="2148840"/>
            <a:ext cx="3063240" cy="274320"/>
          </a:xfrm>
          <a:prstGeom prst="rect">
            <a:avLst/>
          </a:prstGeom>
          <a:noFill/>
          <a:ln/>
        </p:spPr>
        <p:txBody>
          <a:bodyPr wrap="square" rtlCol="0" anchor="ctr"/>
          <a:lstStyle/>
          <a:p>
            <a:pPr indent="0" marL="0">
              <a:buNone/>
            </a:pPr>
            <a:r>
              <a:rPr lang="en-US" sz="900" b="1" dirty="0">
                <a:solidFill>
                  <a:srgbClr val="DC2626"/>
                </a:solidFill>
              </a:rPr>
              <a:t>PRIORIDAD 2</a:t>
            </a:r>
            <a:endParaRPr lang="en-US" sz="900" dirty="0"/>
          </a:p>
        </p:txBody>
      </p:sp>
      <p:sp>
        <p:nvSpPr>
          <p:cNvPr id="13" name="Text 11"/>
          <p:cNvSpPr/>
          <p:nvPr/>
        </p:nvSpPr>
        <p:spPr>
          <a:xfrm>
            <a:off x="4526280" y="2423160"/>
            <a:ext cx="3063240" cy="320040"/>
          </a:xfrm>
          <a:prstGeom prst="rect">
            <a:avLst/>
          </a:prstGeom>
          <a:noFill/>
          <a:ln/>
        </p:spPr>
        <p:txBody>
          <a:bodyPr wrap="square" rtlCol="0" anchor="ctr"/>
          <a:lstStyle/>
          <a:p>
            <a:pPr indent="0" marL="0">
              <a:buNone/>
            </a:pPr>
            <a:r>
              <a:rPr lang="en-US" sz="1100" b="1" dirty="0">
                <a:solidFill>
                  <a:srgbClr val="0F172A"/>
                </a:solidFill>
              </a:rPr>
              <a:t>Pilar Social y Vecinal</a:t>
            </a:r>
            <a:endParaRPr lang="en-US" sz="1100" dirty="0"/>
          </a:p>
        </p:txBody>
      </p:sp>
      <p:sp>
        <p:nvSpPr>
          <p:cNvPr id="14" name="Text 12"/>
          <p:cNvSpPr/>
          <p:nvPr/>
        </p:nvSpPr>
        <p:spPr>
          <a:xfrm>
            <a:off x="4526280" y="2788920"/>
            <a:ext cx="3063240" cy="731520"/>
          </a:xfrm>
          <a:prstGeom prst="rect">
            <a:avLst/>
          </a:prstGeom>
          <a:noFill/>
          <a:ln/>
        </p:spPr>
        <p:txBody>
          <a:bodyPr wrap="square" rtlCol="0" anchor="ctr"/>
          <a:lstStyle/>
          <a:p>
            <a:pPr indent="0" marL="0">
              <a:buNone/>
            </a:pPr>
            <a:r>
              <a:rPr lang="en-US" sz="900" dirty="0">
                <a:solidFill>
                  <a:srgbClr val="475569"/>
                </a:solidFill>
              </a:rPr>
              <a:t>Respuesta contundente a la mayor queja ciudadana detectada en el municipio.</a:t>
            </a:r>
            <a:endParaRPr lang="en-US" sz="900" dirty="0"/>
          </a:p>
        </p:txBody>
      </p:sp>
      <p:sp>
        <p:nvSpPr>
          <p:cNvPr id="15" name="Shape 13"/>
          <p:cNvSpPr/>
          <p:nvPr/>
        </p:nvSpPr>
        <p:spPr>
          <a:xfrm>
            <a:off x="7955280" y="2011680"/>
            <a:ext cx="3429000" cy="1645920"/>
          </a:xfrm>
          <a:prstGeom prst="roundRect">
            <a:avLst>
              <a:gd name="adj" fmla="val 6667"/>
            </a:avLst>
          </a:prstGeom>
          <a:solidFill>
            <a:srgbClr val="F8FAFC"/>
          </a:solidFill>
          <a:ln w="12700">
            <a:solidFill>
              <a:srgbClr val="CBD5E1"/>
            </a:solidFill>
            <a:prstDash val="solid"/>
          </a:ln>
        </p:spPr>
      </p:sp>
      <p:sp>
        <p:nvSpPr>
          <p:cNvPr id="16" name="Text 14"/>
          <p:cNvSpPr/>
          <p:nvPr/>
        </p:nvSpPr>
        <p:spPr>
          <a:xfrm>
            <a:off x="8138160" y="2148840"/>
            <a:ext cx="3063240" cy="274320"/>
          </a:xfrm>
          <a:prstGeom prst="rect">
            <a:avLst/>
          </a:prstGeom>
          <a:noFill/>
          <a:ln/>
        </p:spPr>
        <p:txBody>
          <a:bodyPr wrap="square" rtlCol="0" anchor="ctr"/>
          <a:lstStyle/>
          <a:p>
            <a:pPr indent="0" marL="0">
              <a:buNone/>
            </a:pPr>
            <a:r>
              <a:rPr lang="en-US" sz="900" b="1" dirty="0">
                <a:solidFill>
                  <a:srgbClr val="DC2626"/>
                </a:solidFill>
              </a:rPr>
              <a:t>PRIORIDAD 3</a:t>
            </a:r>
            <a:endParaRPr lang="en-US" sz="900" dirty="0"/>
          </a:p>
        </p:txBody>
      </p:sp>
      <p:sp>
        <p:nvSpPr>
          <p:cNvPr id="17" name="Text 15"/>
          <p:cNvSpPr/>
          <p:nvPr/>
        </p:nvSpPr>
        <p:spPr>
          <a:xfrm>
            <a:off x="8138160" y="2423160"/>
            <a:ext cx="3063240" cy="320040"/>
          </a:xfrm>
          <a:prstGeom prst="rect">
            <a:avLst/>
          </a:prstGeom>
          <a:noFill/>
          <a:ln/>
        </p:spPr>
        <p:txBody>
          <a:bodyPr wrap="square" rtlCol="0" anchor="ctr"/>
          <a:lstStyle/>
          <a:p>
            <a:pPr indent="0" marL="0">
              <a:buNone/>
            </a:pPr>
            <a:r>
              <a:rPr lang="en-US" sz="1100" b="1" dirty="0">
                <a:solidFill>
                  <a:srgbClr val="0F172A"/>
                </a:solidFill>
              </a:rPr>
              <a:t>Proyecto Emblemático</a:t>
            </a:r>
            <a:endParaRPr lang="en-US" sz="1100" dirty="0"/>
          </a:p>
        </p:txBody>
      </p:sp>
      <p:sp>
        <p:nvSpPr>
          <p:cNvPr id="18" name="Text 16"/>
          <p:cNvSpPr/>
          <p:nvPr/>
        </p:nvSpPr>
        <p:spPr>
          <a:xfrm>
            <a:off x="8138160" y="2788920"/>
            <a:ext cx="3063240" cy="731520"/>
          </a:xfrm>
          <a:prstGeom prst="rect">
            <a:avLst/>
          </a:prstGeom>
          <a:noFill/>
          <a:ln/>
        </p:spPr>
        <p:txBody>
          <a:bodyPr wrap="square" rtlCol="0" anchor="ctr"/>
          <a:lstStyle/>
          <a:p>
            <a:pPr indent="0" marL="0">
              <a:buNone/>
            </a:pPr>
            <a:r>
              <a:rPr lang="en-US" sz="900" dirty="0">
                <a:solidFill>
                  <a:srgbClr val="475569"/>
                </a:solidFill>
              </a:rPr>
              <a:t>La gran obra o transformación estratégica prevista para la legislatura 2027-2031.</a:t>
            </a:r>
            <a:endParaRPr lang="en-US" sz="900" dirty="0"/>
          </a:p>
        </p:txBody>
      </p:sp>
      <p:sp>
        <p:nvSpPr>
          <p:cNvPr id="19" name="Shape 17"/>
          <p:cNvSpPr/>
          <p:nvPr/>
        </p:nvSpPr>
        <p:spPr>
          <a:xfrm>
            <a:off x="731520" y="3931920"/>
            <a:ext cx="10652760" cy="2286000"/>
          </a:xfrm>
          <a:prstGeom prst="roundRect">
            <a:avLst>
              <a:gd name="adj" fmla="val 6000"/>
            </a:avLst>
          </a:prstGeom>
          <a:solidFill>
            <a:srgbClr val="EFF6FF"/>
          </a:solidFill>
          <a:ln w="12700">
            <a:solidFill>
              <a:srgbClr val="BFDBFE"/>
            </a:solidFill>
            <a:prstDash val="solid"/>
          </a:ln>
        </p:spPr>
      </p:sp>
      <p:sp>
        <p:nvSpPr>
          <p:cNvPr id="20" name="Text 18"/>
          <p:cNvSpPr/>
          <p:nvPr/>
        </p:nvSpPr>
        <p:spPr>
          <a:xfrm>
            <a:off x="1005840" y="4114800"/>
            <a:ext cx="10058400" cy="320040"/>
          </a:xfrm>
          <a:prstGeom prst="rect">
            <a:avLst/>
          </a:prstGeom>
          <a:noFill/>
          <a:ln/>
        </p:spPr>
        <p:txBody>
          <a:bodyPr wrap="square" rtlCol="0" anchor="ctr"/>
          <a:lstStyle/>
          <a:p>
            <a:pPr indent="0" marL="0">
              <a:buNone/>
            </a:pPr>
            <a:r>
              <a:rPr lang="en-US" sz="1050" b="1" dirty="0">
                <a:solidFill>
                  <a:srgbClr val="1E40AF"/>
                </a:solidFill>
              </a:rPr>
              <a:t>HOJA DE RUTA SECUENCIAL EN 7 FASES (SEPTIEMBRE 2026 – MAYO 2027):</a:t>
            </a:r>
            <a:endParaRPr lang="en-US" sz="1050" dirty="0"/>
          </a:p>
        </p:txBody>
      </p:sp>
      <p:sp>
        <p:nvSpPr>
          <p:cNvPr id="21" name="Shape 19"/>
          <p:cNvSpPr/>
          <p:nvPr/>
        </p:nvSpPr>
        <p:spPr>
          <a:xfrm>
            <a:off x="1005840" y="4526280"/>
            <a:ext cx="1353312" cy="1371600"/>
          </a:xfrm>
          <a:prstGeom prst="roundRect">
            <a:avLst>
              <a:gd name="adj" fmla="val 6757"/>
            </a:avLst>
          </a:prstGeom>
          <a:solidFill>
            <a:srgbClr val="FFFFFF"/>
          </a:solidFill>
          <a:ln w="12700">
            <a:solidFill>
              <a:srgbClr val="DBEAFE"/>
            </a:solidFill>
            <a:prstDash val="solid"/>
          </a:ln>
        </p:spPr>
      </p:sp>
      <p:sp>
        <p:nvSpPr>
          <p:cNvPr id="22" name="Text 20"/>
          <p:cNvSpPr/>
          <p:nvPr/>
        </p:nvSpPr>
        <p:spPr>
          <a:xfrm>
            <a:off x="1051560" y="4709160"/>
            <a:ext cx="1261872" cy="1005840"/>
          </a:xfrm>
          <a:prstGeom prst="rect">
            <a:avLst/>
          </a:prstGeom>
          <a:noFill/>
          <a:ln/>
        </p:spPr>
        <p:txBody>
          <a:bodyPr wrap="square" rtlCol="0" anchor="ctr"/>
          <a:lstStyle/>
          <a:p>
            <a:pPr algn="ctr" indent="0" marL="0">
              <a:buNone/>
            </a:pPr>
            <a:r>
              <a:rPr lang="en-US" sz="900" b="1" dirty="0">
                <a:solidFill>
                  <a:srgbClr val="0F172A"/>
                </a:solidFill>
              </a:rPr>
              <a:t>1. Diagnóstico</a:t>
            </a:r>
            <a:endParaRPr lang="en-US" sz="900" dirty="0"/>
          </a:p>
          <a:p>
            <a:pPr algn="ctr" indent="0" marL="0">
              <a:buNone/>
            </a:pPr>
            <a:r>
              <a:rPr lang="en-US" sz="900" b="1" dirty="0">
                <a:solidFill>
                  <a:srgbClr val="0F172A"/>
                </a:solidFill>
              </a:rPr>
              <a:t>Sep-Oct 26</a:t>
            </a:r>
            <a:endParaRPr lang="en-US" sz="900" dirty="0"/>
          </a:p>
        </p:txBody>
      </p:sp>
      <p:sp>
        <p:nvSpPr>
          <p:cNvPr id="23" name="Shape 21"/>
          <p:cNvSpPr/>
          <p:nvPr/>
        </p:nvSpPr>
        <p:spPr>
          <a:xfrm>
            <a:off x="2450592" y="4526280"/>
            <a:ext cx="1353312" cy="1371600"/>
          </a:xfrm>
          <a:prstGeom prst="roundRect">
            <a:avLst>
              <a:gd name="adj" fmla="val 6757"/>
            </a:avLst>
          </a:prstGeom>
          <a:solidFill>
            <a:srgbClr val="FFFFFF"/>
          </a:solidFill>
          <a:ln w="12700">
            <a:solidFill>
              <a:srgbClr val="DBEAFE"/>
            </a:solidFill>
            <a:prstDash val="solid"/>
          </a:ln>
        </p:spPr>
      </p:sp>
      <p:sp>
        <p:nvSpPr>
          <p:cNvPr id="24" name="Text 22"/>
          <p:cNvSpPr/>
          <p:nvPr/>
        </p:nvSpPr>
        <p:spPr>
          <a:xfrm>
            <a:off x="2496312" y="4709160"/>
            <a:ext cx="1261872" cy="1005840"/>
          </a:xfrm>
          <a:prstGeom prst="rect">
            <a:avLst/>
          </a:prstGeom>
          <a:noFill/>
          <a:ln/>
        </p:spPr>
        <p:txBody>
          <a:bodyPr wrap="square" rtlCol="0" anchor="ctr"/>
          <a:lstStyle/>
          <a:p>
            <a:pPr algn="ctr" indent="0" marL="0">
              <a:buNone/>
            </a:pPr>
            <a:r>
              <a:rPr lang="en-US" sz="900" b="1" dirty="0">
                <a:solidFill>
                  <a:srgbClr val="0F172A"/>
                </a:solidFill>
              </a:rPr>
              <a:t>2. Posición</a:t>
            </a:r>
            <a:endParaRPr lang="en-US" sz="900" dirty="0"/>
          </a:p>
          <a:p>
            <a:pPr algn="ctr" indent="0" marL="0">
              <a:buNone/>
            </a:pPr>
            <a:r>
              <a:rPr lang="en-US" sz="900" b="1" dirty="0">
                <a:solidFill>
                  <a:srgbClr val="0F172A"/>
                </a:solidFill>
              </a:rPr>
              <a:t>Nov 26</a:t>
            </a:r>
            <a:endParaRPr lang="en-US" sz="900" dirty="0"/>
          </a:p>
        </p:txBody>
      </p:sp>
      <p:sp>
        <p:nvSpPr>
          <p:cNvPr id="25" name="Shape 23"/>
          <p:cNvSpPr/>
          <p:nvPr/>
        </p:nvSpPr>
        <p:spPr>
          <a:xfrm>
            <a:off x="3895344" y="4526280"/>
            <a:ext cx="1353312" cy="1371600"/>
          </a:xfrm>
          <a:prstGeom prst="roundRect">
            <a:avLst>
              <a:gd name="adj" fmla="val 6757"/>
            </a:avLst>
          </a:prstGeom>
          <a:solidFill>
            <a:srgbClr val="FFFFFF"/>
          </a:solidFill>
          <a:ln w="12700">
            <a:solidFill>
              <a:srgbClr val="DBEAFE"/>
            </a:solidFill>
            <a:prstDash val="solid"/>
          </a:ln>
        </p:spPr>
      </p:sp>
      <p:sp>
        <p:nvSpPr>
          <p:cNvPr id="26" name="Text 24"/>
          <p:cNvSpPr/>
          <p:nvPr/>
        </p:nvSpPr>
        <p:spPr>
          <a:xfrm>
            <a:off x="3941064" y="4709160"/>
            <a:ext cx="1261872" cy="1005840"/>
          </a:xfrm>
          <a:prstGeom prst="rect">
            <a:avLst/>
          </a:prstGeom>
          <a:noFill/>
          <a:ln/>
        </p:spPr>
        <p:txBody>
          <a:bodyPr wrap="square" rtlCol="0" anchor="ctr"/>
          <a:lstStyle/>
          <a:p>
            <a:pPr algn="ctr" indent="0" marL="0">
              <a:buNone/>
            </a:pPr>
            <a:r>
              <a:rPr lang="en-US" sz="900" b="1" dirty="0">
                <a:solidFill>
                  <a:srgbClr val="0F172A"/>
                </a:solidFill>
              </a:rPr>
              <a:t>3. Presencia</a:t>
            </a:r>
            <a:endParaRPr lang="en-US" sz="900" dirty="0"/>
          </a:p>
          <a:p>
            <a:pPr algn="ctr" indent="0" marL="0">
              <a:buNone/>
            </a:pPr>
            <a:r>
              <a:rPr lang="en-US" sz="900" b="1" dirty="0">
                <a:solidFill>
                  <a:srgbClr val="0F172A"/>
                </a:solidFill>
              </a:rPr>
              <a:t>Dic 26 - Ene 27</a:t>
            </a:r>
            <a:endParaRPr lang="en-US" sz="900" dirty="0"/>
          </a:p>
        </p:txBody>
      </p:sp>
      <p:sp>
        <p:nvSpPr>
          <p:cNvPr id="27" name="Shape 25"/>
          <p:cNvSpPr/>
          <p:nvPr/>
        </p:nvSpPr>
        <p:spPr>
          <a:xfrm>
            <a:off x="5340096" y="4526280"/>
            <a:ext cx="1353312" cy="1371600"/>
          </a:xfrm>
          <a:prstGeom prst="roundRect">
            <a:avLst>
              <a:gd name="adj" fmla="val 6757"/>
            </a:avLst>
          </a:prstGeom>
          <a:solidFill>
            <a:srgbClr val="FFFFFF"/>
          </a:solidFill>
          <a:ln w="12700">
            <a:solidFill>
              <a:srgbClr val="DBEAFE"/>
            </a:solidFill>
            <a:prstDash val="solid"/>
          </a:ln>
        </p:spPr>
      </p:sp>
      <p:sp>
        <p:nvSpPr>
          <p:cNvPr id="28" name="Text 26"/>
          <p:cNvSpPr/>
          <p:nvPr/>
        </p:nvSpPr>
        <p:spPr>
          <a:xfrm>
            <a:off x="5385816" y="4709160"/>
            <a:ext cx="1261872" cy="1005840"/>
          </a:xfrm>
          <a:prstGeom prst="rect">
            <a:avLst/>
          </a:prstGeom>
          <a:noFill/>
          <a:ln/>
        </p:spPr>
        <p:txBody>
          <a:bodyPr wrap="square" rtlCol="0" anchor="ctr"/>
          <a:lstStyle/>
          <a:p>
            <a:pPr algn="ctr" indent="0" marL="0">
              <a:buNone/>
            </a:pPr>
            <a:r>
              <a:rPr lang="en-US" sz="900" b="1" dirty="0">
                <a:solidFill>
                  <a:srgbClr val="0F172A"/>
                </a:solidFill>
              </a:rPr>
              <a:t>4. Activación</a:t>
            </a:r>
            <a:endParaRPr lang="en-US" sz="900" dirty="0"/>
          </a:p>
          <a:p>
            <a:pPr algn="ctr" indent="0" marL="0">
              <a:buNone/>
            </a:pPr>
            <a:r>
              <a:rPr lang="en-US" sz="900" b="1" dirty="0">
                <a:solidFill>
                  <a:srgbClr val="0F172A"/>
                </a:solidFill>
              </a:rPr>
              <a:t>Feb 27</a:t>
            </a:r>
            <a:endParaRPr lang="en-US" sz="900" dirty="0"/>
          </a:p>
        </p:txBody>
      </p:sp>
      <p:sp>
        <p:nvSpPr>
          <p:cNvPr id="29" name="Shape 27"/>
          <p:cNvSpPr/>
          <p:nvPr/>
        </p:nvSpPr>
        <p:spPr>
          <a:xfrm>
            <a:off x="6784848" y="4526280"/>
            <a:ext cx="1353312" cy="1371600"/>
          </a:xfrm>
          <a:prstGeom prst="roundRect">
            <a:avLst>
              <a:gd name="adj" fmla="val 6757"/>
            </a:avLst>
          </a:prstGeom>
          <a:solidFill>
            <a:srgbClr val="FFFFFF"/>
          </a:solidFill>
          <a:ln w="12700">
            <a:solidFill>
              <a:srgbClr val="DBEAFE"/>
            </a:solidFill>
            <a:prstDash val="solid"/>
          </a:ln>
        </p:spPr>
      </p:sp>
      <p:sp>
        <p:nvSpPr>
          <p:cNvPr id="30" name="Text 28"/>
          <p:cNvSpPr/>
          <p:nvPr/>
        </p:nvSpPr>
        <p:spPr>
          <a:xfrm>
            <a:off x="6830568" y="4709160"/>
            <a:ext cx="1261872" cy="1005840"/>
          </a:xfrm>
          <a:prstGeom prst="rect">
            <a:avLst/>
          </a:prstGeom>
          <a:noFill/>
          <a:ln/>
        </p:spPr>
        <p:txBody>
          <a:bodyPr wrap="square" rtlCol="0" anchor="ctr"/>
          <a:lstStyle/>
          <a:p>
            <a:pPr algn="ctr" indent="0" marL="0">
              <a:buNone/>
            </a:pPr>
            <a:r>
              <a:rPr lang="en-US" sz="900" b="1" dirty="0">
                <a:solidFill>
                  <a:srgbClr val="0F172A"/>
                </a:solidFill>
              </a:rPr>
              <a:t>5. Contacto</a:t>
            </a:r>
            <a:endParaRPr lang="en-US" sz="900" dirty="0"/>
          </a:p>
          <a:p>
            <a:pPr algn="ctr" indent="0" marL="0">
              <a:buNone/>
            </a:pPr>
            <a:r>
              <a:rPr lang="en-US" sz="900" b="1" dirty="0">
                <a:solidFill>
                  <a:srgbClr val="0F172A"/>
                </a:solidFill>
              </a:rPr>
              <a:t>Mar-Abr 27</a:t>
            </a:r>
            <a:endParaRPr lang="en-US" sz="900" dirty="0"/>
          </a:p>
        </p:txBody>
      </p:sp>
      <p:sp>
        <p:nvSpPr>
          <p:cNvPr id="31" name="Shape 29"/>
          <p:cNvSpPr/>
          <p:nvPr/>
        </p:nvSpPr>
        <p:spPr>
          <a:xfrm>
            <a:off x="8229600" y="4526280"/>
            <a:ext cx="1353312" cy="1371600"/>
          </a:xfrm>
          <a:prstGeom prst="roundRect">
            <a:avLst>
              <a:gd name="adj" fmla="val 6757"/>
            </a:avLst>
          </a:prstGeom>
          <a:solidFill>
            <a:srgbClr val="FEE2E2"/>
          </a:solidFill>
          <a:ln w="12700">
            <a:solidFill>
              <a:srgbClr val="FCA5A5"/>
            </a:solidFill>
            <a:prstDash val="solid"/>
          </a:ln>
        </p:spPr>
      </p:sp>
      <p:sp>
        <p:nvSpPr>
          <p:cNvPr id="32" name="Text 30"/>
          <p:cNvSpPr/>
          <p:nvPr/>
        </p:nvSpPr>
        <p:spPr>
          <a:xfrm>
            <a:off x="8275320" y="4709160"/>
            <a:ext cx="1261872" cy="1005840"/>
          </a:xfrm>
          <a:prstGeom prst="rect">
            <a:avLst/>
          </a:prstGeom>
          <a:noFill/>
          <a:ln/>
        </p:spPr>
        <p:txBody>
          <a:bodyPr wrap="square" rtlCol="0" anchor="ctr"/>
          <a:lstStyle/>
          <a:p>
            <a:pPr algn="ctr" indent="0" marL="0">
              <a:buNone/>
            </a:pPr>
            <a:r>
              <a:rPr lang="en-US" sz="900" b="1" dirty="0">
                <a:solidFill>
                  <a:srgbClr val="991B1B"/>
                </a:solidFill>
              </a:rPr>
              <a:t>6. Campaña</a:t>
            </a:r>
            <a:endParaRPr lang="en-US" sz="900" dirty="0"/>
          </a:p>
          <a:p>
            <a:pPr algn="ctr" indent="0" marL="0">
              <a:buNone/>
            </a:pPr>
            <a:r>
              <a:rPr lang="en-US" sz="900" b="1" dirty="0">
                <a:solidFill>
                  <a:srgbClr val="991B1B"/>
                </a:solidFill>
              </a:rPr>
              <a:t>May 27 (Oficial)</a:t>
            </a:r>
            <a:endParaRPr lang="en-US" sz="900" dirty="0"/>
          </a:p>
        </p:txBody>
      </p:sp>
      <p:sp>
        <p:nvSpPr>
          <p:cNvPr id="33" name="Shape 31"/>
          <p:cNvSpPr/>
          <p:nvPr/>
        </p:nvSpPr>
        <p:spPr>
          <a:xfrm>
            <a:off x="9674352" y="4526280"/>
            <a:ext cx="1353312" cy="1371600"/>
          </a:xfrm>
          <a:prstGeom prst="roundRect">
            <a:avLst>
              <a:gd name="adj" fmla="val 6757"/>
            </a:avLst>
          </a:prstGeom>
          <a:solidFill>
            <a:srgbClr val="FEE2E2"/>
          </a:solidFill>
          <a:ln w="12700">
            <a:solidFill>
              <a:srgbClr val="FCA5A5"/>
            </a:solidFill>
            <a:prstDash val="solid"/>
          </a:ln>
        </p:spPr>
      </p:sp>
      <p:sp>
        <p:nvSpPr>
          <p:cNvPr id="34" name="Text 32"/>
          <p:cNvSpPr/>
          <p:nvPr/>
        </p:nvSpPr>
        <p:spPr>
          <a:xfrm>
            <a:off x="9720072" y="4709160"/>
            <a:ext cx="1261872" cy="1005840"/>
          </a:xfrm>
          <a:prstGeom prst="rect">
            <a:avLst/>
          </a:prstGeom>
          <a:noFill/>
          <a:ln/>
        </p:spPr>
        <p:txBody>
          <a:bodyPr wrap="square" rtlCol="0" anchor="ctr"/>
          <a:lstStyle/>
          <a:p>
            <a:pPr algn="ctr" indent="0" marL="0">
              <a:buNone/>
            </a:pPr>
            <a:r>
              <a:rPr lang="en-US" sz="900" b="1" dirty="0">
                <a:solidFill>
                  <a:srgbClr val="991B1B"/>
                </a:solidFill>
              </a:rPr>
              <a:t>7. Voto</a:t>
            </a:r>
            <a:endParaRPr lang="en-US" sz="900" dirty="0"/>
          </a:p>
          <a:p>
            <a:pPr algn="ctr" indent="0" marL="0">
              <a:buNone/>
            </a:pPr>
            <a:r>
              <a:rPr lang="en-US" sz="900" b="1" dirty="0">
                <a:solidFill>
                  <a:srgbClr val="991B1B"/>
                </a:solidFill>
              </a:rPr>
              <a:t>Día D (Elección)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731520" y="457200"/>
            <a:ext cx="2560320" cy="320040"/>
          </a:xfrm>
          <a:prstGeom prst="roundRect">
            <a:avLst>
              <a:gd name="adj" fmla="val 28571"/>
            </a:avLst>
          </a:prstGeom>
          <a:solidFill>
            <a:srgbClr val="DC2626"/>
          </a:solidFill>
          <a:ln/>
        </p:spPr>
      </p:sp>
      <p:sp>
        <p:nvSpPr>
          <p:cNvPr id="3" name="Text 1"/>
          <p:cNvSpPr/>
          <p:nvPr/>
        </p:nvSpPr>
        <p:spPr>
          <a:xfrm>
            <a:off x="731520" y="457200"/>
            <a:ext cx="2560320" cy="320040"/>
          </a:xfrm>
          <a:prstGeom prst="rect">
            <a:avLst/>
          </a:prstGeom>
          <a:noFill/>
          <a:ln/>
        </p:spPr>
        <p:txBody>
          <a:bodyPr wrap="square" rtlCol="0" anchor="ctr"/>
          <a:lstStyle/>
          <a:p>
            <a:pPr algn="ctr" indent="0" marL="0">
              <a:buNone/>
            </a:pPr>
            <a:r>
              <a:rPr lang="en-US" sz="1000" b="1" dirty="0">
                <a:solidFill>
                  <a:srgbClr val="FFFFFF"/>
                </a:solidFill>
              </a:rPr>
              <a:t>RELATO Y COMUNICACIÓN</a:t>
            </a:r>
            <a:endParaRPr lang="en-US" sz="1000" dirty="0"/>
          </a:p>
        </p:txBody>
      </p:sp>
      <p:sp>
        <p:nvSpPr>
          <p:cNvPr id="4" name="Text 2"/>
          <p:cNvSpPr/>
          <p:nvPr/>
        </p:nvSpPr>
        <p:spPr>
          <a:xfrm>
            <a:off x="731520" y="868680"/>
            <a:ext cx="10515600" cy="548640"/>
          </a:xfrm>
          <a:prstGeom prst="rect">
            <a:avLst/>
          </a:prstGeom>
          <a:noFill/>
          <a:ln/>
        </p:spPr>
        <p:txBody>
          <a:bodyPr wrap="square" rtlCol="0" anchor="ctr"/>
          <a:lstStyle/>
          <a:p>
            <a:pPr indent="0" marL="0">
              <a:buNone/>
            </a:pPr>
            <a:r>
              <a:rPr lang="en-US" sz="2200" b="1" dirty="0">
                <a:solidFill>
                  <a:srgbClr val="0F172A"/>
                </a:solidFill>
              </a:rPr>
              <a:t>Banco de Mensajes y Radar de Rivales</a:t>
            </a:r>
            <a:endParaRPr lang="en-US" sz="2200" dirty="0"/>
          </a:p>
        </p:txBody>
      </p:sp>
      <p:sp>
        <p:nvSpPr>
          <p:cNvPr id="5" name="Text 3"/>
          <p:cNvSpPr/>
          <p:nvPr/>
        </p:nvSpPr>
        <p:spPr>
          <a:xfrm>
            <a:off x="731520" y="1371600"/>
            <a:ext cx="10515600" cy="365760"/>
          </a:xfrm>
          <a:prstGeom prst="rect">
            <a:avLst/>
          </a:prstGeom>
          <a:noFill/>
          <a:ln/>
        </p:spPr>
        <p:txBody>
          <a:bodyPr wrap="square" rtlCol="0" anchor="ctr"/>
          <a:lstStyle/>
          <a:p>
            <a:pPr indent="0" marL="0">
              <a:buNone/>
            </a:pPr>
            <a:r>
              <a:rPr lang="en-US" sz="1200" dirty="0">
                <a:solidFill>
                  <a:srgbClr val="64748B"/>
                </a:solidFill>
              </a:rPr>
              <a:t>Disciplina comunicativa y seguimiento sistemático de competidores</a:t>
            </a:r>
            <a:endParaRPr lang="en-US" sz="1200" dirty="0"/>
          </a:p>
        </p:txBody>
      </p:sp>
      <p:sp>
        <p:nvSpPr>
          <p:cNvPr id="6" name="Shape 4"/>
          <p:cNvSpPr/>
          <p:nvPr/>
        </p:nvSpPr>
        <p:spPr>
          <a:xfrm>
            <a:off x="731520" y="1783080"/>
            <a:ext cx="10698480" cy="0"/>
          </a:xfrm>
          <a:prstGeom prst="line">
            <a:avLst/>
          </a:prstGeom>
          <a:noFill/>
          <a:ln w="19050">
            <a:solidFill>
              <a:srgbClr val="E2E8F0"/>
            </a:solidFill>
            <a:prstDash val="solid"/>
          </a:ln>
        </p:spPr>
      </p:sp>
      <p:sp>
        <p:nvSpPr>
          <p:cNvPr id="7" name="Shape 5"/>
          <p:cNvSpPr/>
          <p:nvPr/>
        </p:nvSpPr>
        <p:spPr>
          <a:xfrm>
            <a:off x="731520" y="2011680"/>
            <a:ext cx="5120640" cy="4206240"/>
          </a:xfrm>
          <a:prstGeom prst="roundRect">
            <a:avLst>
              <a:gd name="adj" fmla="val 3261"/>
            </a:avLst>
          </a:prstGeom>
          <a:solidFill>
            <a:srgbClr val="F8FAFC"/>
          </a:solidFill>
          <a:ln w="12700">
            <a:solidFill>
              <a:srgbClr val="E2E8F0"/>
            </a:solidFill>
            <a:prstDash val="solid"/>
          </a:ln>
        </p:spPr>
      </p:sp>
      <p:sp>
        <p:nvSpPr>
          <p:cNvPr id="8" name="Text 6"/>
          <p:cNvSpPr/>
          <p:nvPr/>
        </p:nvSpPr>
        <p:spPr>
          <a:xfrm>
            <a:off x="1005840" y="2194560"/>
            <a:ext cx="4572000" cy="320040"/>
          </a:xfrm>
          <a:prstGeom prst="rect">
            <a:avLst/>
          </a:prstGeom>
          <a:noFill/>
          <a:ln/>
        </p:spPr>
        <p:txBody>
          <a:bodyPr wrap="square" rtlCol="0" anchor="ctr"/>
          <a:lstStyle/>
          <a:p>
            <a:pPr indent="0" marL="0">
              <a:buNone/>
            </a:pPr>
            <a:r>
              <a:rPr lang="en-US" sz="1100" b="1" dirty="0">
                <a:solidFill>
                  <a:srgbClr val="DC2626"/>
                </a:solidFill>
              </a:rPr>
              <a:t>BANCO DE MENSAJES Y ARGUMENTARIOS:</a:t>
            </a:r>
            <a:endParaRPr lang="en-US" sz="1100" dirty="0"/>
          </a:p>
        </p:txBody>
      </p:sp>
      <p:sp>
        <p:nvSpPr>
          <p:cNvPr id="9" name="Text 7"/>
          <p:cNvSpPr/>
          <p:nvPr/>
        </p:nvSpPr>
        <p:spPr>
          <a:xfrm>
            <a:off x="1005840" y="2606040"/>
            <a:ext cx="4572000" cy="3383280"/>
          </a:xfrm>
          <a:prstGeom prst="rect">
            <a:avLst/>
          </a:prstGeom>
          <a:noFill/>
          <a:ln/>
        </p:spPr>
        <p:txBody>
          <a:bodyPr wrap="square" rtlCol="0" anchor="ctr"/>
          <a:lstStyle/>
          <a:p>
            <a:pPr indent="0" marL="0">
              <a:lnSpc>
                <a:spcPts val="1800"/>
              </a:lnSpc>
              <a:buNone/>
            </a:pPr>
            <a:r>
              <a:rPr lang="en-US" sz="950" dirty="0">
                <a:solidFill>
                  <a:srgbClr val="334155"/>
                </a:solidFill>
              </a:rPr>
              <a:t>• Mensajes Principales de Campaña: Las ideas fuerza que todos los candidatos y militantes deben repetir siempre.</a:t>
            </a:r>
            <a:endParaRPr lang="en-US" sz="950" dirty="0"/>
          </a:p>
          <a:p>
            <a:pPr indent="0" marL="0">
              <a:lnSpc>
                <a:spcPts val="1800"/>
              </a:lnSpc>
              <a:buNone/>
            </a:pPr>
            <a:endParaRPr lang="en-US" sz="950" dirty="0"/>
          </a:p>
          <a:p>
            <a:pPr indent="0" marL="0">
              <a:lnSpc>
                <a:spcPts val="1800"/>
              </a:lnSpc>
              <a:buNone/>
            </a:pPr>
            <a:r>
              <a:rPr lang="en-US" sz="950" dirty="0">
                <a:solidFill>
                  <a:srgbClr val="334155"/>
                </a:solidFill>
              </a:rPr>
              <a:t>• Respuestas a Ataques Previsibles: Réplicas oficiales ya redactadas y ensayadas para desmontar críticas en menos de 5 minutos.</a:t>
            </a:r>
            <a:endParaRPr lang="en-US" sz="950" dirty="0"/>
          </a:p>
          <a:p>
            <a:pPr indent="0" marL="0">
              <a:lnSpc>
                <a:spcPts val="1800"/>
              </a:lnSpc>
              <a:buNone/>
            </a:pPr>
            <a:endParaRPr lang="en-US" sz="950" dirty="0"/>
          </a:p>
          <a:p>
            <a:pPr indent="0" marL="0">
              <a:lnSpc>
                <a:spcPts val="1800"/>
              </a:lnSpc>
              <a:buNone/>
            </a:pPr>
            <a:r>
              <a:rPr lang="en-US" sz="950" dirty="0">
                <a:solidFill>
                  <a:srgbClr val="334155"/>
                </a:solidFill>
              </a:rPr>
              <a:t>• Preguntas Frecuentes (FAQ): Dudas vecinales recurrentes resueltas con rigor.</a:t>
            </a:r>
            <a:endParaRPr lang="en-US" sz="950" dirty="0"/>
          </a:p>
          <a:p>
            <a:pPr indent="0" marL="0">
              <a:lnSpc>
                <a:spcPts val="1800"/>
              </a:lnSpc>
              <a:buNone/>
            </a:pPr>
            <a:endParaRPr lang="en-US" sz="950" dirty="0"/>
          </a:p>
          <a:p>
            <a:pPr indent="0" marL="0">
              <a:lnSpc>
                <a:spcPts val="1800"/>
              </a:lnSpc>
              <a:buNone/>
            </a:pPr>
            <a:r>
              <a:rPr lang="en-US" sz="950" dirty="0">
                <a:solidFill>
                  <a:srgbClr val="334155"/>
                </a:solidFill>
              </a:rPr>
              <a:t>• Datos Locales Contrastados: Cifras de presupuesto, deuda o inversiones oficiales para argumentar con hechos demostrables.</a:t>
            </a:r>
            <a:endParaRPr lang="en-US" sz="950" dirty="0"/>
          </a:p>
        </p:txBody>
      </p:sp>
      <p:sp>
        <p:nvSpPr>
          <p:cNvPr id="10" name="Shape 8"/>
          <p:cNvSpPr/>
          <p:nvPr/>
        </p:nvSpPr>
        <p:spPr>
          <a:xfrm>
            <a:off x="6217920" y="2011680"/>
            <a:ext cx="5120640" cy="4206240"/>
          </a:xfrm>
          <a:prstGeom prst="roundRect">
            <a:avLst>
              <a:gd name="adj" fmla="val 3261"/>
            </a:avLst>
          </a:prstGeom>
          <a:solidFill>
            <a:srgbClr val="EFF6FF"/>
          </a:solidFill>
          <a:ln w="12700">
            <a:solidFill>
              <a:srgbClr val="BFDBFE"/>
            </a:solidFill>
            <a:prstDash val="solid"/>
          </a:ln>
        </p:spPr>
      </p:sp>
      <p:sp>
        <p:nvSpPr>
          <p:cNvPr id="11" name="Text 9"/>
          <p:cNvSpPr/>
          <p:nvPr/>
        </p:nvSpPr>
        <p:spPr>
          <a:xfrm>
            <a:off x="6492240" y="2194560"/>
            <a:ext cx="4572000" cy="320040"/>
          </a:xfrm>
          <a:prstGeom prst="rect">
            <a:avLst/>
          </a:prstGeom>
          <a:noFill/>
          <a:ln/>
        </p:spPr>
        <p:txBody>
          <a:bodyPr wrap="square" rtlCol="0" anchor="ctr"/>
          <a:lstStyle/>
          <a:p>
            <a:pPr indent="0" marL="0">
              <a:buNone/>
            </a:pPr>
            <a:r>
              <a:rPr lang="en-US" sz="1100" b="1" dirty="0">
                <a:solidFill>
                  <a:srgbClr val="1D4ED8"/>
                </a:solidFill>
              </a:rPr>
              <a:t>RADAR DE COMPETIDORES Y CONTRASTE:</a:t>
            </a:r>
            <a:endParaRPr lang="en-US" sz="1100" dirty="0"/>
          </a:p>
        </p:txBody>
      </p:sp>
      <p:sp>
        <p:nvSpPr>
          <p:cNvPr id="12" name="Text 10"/>
          <p:cNvSpPr/>
          <p:nvPr/>
        </p:nvSpPr>
        <p:spPr>
          <a:xfrm>
            <a:off x="6492240" y="2606040"/>
            <a:ext cx="4572000" cy="3383280"/>
          </a:xfrm>
          <a:prstGeom prst="rect">
            <a:avLst/>
          </a:prstGeom>
          <a:noFill/>
          <a:ln/>
        </p:spPr>
        <p:txBody>
          <a:bodyPr wrap="square" rtlCol="0" anchor="ctr"/>
          <a:lstStyle/>
          <a:p>
            <a:pPr indent="0" marL="0">
              <a:lnSpc>
                <a:spcPts val="1800"/>
              </a:lnSpc>
              <a:buNone/>
            </a:pPr>
            <a:r>
              <a:rPr lang="en-US" sz="950" dirty="0">
                <a:solidFill>
                  <a:srgbClr val="334155"/>
                </a:solidFill>
              </a:rPr>
              <a:t>• Clasificación por Tipo: Declaración pública, propuesta electoral, acto de calle, ataque recibido, pacto anunciado o patinazo público.</a:t>
            </a:r>
            <a:endParaRPr lang="en-US" sz="950" dirty="0"/>
          </a:p>
          <a:p>
            <a:pPr indent="0" marL="0">
              <a:lnSpc>
                <a:spcPts val="1800"/>
              </a:lnSpc>
              <a:buNone/>
            </a:pPr>
            <a:endParaRPr lang="en-US" sz="950" dirty="0"/>
          </a:p>
          <a:p>
            <a:pPr indent="0" marL="0">
              <a:lnSpc>
                <a:spcPts val="1800"/>
              </a:lnSpc>
              <a:buNone/>
            </a:pPr>
            <a:r>
              <a:rPr lang="en-US" sz="950" dirty="0">
                <a:solidFill>
                  <a:srgbClr val="334155"/>
                </a:solidFill>
              </a:rPr>
              <a:t>• Ventana de Oportunidad para Nuestra Candidatura: Cada movimiento rival se analiza para extraer una contra-propuesta constructiva.</a:t>
            </a:r>
            <a:endParaRPr lang="en-US" sz="950" dirty="0"/>
          </a:p>
          <a:p>
            <a:pPr indent="0" marL="0">
              <a:lnSpc>
                <a:spcPts val="1800"/>
              </a:lnSpc>
              <a:buNone/>
            </a:pPr>
            <a:endParaRPr lang="en-US" sz="950" dirty="0"/>
          </a:p>
          <a:p>
            <a:pPr indent="0" marL="0">
              <a:lnSpc>
                <a:spcPts val="1800"/>
              </a:lnSpc>
              <a:buNone/>
            </a:pPr>
            <a:r>
              <a:rPr lang="en-US" sz="950" dirty="0">
                <a:solidFill>
                  <a:srgbClr val="334155"/>
                </a:solidFill>
              </a:rPr>
              <a:t>• Filtros en Vivo: Filtrado por partido rival o por tipo de suceso con alertas de riesgo.</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731520" y="457200"/>
            <a:ext cx="2560320" cy="320040"/>
          </a:xfrm>
          <a:prstGeom prst="roundRect">
            <a:avLst>
              <a:gd name="adj" fmla="val 28571"/>
            </a:avLst>
          </a:prstGeom>
          <a:solidFill>
            <a:srgbClr val="0F172A"/>
          </a:solidFill>
          <a:ln/>
        </p:spPr>
      </p:sp>
      <p:sp>
        <p:nvSpPr>
          <p:cNvPr id="3" name="Text 1"/>
          <p:cNvSpPr/>
          <p:nvPr/>
        </p:nvSpPr>
        <p:spPr>
          <a:xfrm>
            <a:off x="731520" y="457200"/>
            <a:ext cx="2560320" cy="320040"/>
          </a:xfrm>
          <a:prstGeom prst="rect">
            <a:avLst/>
          </a:prstGeom>
          <a:noFill/>
          <a:ln/>
        </p:spPr>
        <p:txBody>
          <a:bodyPr wrap="square" rtlCol="0" anchor="ctr"/>
          <a:lstStyle/>
          <a:p>
            <a:pPr algn="ctr" indent="0" marL="0">
              <a:buNone/>
            </a:pPr>
            <a:r>
              <a:rPr lang="en-US" sz="1000" b="1" dirty="0">
                <a:solidFill>
                  <a:srgbClr val="FFFFFF"/>
                </a:solidFill>
              </a:rPr>
              <a:t>GOBERNANZA Y CONCLUSIONES</a:t>
            </a:r>
            <a:endParaRPr lang="en-US" sz="1000" dirty="0"/>
          </a:p>
        </p:txBody>
      </p:sp>
      <p:sp>
        <p:nvSpPr>
          <p:cNvPr id="4" name="Text 2"/>
          <p:cNvSpPr/>
          <p:nvPr/>
        </p:nvSpPr>
        <p:spPr>
          <a:xfrm>
            <a:off x="731520" y="868680"/>
            <a:ext cx="10515600" cy="548640"/>
          </a:xfrm>
          <a:prstGeom prst="rect">
            <a:avLst/>
          </a:prstGeom>
          <a:noFill/>
          <a:ln/>
        </p:spPr>
        <p:txBody>
          <a:bodyPr wrap="square" rtlCol="0" anchor="ctr"/>
          <a:lstStyle/>
          <a:p>
            <a:pPr indent="0" marL="0">
              <a:buNone/>
            </a:pPr>
            <a:r>
              <a:rPr lang="en-US" sz="2200" b="1" dirty="0">
                <a:solidFill>
                  <a:srgbClr val="0F172A"/>
                </a:solidFill>
              </a:rPr>
              <a:t>Seguridad, Roles y Ventaja Competitiva</a:t>
            </a:r>
            <a:endParaRPr lang="en-US" sz="2200" dirty="0"/>
          </a:p>
        </p:txBody>
      </p:sp>
      <p:sp>
        <p:nvSpPr>
          <p:cNvPr id="5" name="Text 3"/>
          <p:cNvSpPr/>
          <p:nvPr/>
        </p:nvSpPr>
        <p:spPr>
          <a:xfrm>
            <a:off x="731520" y="1371600"/>
            <a:ext cx="10515600" cy="365760"/>
          </a:xfrm>
          <a:prstGeom prst="rect">
            <a:avLst/>
          </a:prstGeom>
          <a:noFill/>
          <a:ln/>
        </p:spPr>
        <p:txBody>
          <a:bodyPr wrap="square" rtlCol="0" anchor="ctr"/>
          <a:lstStyle/>
          <a:p>
            <a:pPr indent="0" marL="0">
              <a:buNone/>
            </a:pPr>
            <a:r>
              <a:rPr lang="en-US" sz="1200" dirty="0">
                <a:solidFill>
                  <a:srgbClr val="64748B"/>
                </a:solidFill>
              </a:rPr>
              <a:t>La herramienta definitiva para gobernar en Mayo de 2027</a:t>
            </a:r>
            <a:endParaRPr lang="en-US" sz="1200" dirty="0"/>
          </a:p>
        </p:txBody>
      </p:sp>
      <p:sp>
        <p:nvSpPr>
          <p:cNvPr id="6" name="Shape 4"/>
          <p:cNvSpPr/>
          <p:nvPr/>
        </p:nvSpPr>
        <p:spPr>
          <a:xfrm>
            <a:off x="731520" y="1783080"/>
            <a:ext cx="10698480" cy="0"/>
          </a:xfrm>
          <a:prstGeom prst="line">
            <a:avLst/>
          </a:prstGeom>
          <a:noFill/>
          <a:ln w="19050">
            <a:solidFill>
              <a:srgbClr val="E2E8F0"/>
            </a:solidFill>
            <a:prstDash val="solid"/>
          </a:ln>
        </p:spPr>
      </p:sp>
      <p:sp>
        <p:nvSpPr>
          <p:cNvPr id="7" name="Shape 5"/>
          <p:cNvSpPr/>
          <p:nvPr/>
        </p:nvSpPr>
        <p:spPr>
          <a:xfrm>
            <a:off x="731520" y="2011680"/>
            <a:ext cx="3429000" cy="1234440"/>
          </a:xfrm>
          <a:prstGeom prst="roundRect">
            <a:avLst>
              <a:gd name="adj" fmla="val 7407"/>
            </a:avLst>
          </a:prstGeom>
          <a:solidFill>
            <a:srgbClr val="F8FAFC"/>
          </a:solidFill>
          <a:ln w="12700">
            <a:solidFill>
              <a:srgbClr val="E2E8F0"/>
            </a:solidFill>
            <a:prstDash val="solid"/>
          </a:ln>
        </p:spPr>
      </p:sp>
      <p:sp>
        <p:nvSpPr>
          <p:cNvPr id="8" name="Text 6"/>
          <p:cNvSpPr/>
          <p:nvPr/>
        </p:nvSpPr>
        <p:spPr>
          <a:xfrm>
            <a:off x="868680" y="2148840"/>
            <a:ext cx="3154680" cy="274320"/>
          </a:xfrm>
          <a:prstGeom prst="rect">
            <a:avLst/>
          </a:prstGeom>
          <a:noFill/>
          <a:ln/>
        </p:spPr>
        <p:txBody>
          <a:bodyPr wrap="square" rtlCol="0" anchor="ctr"/>
          <a:lstStyle/>
          <a:p>
            <a:pPr indent="0" marL="0">
              <a:buNone/>
            </a:pPr>
            <a:r>
              <a:rPr lang="en-US" sz="900" b="1" dirty="0">
                <a:solidFill>
                  <a:srgbClr val="DC2626"/>
                </a:solidFill>
              </a:rPr>
              <a:t>DIRECTOR DE CAMPAÑA</a:t>
            </a:r>
            <a:endParaRPr lang="en-US" sz="900" dirty="0"/>
          </a:p>
        </p:txBody>
      </p:sp>
      <p:sp>
        <p:nvSpPr>
          <p:cNvPr id="9" name="Text 7"/>
          <p:cNvSpPr/>
          <p:nvPr/>
        </p:nvSpPr>
        <p:spPr>
          <a:xfrm>
            <a:off x="868680" y="2423160"/>
            <a:ext cx="3154680" cy="685800"/>
          </a:xfrm>
          <a:prstGeom prst="rect">
            <a:avLst/>
          </a:prstGeom>
          <a:noFill/>
          <a:ln/>
        </p:spPr>
        <p:txBody>
          <a:bodyPr wrap="square" rtlCol="0" anchor="ctr"/>
          <a:lstStyle/>
          <a:p>
            <a:pPr indent="0" marL="0">
              <a:buNone/>
            </a:pPr>
            <a:r>
              <a:rPr lang="en-US" sz="850" dirty="0">
                <a:solidFill>
                  <a:srgbClr val="475569"/>
                </a:solidFill>
              </a:rPr>
              <a:t>Control total de edición, creación y borrado (CRUD) en todos los módulos.</a:t>
            </a:r>
            <a:endParaRPr lang="en-US" sz="850" dirty="0"/>
          </a:p>
        </p:txBody>
      </p:sp>
      <p:sp>
        <p:nvSpPr>
          <p:cNvPr id="10" name="Shape 8"/>
          <p:cNvSpPr/>
          <p:nvPr/>
        </p:nvSpPr>
        <p:spPr>
          <a:xfrm>
            <a:off x="4343400" y="2011680"/>
            <a:ext cx="3429000" cy="1234440"/>
          </a:xfrm>
          <a:prstGeom prst="roundRect">
            <a:avLst>
              <a:gd name="adj" fmla="val 7407"/>
            </a:avLst>
          </a:prstGeom>
          <a:solidFill>
            <a:srgbClr val="F8FAFC"/>
          </a:solidFill>
          <a:ln w="12700">
            <a:solidFill>
              <a:srgbClr val="E2E8F0"/>
            </a:solidFill>
            <a:prstDash val="solid"/>
          </a:ln>
        </p:spPr>
      </p:sp>
      <p:sp>
        <p:nvSpPr>
          <p:cNvPr id="11" name="Text 9"/>
          <p:cNvSpPr/>
          <p:nvPr/>
        </p:nvSpPr>
        <p:spPr>
          <a:xfrm>
            <a:off x="4480560" y="2148840"/>
            <a:ext cx="3154680" cy="274320"/>
          </a:xfrm>
          <a:prstGeom prst="rect">
            <a:avLst/>
          </a:prstGeom>
          <a:noFill/>
          <a:ln/>
        </p:spPr>
        <p:txBody>
          <a:bodyPr wrap="square" rtlCol="0" anchor="ctr"/>
          <a:lstStyle/>
          <a:p>
            <a:pPr indent="0" marL="0">
              <a:buNone/>
            </a:pPr>
            <a:r>
              <a:rPr lang="en-US" sz="900" b="1" dirty="0">
                <a:solidFill>
                  <a:srgbClr val="DC2626"/>
                </a:solidFill>
              </a:rPr>
              <a:t>CANDIDATO / CABEZA DE LISTA</a:t>
            </a:r>
            <a:endParaRPr lang="en-US" sz="900" dirty="0"/>
          </a:p>
        </p:txBody>
      </p:sp>
      <p:sp>
        <p:nvSpPr>
          <p:cNvPr id="12" name="Text 10"/>
          <p:cNvSpPr/>
          <p:nvPr/>
        </p:nvSpPr>
        <p:spPr>
          <a:xfrm>
            <a:off x="4480560" y="2423160"/>
            <a:ext cx="3154680" cy="685800"/>
          </a:xfrm>
          <a:prstGeom prst="rect">
            <a:avLst/>
          </a:prstGeom>
          <a:noFill/>
          <a:ln/>
        </p:spPr>
        <p:txBody>
          <a:bodyPr wrap="square" rtlCol="0" anchor="ctr"/>
          <a:lstStyle/>
          <a:p>
            <a:pPr indent="0" marL="0">
              <a:buNone/>
            </a:pPr>
            <a:r>
              <a:rPr lang="en-US" sz="850" dirty="0">
                <a:solidFill>
                  <a:srgbClr val="475569"/>
                </a:solidFill>
              </a:rPr>
              <a:t>Visión ejecutiva de actos, mensajes clave e informes de comités.</a:t>
            </a:r>
            <a:endParaRPr lang="en-US" sz="850" dirty="0"/>
          </a:p>
        </p:txBody>
      </p:sp>
      <p:sp>
        <p:nvSpPr>
          <p:cNvPr id="13" name="Shape 11"/>
          <p:cNvSpPr/>
          <p:nvPr/>
        </p:nvSpPr>
        <p:spPr>
          <a:xfrm>
            <a:off x="7955280" y="2011680"/>
            <a:ext cx="3429000" cy="1234440"/>
          </a:xfrm>
          <a:prstGeom prst="roundRect">
            <a:avLst>
              <a:gd name="adj" fmla="val 7407"/>
            </a:avLst>
          </a:prstGeom>
          <a:solidFill>
            <a:srgbClr val="F8FAFC"/>
          </a:solidFill>
          <a:ln w="12700">
            <a:solidFill>
              <a:srgbClr val="E2E8F0"/>
            </a:solidFill>
            <a:prstDash val="solid"/>
          </a:ln>
        </p:spPr>
      </p:sp>
      <p:sp>
        <p:nvSpPr>
          <p:cNvPr id="14" name="Text 12"/>
          <p:cNvSpPr/>
          <p:nvPr/>
        </p:nvSpPr>
        <p:spPr>
          <a:xfrm>
            <a:off x="8092440" y="2148840"/>
            <a:ext cx="3154680" cy="274320"/>
          </a:xfrm>
          <a:prstGeom prst="rect">
            <a:avLst/>
          </a:prstGeom>
          <a:noFill/>
          <a:ln/>
        </p:spPr>
        <p:txBody>
          <a:bodyPr wrap="square" rtlCol="0" anchor="ctr"/>
          <a:lstStyle/>
          <a:p>
            <a:pPr indent="0" marL="0">
              <a:buNone/>
            </a:pPr>
            <a:r>
              <a:rPr lang="en-US" sz="900" b="1" dirty="0">
                <a:solidFill>
                  <a:srgbClr val="DC2626"/>
                </a:solidFill>
              </a:rPr>
              <a:t>RESPONSABLE DE COMUNICACIÓN</a:t>
            </a:r>
            <a:endParaRPr lang="en-US" sz="900" dirty="0"/>
          </a:p>
        </p:txBody>
      </p:sp>
      <p:sp>
        <p:nvSpPr>
          <p:cNvPr id="15" name="Text 13"/>
          <p:cNvSpPr/>
          <p:nvPr/>
        </p:nvSpPr>
        <p:spPr>
          <a:xfrm>
            <a:off x="8092440" y="2423160"/>
            <a:ext cx="3154680" cy="685800"/>
          </a:xfrm>
          <a:prstGeom prst="rect">
            <a:avLst/>
          </a:prstGeom>
          <a:noFill/>
          <a:ln/>
        </p:spPr>
        <p:txBody>
          <a:bodyPr wrap="square" rtlCol="0" anchor="ctr"/>
          <a:lstStyle/>
          <a:p>
            <a:pPr indent="0" marL="0">
              <a:buNone/>
            </a:pPr>
            <a:r>
              <a:rPr lang="en-US" sz="850" dirty="0">
                <a:solidFill>
                  <a:srgbClr val="475569"/>
                </a:solidFill>
              </a:rPr>
              <a:t>Gestión del banco de mensajes, réplicas a ataques y radar de prensa.</a:t>
            </a:r>
            <a:endParaRPr lang="en-US" sz="850" dirty="0"/>
          </a:p>
        </p:txBody>
      </p:sp>
      <p:sp>
        <p:nvSpPr>
          <p:cNvPr id="16" name="Shape 14"/>
          <p:cNvSpPr/>
          <p:nvPr/>
        </p:nvSpPr>
        <p:spPr>
          <a:xfrm>
            <a:off x="731520" y="3383280"/>
            <a:ext cx="3429000" cy="1234440"/>
          </a:xfrm>
          <a:prstGeom prst="roundRect">
            <a:avLst>
              <a:gd name="adj" fmla="val 7407"/>
            </a:avLst>
          </a:prstGeom>
          <a:solidFill>
            <a:srgbClr val="F8FAFC"/>
          </a:solidFill>
          <a:ln w="12700">
            <a:solidFill>
              <a:srgbClr val="E2E8F0"/>
            </a:solidFill>
            <a:prstDash val="solid"/>
          </a:ln>
        </p:spPr>
      </p:sp>
      <p:sp>
        <p:nvSpPr>
          <p:cNvPr id="17" name="Text 15"/>
          <p:cNvSpPr/>
          <p:nvPr/>
        </p:nvSpPr>
        <p:spPr>
          <a:xfrm>
            <a:off x="868680" y="3520440"/>
            <a:ext cx="3154680" cy="274320"/>
          </a:xfrm>
          <a:prstGeom prst="rect">
            <a:avLst/>
          </a:prstGeom>
          <a:noFill/>
          <a:ln/>
        </p:spPr>
        <p:txBody>
          <a:bodyPr wrap="square" rtlCol="0" anchor="ctr"/>
          <a:lstStyle/>
          <a:p>
            <a:pPr indent="0" marL="0">
              <a:buNone/>
            </a:pPr>
            <a:r>
              <a:rPr lang="en-US" sz="900" b="1" dirty="0">
                <a:solidFill>
                  <a:srgbClr val="DC2626"/>
                </a:solidFill>
              </a:rPr>
              <a:t>LÍDER TERRITORIAL DE DISTRITO</a:t>
            </a:r>
            <a:endParaRPr lang="en-US" sz="900" dirty="0"/>
          </a:p>
        </p:txBody>
      </p:sp>
      <p:sp>
        <p:nvSpPr>
          <p:cNvPr id="18" name="Text 16"/>
          <p:cNvSpPr/>
          <p:nvPr/>
        </p:nvSpPr>
        <p:spPr>
          <a:xfrm>
            <a:off x="868680" y="3794760"/>
            <a:ext cx="3154680" cy="685800"/>
          </a:xfrm>
          <a:prstGeom prst="rect">
            <a:avLst/>
          </a:prstGeom>
          <a:noFill/>
          <a:ln/>
        </p:spPr>
        <p:txBody>
          <a:bodyPr wrap="square" rtlCol="0" anchor="ctr"/>
          <a:lstStyle/>
          <a:p>
            <a:pPr indent="0" marL="0">
              <a:buNone/>
            </a:pPr>
            <a:r>
              <a:rPr lang="en-US" sz="850" dirty="0">
                <a:solidFill>
                  <a:srgbClr val="475569"/>
                </a:solidFill>
              </a:rPr>
              <a:t>Fichas distritales, quejas vecinales y actos a pie de calle.</a:t>
            </a:r>
            <a:endParaRPr lang="en-US" sz="850" dirty="0"/>
          </a:p>
        </p:txBody>
      </p:sp>
      <p:sp>
        <p:nvSpPr>
          <p:cNvPr id="19" name="Shape 17"/>
          <p:cNvSpPr/>
          <p:nvPr/>
        </p:nvSpPr>
        <p:spPr>
          <a:xfrm>
            <a:off x="4343400" y="3383280"/>
            <a:ext cx="3429000" cy="1234440"/>
          </a:xfrm>
          <a:prstGeom prst="roundRect">
            <a:avLst>
              <a:gd name="adj" fmla="val 7407"/>
            </a:avLst>
          </a:prstGeom>
          <a:solidFill>
            <a:srgbClr val="F8FAFC"/>
          </a:solidFill>
          <a:ln w="12700">
            <a:solidFill>
              <a:srgbClr val="E2E8F0"/>
            </a:solidFill>
            <a:prstDash val="solid"/>
          </a:ln>
        </p:spPr>
      </p:sp>
      <p:sp>
        <p:nvSpPr>
          <p:cNvPr id="20" name="Text 18"/>
          <p:cNvSpPr/>
          <p:nvPr/>
        </p:nvSpPr>
        <p:spPr>
          <a:xfrm>
            <a:off x="4480560" y="3520440"/>
            <a:ext cx="3154680" cy="274320"/>
          </a:xfrm>
          <a:prstGeom prst="rect">
            <a:avLst/>
          </a:prstGeom>
          <a:noFill/>
          <a:ln/>
        </p:spPr>
        <p:txBody>
          <a:bodyPr wrap="square" rtlCol="0" anchor="ctr"/>
          <a:lstStyle/>
          <a:p>
            <a:pPr indent="0" marL="0">
              <a:buNone/>
            </a:pPr>
            <a:r>
              <a:rPr lang="en-US" sz="900" b="1" dirty="0">
                <a:solidFill>
                  <a:srgbClr val="DC2626"/>
                </a:solidFill>
              </a:rPr>
              <a:t>SUPERVISOR GENERAL</a:t>
            </a:r>
            <a:endParaRPr lang="en-US" sz="900" dirty="0"/>
          </a:p>
        </p:txBody>
      </p:sp>
      <p:sp>
        <p:nvSpPr>
          <p:cNvPr id="21" name="Text 19"/>
          <p:cNvSpPr/>
          <p:nvPr/>
        </p:nvSpPr>
        <p:spPr>
          <a:xfrm>
            <a:off x="4480560" y="3794760"/>
            <a:ext cx="3154680" cy="685800"/>
          </a:xfrm>
          <a:prstGeom prst="rect">
            <a:avLst/>
          </a:prstGeom>
          <a:noFill/>
          <a:ln/>
        </p:spPr>
        <p:txBody>
          <a:bodyPr wrap="square" rtlCol="0" anchor="ctr"/>
          <a:lstStyle/>
          <a:p>
            <a:pPr indent="0" marL="0">
              <a:buNone/>
            </a:pPr>
            <a:r>
              <a:rPr lang="en-US" sz="850" dirty="0">
                <a:solidFill>
                  <a:srgbClr val="475569"/>
                </a:solidFill>
              </a:rPr>
              <a:t>Observador de actas de comités y auditoría de preparación.</a:t>
            </a:r>
            <a:endParaRPr lang="en-US" sz="850" dirty="0"/>
          </a:p>
        </p:txBody>
      </p:sp>
      <p:sp>
        <p:nvSpPr>
          <p:cNvPr id="22" name="Shape 20"/>
          <p:cNvSpPr/>
          <p:nvPr/>
        </p:nvSpPr>
        <p:spPr>
          <a:xfrm>
            <a:off x="7955280" y="3383280"/>
            <a:ext cx="3429000" cy="1234440"/>
          </a:xfrm>
          <a:prstGeom prst="roundRect">
            <a:avLst>
              <a:gd name="adj" fmla="val 7407"/>
            </a:avLst>
          </a:prstGeom>
          <a:solidFill>
            <a:srgbClr val="F8FAFC"/>
          </a:solidFill>
          <a:ln w="12700">
            <a:solidFill>
              <a:srgbClr val="E2E8F0"/>
            </a:solidFill>
            <a:prstDash val="solid"/>
          </a:ln>
        </p:spPr>
      </p:sp>
      <p:sp>
        <p:nvSpPr>
          <p:cNvPr id="23" name="Text 21"/>
          <p:cNvSpPr/>
          <p:nvPr/>
        </p:nvSpPr>
        <p:spPr>
          <a:xfrm>
            <a:off x="8092440" y="3520440"/>
            <a:ext cx="3154680" cy="274320"/>
          </a:xfrm>
          <a:prstGeom prst="rect">
            <a:avLst/>
          </a:prstGeom>
          <a:noFill/>
          <a:ln/>
        </p:spPr>
        <p:txBody>
          <a:bodyPr wrap="square" rtlCol="0" anchor="ctr"/>
          <a:lstStyle/>
          <a:p>
            <a:pPr indent="0" marL="0">
              <a:buNone/>
            </a:pPr>
            <a:r>
              <a:rPr lang="en-US" sz="900" b="1" dirty="0">
                <a:solidFill>
                  <a:srgbClr val="DC2626"/>
                </a:solidFill>
              </a:rPr>
              <a:t>ADMINISTRADOR DEL SISTEMA</a:t>
            </a:r>
            <a:endParaRPr lang="en-US" sz="900" dirty="0"/>
          </a:p>
        </p:txBody>
      </p:sp>
      <p:sp>
        <p:nvSpPr>
          <p:cNvPr id="24" name="Text 22"/>
          <p:cNvSpPr/>
          <p:nvPr/>
        </p:nvSpPr>
        <p:spPr>
          <a:xfrm>
            <a:off x="8092440" y="3794760"/>
            <a:ext cx="3154680" cy="685800"/>
          </a:xfrm>
          <a:prstGeom prst="rect">
            <a:avLst/>
          </a:prstGeom>
          <a:noFill/>
          <a:ln/>
        </p:spPr>
        <p:txBody>
          <a:bodyPr wrap="square" rtlCol="0" anchor="ctr"/>
          <a:lstStyle/>
          <a:p>
            <a:pPr indent="0" marL="0">
              <a:buNone/>
            </a:pPr>
            <a:r>
              <a:rPr lang="en-US" sz="850" dirty="0">
                <a:solidFill>
                  <a:srgbClr val="475569"/>
                </a:solidFill>
              </a:rPr>
              <a:t>Configuración de censos, partidos y credenciales.</a:t>
            </a:r>
            <a:endParaRPr lang="en-US" sz="850" dirty="0"/>
          </a:p>
        </p:txBody>
      </p:sp>
      <p:sp>
        <p:nvSpPr>
          <p:cNvPr id="25" name="Shape 23"/>
          <p:cNvSpPr/>
          <p:nvPr/>
        </p:nvSpPr>
        <p:spPr>
          <a:xfrm>
            <a:off x="731520" y="4937760"/>
            <a:ext cx="10652760" cy="1371600"/>
          </a:xfrm>
          <a:prstGeom prst="roundRect">
            <a:avLst>
              <a:gd name="adj" fmla="val 10000"/>
            </a:avLst>
          </a:prstGeom>
          <a:solidFill>
            <a:srgbClr val="DC2626"/>
          </a:solidFill>
          <a:ln/>
        </p:spPr>
      </p:sp>
      <p:sp>
        <p:nvSpPr>
          <p:cNvPr id="26" name="Text 24"/>
          <p:cNvSpPr/>
          <p:nvPr/>
        </p:nvSpPr>
        <p:spPr>
          <a:xfrm>
            <a:off x="914400" y="5074920"/>
            <a:ext cx="10287000" cy="365760"/>
          </a:xfrm>
          <a:prstGeom prst="rect">
            <a:avLst/>
          </a:prstGeom>
          <a:noFill/>
          <a:ln/>
        </p:spPr>
        <p:txBody>
          <a:bodyPr wrap="square" rtlCol="0" anchor="ctr"/>
          <a:lstStyle/>
          <a:p>
            <a:pPr algn="ctr" indent="0" marL="0">
              <a:buNone/>
            </a:pPr>
            <a:r>
              <a:rPr lang="en-US" sz="1600" b="1" dirty="0">
                <a:solidFill>
                  <a:srgbClr val="FFFFFF"/>
                </a:solidFill>
              </a:rPr>
              <a:t>PREPARADOS PARA GOBERNAR EN MAYO DE 2027</a:t>
            </a:r>
            <a:endParaRPr lang="en-US" sz="1600" dirty="0"/>
          </a:p>
        </p:txBody>
      </p:sp>
      <p:sp>
        <p:nvSpPr>
          <p:cNvPr id="27" name="Text 25"/>
          <p:cNvSpPr/>
          <p:nvPr/>
        </p:nvSpPr>
        <p:spPr>
          <a:xfrm>
            <a:off x="914400" y="5486400"/>
            <a:ext cx="10287000" cy="365760"/>
          </a:xfrm>
          <a:prstGeom prst="rect">
            <a:avLst/>
          </a:prstGeom>
          <a:noFill/>
          <a:ln/>
        </p:spPr>
        <p:txBody>
          <a:bodyPr wrap="square" rtlCol="0" anchor="ctr"/>
          <a:lstStyle/>
          <a:p>
            <a:pPr algn="ctr" indent="0" marL="0">
              <a:buNone/>
            </a:pPr>
            <a:r>
              <a:rPr lang="en-US" sz="1100" dirty="0">
                <a:solidFill>
                  <a:srgbClr val="FEE2E2"/>
                </a:solidFill>
              </a:rPr>
              <a:t>Datos oficiales contrastados • Algoritmo matemático D'Hondt exacto • Gobernanza implacable • Relato unificado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Plataforma de Inteligencia Electoral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Plataforma Elecciones Municipales Mayo 2027</dc:title>
  <dc:subject>Exposición Integral de Funcionalidades y Estrategia Municipal</dc:subject>
  <dc:creator>Ruta 2027</dc:creator>
  <cp:lastModifiedBy>Ruta 2027</cp:lastModifiedBy>
  <cp:revision>1</cp:revision>
  <dcterms:created xsi:type="dcterms:W3CDTF">2026-09-28T16:46:30Z</dcterms:created>
  <dcterms:modified xsi:type="dcterms:W3CDTF">2026-09-28T16:46:30Z</dcterms:modified>
</cp:coreProperties>
</file>